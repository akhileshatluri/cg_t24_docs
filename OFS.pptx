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theme/theme5.xml" ContentType="application/vnd.openxmlformats-officedocument.them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tableStyles.xml" ContentType="application/vnd.openxmlformats-officedocument.presentationml.tableStyles+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slideLayouts/slideLayout34.xml" ContentType="application/vnd.openxmlformats-officedocument.presentationml.slide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notesSlides/notesSlide22.xml" ContentType="application/vnd.openxmlformats-officedocument.presentationml.notesSlide+xml"/>
  <Override PartName="/ppt/notesSlides/notesSlide11.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3" r:id="rId3"/>
    <p:sldMasterId id="2147483655" r:id="rId4"/>
  </p:sldMasterIdLst>
  <p:notesMasterIdLst>
    <p:notesMasterId r:id="rId141"/>
  </p:notesMasterIdLst>
  <p:handoutMasterIdLst>
    <p:handoutMasterId r:id="rId142"/>
  </p:handoutMasterIdLst>
  <p:sldIdLst>
    <p:sldId id="439" r:id="rId5"/>
    <p:sldId id="687" r:id="rId6"/>
    <p:sldId id="688" r:id="rId7"/>
    <p:sldId id="403" r:id="rId8"/>
    <p:sldId id="629" r:id="rId9"/>
    <p:sldId id="630" r:id="rId10"/>
    <p:sldId id="631" r:id="rId11"/>
    <p:sldId id="632" r:id="rId12"/>
    <p:sldId id="539" r:id="rId13"/>
    <p:sldId id="633" r:id="rId14"/>
    <p:sldId id="684" r:id="rId15"/>
    <p:sldId id="634" r:id="rId16"/>
    <p:sldId id="541" r:id="rId17"/>
    <p:sldId id="543" r:id="rId18"/>
    <p:sldId id="542" r:id="rId19"/>
    <p:sldId id="544" r:id="rId20"/>
    <p:sldId id="552" r:id="rId21"/>
    <p:sldId id="547" r:id="rId22"/>
    <p:sldId id="545" r:id="rId23"/>
    <p:sldId id="546" r:id="rId24"/>
    <p:sldId id="548" r:id="rId25"/>
    <p:sldId id="685" r:id="rId26"/>
    <p:sldId id="549" r:id="rId27"/>
    <p:sldId id="550" r:id="rId28"/>
    <p:sldId id="553" r:id="rId29"/>
    <p:sldId id="564" r:id="rId30"/>
    <p:sldId id="566" r:id="rId31"/>
    <p:sldId id="565" r:id="rId32"/>
    <p:sldId id="568" r:id="rId33"/>
    <p:sldId id="569" r:id="rId34"/>
    <p:sldId id="590" r:id="rId35"/>
    <p:sldId id="635" r:id="rId36"/>
    <p:sldId id="636" r:id="rId37"/>
    <p:sldId id="563" r:id="rId38"/>
    <p:sldId id="551" r:id="rId39"/>
    <p:sldId id="554" r:id="rId40"/>
    <p:sldId id="637" r:id="rId41"/>
    <p:sldId id="638" r:id="rId42"/>
    <p:sldId id="639" r:id="rId43"/>
    <p:sldId id="640" r:id="rId44"/>
    <p:sldId id="641" r:id="rId45"/>
    <p:sldId id="642" r:id="rId46"/>
    <p:sldId id="643" r:id="rId47"/>
    <p:sldId id="644" r:id="rId48"/>
    <p:sldId id="573" r:id="rId49"/>
    <p:sldId id="645" r:id="rId50"/>
    <p:sldId id="646" r:id="rId51"/>
    <p:sldId id="593" r:id="rId52"/>
    <p:sldId id="574" r:id="rId53"/>
    <p:sldId id="647" r:id="rId54"/>
    <p:sldId id="648" r:id="rId55"/>
    <p:sldId id="621" r:id="rId56"/>
    <p:sldId id="674" r:id="rId57"/>
    <p:sldId id="709" r:id="rId58"/>
    <p:sldId id="675" r:id="rId59"/>
    <p:sldId id="676" r:id="rId60"/>
    <p:sldId id="560" r:id="rId61"/>
    <p:sldId id="649" r:id="rId62"/>
    <p:sldId id="561" r:id="rId63"/>
    <p:sldId id="651" r:id="rId64"/>
    <p:sldId id="650" r:id="rId65"/>
    <p:sldId id="580" r:id="rId66"/>
    <p:sldId id="581" r:id="rId67"/>
    <p:sldId id="652" r:id="rId68"/>
    <p:sldId id="653" r:id="rId69"/>
    <p:sldId id="622" r:id="rId70"/>
    <p:sldId id="677" r:id="rId71"/>
    <p:sldId id="678" r:id="rId72"/>
    <p:sldId id="679" r:id="rId73"/>
    <p:sldId id="680" r:id="rId74"/>
    <p:sldId id="627" r:id="rId75"/>
    <p:sldId id="583" r:id="rId76"/>
    <p:sldId id="654" r:id="rId77"/>
    <p:sldId id="585" r:id="rId78"/>
    <p:sldId id="586" r:id="rId79"/>
    <p:sldId id="655" r:id="rId80"/>
    <p:sldId id="656" r:id="rId81"/>
    <p:sldId id="706" r:id="rId82"/>
    <p:sldId id="681" r:id="rId83"/>
    <p:sldId id="689" r:id="rId84"/>
    <p:sldId id="707" r:id="rId85"/>
    <p:sldId id="682" r:id="rId86"/>
    <p:sldId id="657" r:id="rId87"/>
    <p:sldId id="594" r:id="rId88"/>
    <p:sldId id="595" r:id="rId89"/>
    <p:sldId id="683" r:id="rId90"/>
    <p:sldId id="658" r:id="rId91"/>
    <p:sldId id="690" r:id="rId92"/>
    <p:sldId id="660" r:id="rId93"/>
    <p:sldId id="661" r:id="rId94"/>
    <p:sldId id="600" r:id="rId95"/>
    <p:sldId id="662" r:id="rId96"/>
    <p:sldId id="663" r:id="rId97"/>
    <p:sldId id="691" r:id="rId98"/>
    <p:sldId id="692" r:id="rId99"/>
    <p:sldId id="693" r:id="rId100"/>
    <p:sldId id="664" r:id="rId101"/>
    <p:sldId id="602" r:id="rId102"/>
    <p:sldId id="603" r:id="rId103"/>
    <p:sldId id="665" r:id="rId104"/>
    <p:sldId id="605" r:id="rId105"/>
    <p:sldId id="607" r:id="rId106"/>
    <p:sldId id="666" r:id="rId107"/>
    <p:sldId id="667" r:id="rId108"/>
    <p:sldId id="668" r:id="rId109"/>
    <p:sldId id="686" r:id="rId110"/>
    <p:sldId id="608" r:id="rId111"/>
    <p:sldId id="609" r:id="rId112"/>
    <p:sldId id="669" r:id="rId113"/>
    <p:sldId id="611" r:id="rId114"/>
    <p:sldId id="670" r:id="rId115"/>
    <p:sldId id="613" r:id="rId116"/>
    <p:sldId id="671" r:id="rId117"/>
    <p:sldId id="710" r:id="rId118"/>
    <p:sldId id="694" r:id="rId119"/>
    <p:sldId id="695" r:id="rId120"/>
    <p:sldId id="696" r:id="rId121"/>
    <p:sldId id="697" r:id="rId122"/>
    <p:sldId id="698" r:id="rId123"/>
    <p:sldId id="699" r:id="rId124"/>
    <p:sldId id="700" r:id="rId125"/>
    <p:sldId id="701" r:id="rId126"/>
    <p:sldId id="702" r:id="rId127"/>
    <p:sldId id="703" r:id="rId128"/>
    <p:sldId id="704" r:id="rId129"/>
    <p:sldId id="705" r:id="rId130"/>
    <p:sldId id="614" r:id="rId131"/>
    <p:sldId id="672" r:id="rId132"/>
    <p:sldId id="615" r:id="rId133"/>
    <p:sldId id="616" r:id="rId134"/>
    <p:sldId id="673" r:id="rId135"/>
    <p:sldId id="618" r:id="rId136"/>
    <p:sldId id="619" r:id="rId137"/>
    <p:sldId id="620" r:id="rId138"/>
    <p:sldId id="708" r:id="rId139"/>
    <p:sldId id="296" r:id="rId140"/>
  </p:sldIdLst>
  <p:sldSz cx="9144000" cy="6858000" type="screen4x3"/>
  <p:notesSz cx="7315200" cy="9601200"/>
  <p:defaultTextStyle>
    <a:defPPr>
      <a:defRPr lang="en-US"/>
    </a:defPPr>
    <a:lvl1pPr algn="l" rtl="0" fontAlgn="base">
      <a:spcBef>
        <a:spcPct val="0"/>
      </a:spcBef>
      <a:spcAft>
        <a:spcPct val="0"/>
      </a:spcAft>
      <a:defRPr sz="2000" kern="1200">
        <a:solidFill>
          <a:schemeClr val="bg1"/>
        </a:solidFill>
        <a:latin typeface="Times New Roman" pitchFamily="18" charset="0"/>
        <a:ea typeface="+mn-ea"/>
        <a:cs typeface="Lucida Sans Unicode" pitchFamily="34" charset="0"/>
      </a:defRPr>
    </a:lvl1pPr>
    <a:lvl2pPr marL="457200" algn="l" rtl="0" fontAlgn="base">
      <a:spcBef>
        <a:spcPct val="0"/>
      </a:spcBef>
      <a:spcAft>
        <a:spcPct val="0"/>
      </a:spcAft>
      <a:defRPr sz="2000" kern="1200">
        <a:solidFill>
          <a:schemeClr val="bg1"/>
        </a:solidFill>
        <a:latin typeface="Times New Roman" pitchFamily="18" charset="0"/>
        <a:ea typeface="+mn-ea"/>
        <a:cs typeface="Lucida Sans Unicode" pitchFamily="34" charset="0"/>
      </a:defRPr>
    </a:lvl2pPr>
    <a:lvl3pPr marL="914400" algn="l" rtl="0" fontAlgn="base">
      <a:spcBef>
        <a:spcPct val="0"/>
      </a:spcBef>
      <a:spcAft>
        <a:spcPct val="0"/>
      </a:spcAft>
      <a:defRPr sz="2000" kern="1200">
        <a:solidFill>
          <a:schemeClr val="bg1"/>
        </a:solidFill>
        <a:latin typeface="Times New Roman" pitchFamily="18" charset="0"/>
        <a:ea typeface="+mn-ea"/>
        <a:cs typeface="Lucida Sans Unicode" pitchFamily="34" charset="0"/>
      </a:defRPr>
    </a:lvl3pPr>
    <a:lvl4pPr marL="1371600" algn="l" rtl="0" fontAlgn="base">
      <a:spcBef>
        <a:spcPct val="0"/>
      </a:spcBef>
      <a:spcAft>
        <a:spcPct val="0"/>
      </a:spcAft>
      <a:defRPr sz="2000" kern="1200">
        <a:solidFill>
          <a:schemeClr val="bg1"/>
        </a:solidFill>
        <a:latin typeface="Times New Roman" pitchFamily="18" charset="0"/>
        <a:ea typeface="+mn-ea"/>
        <a:cs typeface="Lucida Sans Unicode" pitchFamily="34" charset="0"/>
      </a:defRPr>
    </a:lvl4pPr>
    <a:lvl5pPr marL="1828800" algn="l" rtl="0" fontAlgn="base">
      <a:spcBef>
        <a:spcPct val="0"/>
      </a:spcBef>
      <a:spcAft>
        <a:spcPct val="0"/>
      </a:spcAft>
      <a:defRPr sz="2000" kern="1200">
        <a:solidFill>
          <a:schemeClr val="bg1"/>
        </a:solidFill>
        <a:latin typeface="Times New Roman" pitchFamily="18" charset="0"/>
        <a:ea typeface="+mn-ea"/>
        <a:cs typeface="Lucida Sans Unicode" pitchFamily="34" charset="0"/>
      </a:defRPr>
    </a:lvl5pPr>
    <a:lvl6pPr marL="2286000" algn="l" defTabSz="914400" rtl="0" eaLnBrk="1" latinLnBrk="0" hangingPunct="1">
      <a:defRPr sz="2000" kern="1200">
        <a:solidFill>
          <a:schemeClr val="bg1"/>
        </a:solidFill>
        <a:latin typeface="Times New Roman" pitchFamily="18" charset="0"/>
        <a:ea typeface="+mn-ea"/>
        <a:cs typeface="Lucida Sans Unicode" pitchFamily="34" charset="0"/>
      </a:defRPr>
    </a:lvl6pPr>
    <a:lvl7pPr marL="2743200" algn="l" defTabSz="914400" rtl="0" eaLnBrk="1" latinLnBrk="0" hangingPunct="1">
      <a:defRPr sz="2000" kern="1200">
        <a:solidFill>
          <a:schemeClr val="bg1"/>
        </a:solidFill>
        <a:latin typeface="Times New Roman" pitchFamily="18" charset="0"/>
        <a:ea typeface="+mn-ea"/>
        <a:cs typeface="Lucida Sans Unicode" pitchFamily="34" charset="0"/>
      </a:defRPr>
    </a:lvl7pPr>
    <a:lvl8pPr marL="3200400" algn="l" defTabSz="914400" rtl="0" eaLnBrk="1" latinLnBrk="0" hangingPunct="1">
      <a:defRPr sz="2000" kern="1200">
        <a:solidFill>
          <a:schemeClr val="bg1"/>
        </a:solidFill>
        <a:latin typeface="Times New Roman" pitchFamily="18" charset="0"/>
        <a:ea typeface="+mn-ea"/>
        <a:cs typeface="Lucida Sans Unicode" pitchFamily="34" charset="0"/>
      </a:defRPr>
    </a:lvl8pPr>
    <a:lvl9pPr marL="3657600" algn="l" defTabSz="914400" rtl="0" eaLnBrk="1" latinLnBrk="0" hangingPunct="1">
      <a:defRPr sz="2000" kern="1200">
        <a:solidFill>
          <a:schemeClr val="bg1"/>
        </a:solidFill>
        <a:latin typeface="Times New Roman" pitchFamily="18" charset="0"/>
        <a:ea typeface="+mn-ea"/>
        <a:cs typeface="Lucida Sans Unicode"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0000FF"/>
    <a:srgbClr val="217CB6"/>
    <a:srgbClr val="8CC53D"/>
    <a:srgbClr val="DD8656"/>
    <a:srgbClr val="D60093"/>
    <a:srgbClr val="F9AD6F"/>
    <a:srgbClr val="3399FF"/>
    <a:srgbClr val="6DD5FF"/>
  </p:clrMru>
</p:presentationPr>
</file>

<file path=ppt/tableStyles.xml><?xml version="1.0" encoding="utf-8"?>
<a:tblStyleLst xmlns:a="http://schemas.openxmlformats.org/drawingml/2006/main" def="{5C22544A-7EE6-4342-B048-85BDC9FD1C3A}">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279" autoAdjust="0"/>
    <p:restoredTop sz="86772" autoAdjust="0"/>
  </p:normalViewPr>
  <p:slideViewPr>
    <p:cSldViewPr snapToGrid="0">
      <p:cViewPr varScale="1">
        <p:scale>
          <a:sx n="64" d="100"/>
          <a:sy n="64" d="100"/>
        </p:scale>
        <p:origin x="-798" y="-102"/>
      </p:cViewPr>
      <p:guideLst>
        <p:guide orient="horz" pos="1046"/>
        <p:guide pos="2880"/>
      </p:guideLst>
    </p:cSldViewPr>
  </p:slideViewPr>
  <p:notesTextViewPr>
    <p:cViewPr>
      <p:scale>
        <a:sx n="100" d="100"/>
        <a:sy n="100" d="100"/>
      </p:scale>
      <p:origin x="0" y="0"/>
    </p:cViewPr>
  </p:notesTextViewPr>
  <p:sorterViewPr>
    <p:cViewPr>
      <p:scale>
        <a:sx n="66" d="100"/>
        <a:sy n="66" d="100"/>
      </p:scale>
      <p:origin x="0" y="14220"/>
    </p:cViewPr>
  </p:sorterViewPr>
  <p:notesViewPr>
    <p:cSldViewPr snapToGrid="0">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38" Type="http://schemas.openxmlformats.org/officeDocument/2006/relationships/slide" Target="slides/slide134.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144"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slide" Target="slides/slide112.xml"/><Relationship Id="rId124" Type="http://schemas.openxmlformats.org/officeDocument/2006/relationships/slide" Target="slides/slide120.xml"/><Relationship Id="rId129" Type="http://schemas.openxmlformats.org/officeDocument/2006/relationships/slide" Target="slides/slide125.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slide" Target="slides/slide107.xml"/><Relationship Id="rId132" Type="http://schemas.openxmlformats.org/officeDocument/2006/relationships/slide" Target="slides/slide128.xml"/><Relationship Id="rId140" Type="http://schemas.openxmlformats.org/officeDocument/2006/relationships/slide" Target="slides/slide136.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slide" Target="slides/slide110.xml"/><Relationship Id="rId119" Type="http://schemas.openxmlformats.org/officeDocument/2006/relationships/slide" Target="slides/slide115.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30" Type="http://schemas.openxmlformats.org/officeDocument/2006/relationships/slide" Target="slides/slide126.xml"/><Relationship Id="rId135" Type="http://schemas.openxmlformats.org/officeDocument/2006/relationships/slide" Target="slides/slide131.xml"/><Relationship Id="rId14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notesMaster" Target="notesMasters/notesMaster1.xml"/><Relationship Id="rId14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4851" tIns="47425" rIns="94851" bIns="47425" numCol="1" anchor="t" anchorCtr="0" compatLnSpc="1">
            <a:prstTxWarp prst="textNoShape">
              <a:avLst/>
            </a:prstTxWarp>
          </a:bodyPr>
          <a:lstStyle>
            <a:lvl1pPr eaLnBrk="0" hangingPunct="0">
              <a:defRPr sz="1200" baseline="0"/>
            </a:lvl1pPr>
          </a:lstStyle>
          <a:p>
            <a:pPr>
              <a:defRPr/>
            </a:pPr>
            <a:endParaRPr lang="en-US"/>
          </a:p>
        </p:txBody>
      </p:sp>
      <p:sp>
        <p:nvSpPr>
          <p:cNvPr id="106499"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4851" tIns="47425" rIns="94851" bIns="47425" numCol="1" anchor="t" anchorCtr="0" compatLnSpc="1">
            <a:prstTxWarp prst="textNoShape">
              <a:avLst/>
            </a:prstTxWarp>
          </a:bodyPr>
          <a:lstStyle>
            <a:lvl1pPr algn="r" eaLnBrk="0" hangingPunct="0">
              <a:defRPr sz="1200" baseline="0"/>
            </a:lvl1pPr>
          </a:lstStyle>
          <a:p>
            <a:pPr>
              <a:defRPr/>
            </a:pPr>
            <a:fld id="{A0F86CB4-C168-4456-9C36-EE5904CCB32B}" type="datetimeFigureOut">
              <a:rPr lang="en-US"/>
              <a:pPr>
                <a:defRPr/>
              </a:pPr>
              <a:t>8/6/2009</a:t>
            </a:fld>
            <a:endParaRPr lang="en-US"/>
          </a:p>
        </p:txBody>
      </p:sp>
      <p:sp>
        <p:nvSpPr>
          <p:cNvPr id="106500"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4851" tIns="47425" rIns="94851" bIns="47425" numCol="1" anchor="b" anchorCtr="0" compatLnSpc="1">
            <a:prstTxWarp prst="textNoShape">
              <a:avLst/>
            </a:prstTxWarp>
          </a:bodyPr>
          <a:lstStyle>
            <a:lvl1pPr eaLnBrk="0" hangingPunct="0">
              <a:defRPr sz="1200" baseline="0"/>
            </a:lvl1pPr>
          </a:lstStyle>
          <a:p>
            <a:pPr>
              <a:defRPr/>
            </a:pPr>
            <a:endParaRPr lang="en-US"/>
          </a:p>
        </p:txBody>
      </p:sp>
      <p:sp>
        <p:nvSpPr>
          <p:cNvPr id="106501"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4851" tIns="47425" rIns="94851" bIns="47425" numCol="1" anchor="b" anchorCtr="0" compatLnSpc="1">
            <a:prstTxWarp prst="textNoShape">
              <a:avLst/>
            </a:prstTxWarp>
          </a:bodyPr>
          <a:lstStyle>
            <a:lvl1pPr algn="r" eaLnBrk="0" hangingPunct="0">
              <a:defRPr sz="1200" baseline="0"/>
            </a:lvl1pPr>
          </a:lstStyle>
          <a:p>
            <a:pPr>
              <a:defRPr/>
            </a:pPr>
            <a:fld id="{587FE188-2B83-414C-9A07-4A3930FFFCA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7" name="AutoShape 1"/>
          <p:cNvSpPr>
            <a:spLocks noChangeArrowheads="1"/>
          </p:cNvSpPr>
          <p:nvPr/>
        </p:nvSpPr>
        <p:spPr bwMode="auto">
          <a:xfrm>
            <a:off x="0" y="0"/>
            <a:ext cx="7315200" cy="9601200"/>
          </a:xfrm>
          <a:prstGeom prst="roundRect">
            <a:avLst>
              <a:gd name="adj" fmla="val 23"/>
            </a:avLst>
          </a:prstGeom>
          <a:solidFill>
            <a:srgbClr val="FFFFFF"/>
          </a:solidFill>
          <a:ln w="9360">
            <a:noFill/>
            <a:round/>
            <a:headEnd/>
            <a:tailEnd/>
          </a:ln>
        </p:spPr>
        <p:txBody>
          <a:bodyPr wrap="none" lIns="94851" tIns="47425" rIns="94851" bIns="47425" anchor="ctr"/>
          <a:lstStyle/>
          <a:p>
            <a:pPr eaLnBrk="0" hangingPunct="0">
              <a:defRPr/>
            </a:pPr>
            <a:endParaRPr lang="en-US">
              <a:cs typeface="+mn-cs"/>
            </a:endParaRPr>
          </a:p>
        </p:txBody>
      </p:sp>
      <p:sp>
        <p:nvSpPr>
          <p:cNvPr id="9218" name="AutoShape 2"/>
          <p:cNvSpPr>
            <a:spLocks noChangeArrowheads="1"/>
          </p:cNvSpPr>
          <p:nvPr/>
        </p:nvSpPr>
        <p:spPr bwMode="auto">
          <a:xfrm>
            <a:off x="0" y="0"/>
            <a:ext cx="7315200" cy="9601200"/>
          </a:xfrm>
          <a:prstGeom prst="roundRect">
            <a:avLst>
              <a:gd name="adj" fmla="val 23"/>
            </a:avLst>
          </a:prstGeom>
          <a:solidFill>
            <a:srgbClr val="FFFFFF"/>
          </a:solidFill>
          <a:ln w="9525">
            <a:noFill/>
            <a:round/>
            <a:headEnd/>
            <a:tailEnd/>
          </a:ln>
        </p:spPr>
        <p:txBody>
          <a:bodyPr wrap="none" lIns="94851" tIns="47425" rIns="94851" bIns="47425" anchor="ctr"/>
          <a:lstStyle/>
          <a:p>
            <a:pPr eaLnBrk="0" hangingPunct="0">
              <a:defRPr/>
            </a:pPr>
            <a:endParaRPr lang="en-US">
              <a:cs typeface="+mn-cs"/>
            </a:endParaRPr>
          </a:p>
        </p:txBody>
      </p:sp>
      <p:sp>
        <p:nvSpPr>
          <p:cNvPr id="9219" name="AutoShape 3"/>
          <p:cNvSpPr>
            <a:spLocks noChangeArrowheads="1"/>
          </p:cNvSpPr>
          <p:nvPr/>
        </p:nvSpPr>
        <p:spPr bwMode="auto">
          <a:xfrm>
            <a:off x="0" y="0"/>
            <a:ext cx="7315200" cy="9601200"/>
          </a:xfrm>
          <a:prstGeom prst="roundRect">
            <a:avLst>
              <a:gd name="adj" fmla="val 23"/>
            </a:avLst>
          </a:prstGeom>
          <a:solidFill>
            <a:srgbClr val="FFFFFF"/>
          </a:solidFill>
          <a:ln w="9525">
            <a:noFill/>
            <a:round/>
            <a:headEnd/>
            <a:tailEnd/>
          </a:ln>
        </p:spPr>
        <p:txBody>
          <a:bodyPr wrap="none" lIns="94851" tIns="47425" rIns="94851" bIns="47425" anchor="ctr"/>
          <a:lstStyle/>
          <a:p>
            <a:pPr eaLnBrk="0" hangingPunct="0">
              <a:defRPr/>
            </a:pPr>
            <a:endParaRPr lang="en-US">
              <a:cs typeface="+mn-cs"/>
            </a:endParaRPr>
          </a:p>
        </p:txBody>
      </p:sp>
      <p:sp>
        <p:nvSpPr>
          <p:cNvPr id="9220" name="AutoShape 4"/>
          <p:cNvSpPr>
            <a:spLocks noChangeArrowheads="1"/>
          </p:cNvSpPr>
          <p:nvPr/>
        </p:nvSpPr>
        <p:spPr bwMode="auto">
          <a:xfrm>
            <a:off x="0" y="0"/>
            <a:ext cx="7315200" cy="9601200"/>
          </a:xfrm>
          <a:prstGeom prst="roundRect">
            <a:avLst>
              <a:gd name="adj" fmla="val 23"/>
            </a:avLst>
          </a:prstGeom>
          <a:solidFill>
            <a:srgbClr val="FFFFFF"/>
          </a:solidFill>
          <a:ln w="9525">
            <a:noFill/>
            <a:round/>
            <a:headEnd/>
            <a:tailEnd/>
          </a:ln>
        </p:spPr>
        <p:txBody>
          <a:bodyPr wrap="none" lIns="94851" tIns="47425" rIns="94851" bIns="47425" anchor="ctr"/>
          <a:lstStyle/>
          <a:p>
            <a:pPr eaLnBrk="0" hangingPunct="0">
              <a:defRPr/>
            </a:pPr>
            <a:endParaRPr lang="en-US">
              <a:cs typeface="+mn-cs"/>
            </a:endParaRPr>
          </a:p>
        </p:txBody>
      </p:sp>
      <p:sp>
        <p:nvSpPr>
          <p:cNvPr id="144390" name="Rectangle 5"/>
          <p:cNvSpPr>
            <a:spLocks noGrp="1" noRot="1" noChangeAspect="1" noChangeArrowheads="1" noTextEdit="1"/>
          </p:cNvSpPr>
          <p:nvPr>
            <p:ph type="sldImg"/>
          </p:nvPr>
        </p:nvSpPr>
        <p:spPr bwMode="auto">
          <a:xfrm>
            <a:off x="1208088" y="709613"/>
            <a:ext cx="4841875" cy="3630612"/>
          </a:xfrm>
          <a:prstGeom prst="rect">
            <a:avLst/>
          </a:prstGeom>
          <a:solidFill>
            <a:srgbClr val="FFFFFF"/>
          </a:solidFill>
          <a:ln w="9525">
            <a:solidFill>
              <a:srgbClr val="000000"/>
            </a:solidFill>
            <a:miter lim="800000"/>
            <a:headEnd/>
            <a:tailEnd/>
          </a:ln>
        </p:spPr>
      </p:sp>
      <p:sp>
        <p:nvSpPr>
          <p:cNvPr id="2" name="Rectangle 6"/>
          <p:cNvSpPr txBox="1">
            <a:spLocks noGrp="1" noChangeArrowheads="1"/>
          </p:cNvSpPr>
          <p:nvPr>
            <p:ph type="body" idx="1"/>
          </p:nvPr>
        </p:nvSpPr>
        <p:spPr bwMode="auto">
          <a:xfrm>
            <a:off x="957263" y="4578350"/>
            <a:ext cx="5349875" cy="43402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smtClean="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ln/>
        </p:spPr>
      </p:sp>
      <p:sp>
        <p:nvSpPr>
          <p:cNvPr id="145411" name="Notes Placeholder 2"/>
          <p:cNvSpPr txBox="1">
            <a:spLocks noGrp="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xfrm>
            <a:off x="1289050" y="706438"/>
            <a:ext cx="4818063" cy="3613150"/>
          </a:xfrm>
          <a:ln/>
        </p:spPr>
      </p:sp>
      <p:sp>
        <p:nvSpPr>
          <p:cNvPr id="146435"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1289050" y="706438"/>
            <a:ext cx="4818063" cy="3613150"/>
          </a:xfrm>
          <a:ln/>
        </p:spPr>
      </p:sp>
      <p:sp>
        <p:nvSpPr>
          <p:cNvPr id="147459"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1289050" y="706438"/>
            <a:ext cx="4818063" cy="3613150"/>
          </a:xfrm>
          <a:ln/>
        </p:spPr>
      </p:sp>
      <p:sp>
        <p:nvSpPr>
          <p:cNvPr id="148483"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ln/>
        </p:spPr>
      </p:sp>
      <p:sp>
        <p:nvSpPr>
          <p:cNvPr id="149507" name="Text Box 3"/>
          <p:cNvSpPr txBox="1">
            <a:spLocks noGrp="1" noChangeArrowheads="1"/>
          </p:cNvSpPr>
          <p:nvPr>
            <p:ph type="body" idx="1"/>
          </p:nvPr>
        </p:nvSpPr>
        <p:spPr>
          <a:noFill/>
          <a:ln/>
        </p:spPr>
        <p:txBody>
          <a:bodyPr/>
          <a:lstStyle/>
          <a:p>
            <a:r>
              <a:rPr lang="en-US" smtClean="0"/>
              <a:t>GLOBUS MANAGER – is used by Temenos24 application to perform OFS module functions like update and</a:t>
            </a:r>
          </a:p>
          <a:p>
            <a:r>
              <a:rPr lang="en-US" smtClean="0"/>
              <a:t>Querying between them. </a:t>
            </a:r>
          </a:p>
          <a:p>
            <a:r>
              <a:rPr lang="en-US" smtClean="0"/>
              <a:t>GLOBUS MANAGER – Receives messages from some TEMENOS T24 application / subroutine through a subroutine call.</a:t>
            </a:r>
          </a:p>
          <a:p>
            <a:r>
              <a:rPr lang="en-US" smtClean="0"/>
              <a:t>GLOBUS MANAGER - Performs checks to see if the call is from another OFS interface.</a:t>
            </a:r>
          </a:p>
          <a:p>
            <a:endParaRPr lang="en-US" smtClean="0"/>
          </a:p>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1289050" y="706438"/>
            <a:ext cx="4818063" cy="3613150"/>
          </a:xfrm>
          <a:ln/>
        </p:spPr>
      </p:sp>
      <p:sp>
        <p:nvSpPr>
          <p:cNvPr id="150531"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ln/>
        </p:spPr>
      </p:sp>
      <p:sp>
        <p:nvSpPr>
          <p:cNvPr id="151555" name="Text Box 3"/>
          <p:cNvSpPr txBox="1">
            <a:spLocks noGrp="1" noChangeArrowheads="1"/>
          </p:cNvSpPr>
          <p:nvPr>
            <p:ph type="body" idx="1"/>
          </p:nvPr>
        </p:nvSpPr>
        <p:spPr>
          <a:noFill/>
          <a:ln/>
        </p:spPr>
        <p:txBody>
          <a:bodyPr/>
          <a:lstStyle/>
          <a:p>
            <a:r>
              <a:rPr lang="en-US" smtClean="0"/>
              <a:t>Checks for the processing functionality i.e. normal BATCH or OFFLINE batch.</a:t>
            </a:r>
          </a:p>
          <a:p>
            <a:r>
              <a:rPr lang="en-US" smtClean="0"/>
              <a:t>If OFFLINE batch is set it reads the messages from the offline queue.</a:t>
            </a:r>
          </a:p>
          <a:p>
            <a:r>
              <a:rPr lang="en-US" smtClean="0"/>
              <a:t>If normal BATCH mode is set it reads the OFS request messages from a file or from a directory depending on the configuration done in the related OFS.SOURCE record</a:t>
            </a:r>
          </a:p>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ln/>
        </p:spPr>
      </p:sp>
      <p:sp>
        <p:nvSpPr>
          <p:cNvPr id="152579" name="Text Box 3"/>
          <p:cNvSpPr txBox="1">
            <a:spLocks noGrp="1" noChangeArrowheads="1"/>
          </p:cNvSpPr>
          <p:nvPr>
            <p:ph type="body" idx="1"/>
          </p:nvPr>
        </p:nvSpPr>
        <p:spPr>
          <a:noFill/>
          <a:ln/>
        </p:spPr>
        <p:txBody>
          <a:bodyPr/>
          <a:lstStyle/>
          <a:p>
            <a:pPr>
              <a:lnSpc>
                <a:spcPct val="70000"/>
              </a:lnSpc>
            </a:pPr>
            <a:r>
              <a:rPr lang="en-US" smtClean="0"/>
              <a:t>The OFS.REQUEST.MANAGER is the main processing routine of the OFS </a:t>
            </a:r>
          </a:p>
          <a:p>
            <a:pPr>
              <a:lnSpc>
                <a:spcPct val="70000"/>
              </a:lnSpc>
            </a:pPr>
            <a:r>
              <a:rPr lang="en-US" smtClean="0"/>
              <a:t>module. It is the heart of the OFS module and has a generic logic to </a:t>
            </a:r>
          </a:p>
          <a:p>
            <a:pPr>
              <a:lnSpc>
                <a:spcPct val="70000"/>
              </a:lnSpc>
            </a:pPr>
            <a:r>
              <a:rPr lang="en-US" smtClean="0"/>
              <a:t>work across various TEMENOS T24 applications and enquiries. The </a:t>
            </a:r>
          </a:p>
          <a:p>
            <a:pPr>
              <a:lnSpc>
                <a:spcPct val="70000"/>
              </a:lnSpc>
            </a:pPr>
            <a:r>
              <a:rPr lang="en-US" smtClean="0"/>
              <a:t>actual processing of the message including updating / querying the T24 </a:t>
            </a:r>
          </a:p>
          <a:p>
            <a:pPr>
              <a:lnSpc>
                <a:spcPct val="70000"/>
              </a:lnSpc>
            </a:pPr>
            <a:r>
              <a:rPr lang="en-US" smtClean="0"/>
              <a:t>database is handled by this routine. Almost all the OFS processing of </a:t>
            </a:r>
          </a:p>
          <a:p>
            <a:pPr>
              <a:lnSpc>
                <a:spcPct val="70000"/>
              </a:lnSpc>
            </a:pPr>
            <a:r>
              <a:rPr lang="en-US" smtClean="0"/>
              <a:t>requests end here.</a:t>
            </a:r>
          </a:p>
          <a:p>
            <a:endParaRPr lang="en-US" smtClean="0"/>
          </a:p>
          <a:p>
            <a:r>
              <a:rPr lang="en-US" smtClean="0"/>
              <a:t>Also responsible to identify the type of function appearing on the message.</a:t>
            </a:r>
          </a:p>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ln/>
        </p:spPr>
      </p:sp>
      <p:sp>
        <p:nvSpPr>
          <p:cNvPr id="153603" name="Text Box 3"/>
          <p:cNvSpPr txBox="1">
            <a:spLocks noGrp="1" noChangeArrowheads="1"/>
          </p:cNvSpPr>
          <p:nvPr>
            <p:ph type="body" idx="1"/>
          </p:nvPr>
        </p:nvSpPr>
        <p:spPr>
          <a:noFill/>
          <a:ln/>
        </p:spPr>
        <p:txBody>
          <a:bodyPr/>
          <a:lstStyle/>
          <a:p>
            <a:r>
              <a:rPr lang="en-US" smtClean="0"/>
              <a:t>OFS.CONNECTION.MANAGER can also be used from a Temenos to post request messages to T24.</a:t>
            </a:r>
          </a:p>
          <a:p>
            <a:r>
              <a:rPr lang="en-US" smtClean="0"/>
              <a:t>Initializes the Temenos t24 environment &amp; common variable for processing applications/subroutines to work correctly.</a:t>
            </a:r>
          </a:p>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1289050" y="706438"/>
            <a:ext cx="4818063" cy="3613150"/>
          </a:xfrm>
          <a:ln/>
        </p:spPr>
      </p:sp>
      <p:sp>
        <p:nvSpPr>
          <p:cNvPr id="154627"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ln/>
        </p:spPr>
      </p:sp>
      <p:sp>
        <p:nvSpPr>
          <p:cNvPr id="155651" name="Text Box 3"/>
          <p:cNvSpPr txBox="1">
            <a:spLocks noGrp="1" noChangeArrowheads="1"/>
          </p:cNvSpPr>
          <p:nvPr>
            <p:ph type="body" idx="1"/>
          </p:nvPr>
        </p:nvSpPr>
        <p:spPr>
          <a:noFill/>
          <a:ln/>
        </p:spPr>
        <p:txBody>
          <a:bodyPr/>
          <a:lstStyle/>
          <a:p>
            <a:r>
              <a:rPr lang="en-US" smtClean="0"/>
              <a:t>GLOBUS MANAGER – is used by Temenos24 application to perform OFS module functions like update and</a:t>
            </a:r>
          </a:p>
          <a:p>
            <a:r>
              <a:rPr lang="en-US" smtClean="0"/>
              <a:t>Querying between them. </a:t>
            </a:r>
          </a:p>
          <a:p>
            <a:r>
              <a:rPr lang="en-US" smtClean="0"/>
              <a:t>GLOBUS MANAGER – Receives messages from some TEMENOS T24 application / subroutine through a subroutine call.</a:t>
            </a:r>
          </a:p>
          <a:p>
            <a:r>
              <a:rPr lang="en-US" smtClean="0"/>
              <a:t>GLOBUS MANAGER - Performs checks to see if the call is from another OFS interface.</a:t>
            </a:r>
          </a:p>
          <a:p>
            <a:endParaRPr lang="en-US" smtClean="0"/>
          </a:p>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a:ln/>
        </p:spPr>
      </p:sp>
      <p:sp>
        <p:nvSpPr>
          <p:cNvPr id="156675" name="Text Box 3"/>
          <p:cNvSpPr txBox="1">
            <a:spLocks noGrp="1" noChangeArrowheads="1"/>
          </p:cNvSpPr>
          <p:nvPr>
            <p:ph type="body" idx="1"/>
          </p:nvPr>
        </p:nvSpPr>
        <p:spPr>
          <a:noFill/>
          <a:ln/>
        </p:spPr>
        <p:txBody>
          <a:bodyPr/>
          <a:lstStyle/>
          <a:p>
            <a:r>
              <a:rPr lang="en-US" smtClean="0"/>
              <a:t>GLOBUS MANAGER – is used by Temenos24 application to perform OFS module functions like update and</a:t>
            </a:r>
          </a:p>
          <a:p>
            <a:r>
              <a:rPr lang="en-US" smtClean="0"/>
              <a:t>Querying between them. </a:t>
            </a:r>
          </a:p>
          <a:p>
            <a:r>
              <a:rPr lang="en-US" smtClean="0"/>
              <a:t>GLOBUS MANAGER – Receives messages from some TEMENOS T24 application / subroutine through a subroutine call.</a:t>
            </a:r>
          </a:p>
          <a:p>
            <a:r>
              <a:rPr lang="en-US" smtClean="0"/>
              <a:t>GLOBUS MANAGER - Performs checks to see if the call is from another OFS interface.</a:t>
            </a:r>
          </a:p>
          <a:p>
            <a:endParaRPr lang="en-US" smtClean="0"/>
          </a:p>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ln/>
        </p:spPr>
      </p:sp>
      <p:sp>
        <p:nvSpPr>
          <p:cNvPr id="157699" name="Text Box 3"/>
          <p:cNvSpPr txBox="1">
            <a:spLocks noGrp="1" noChangeArrowheads="1"/>
          </p:cNvSpPr>
          <p:nvPr>
            <p:ph type="body" idx="1"/>
          </p:nvPr>
        </p:nvSpPr>
        <p:spPr>
          <a:noFill/>
          <a:ln/>
        </p:spPr>
        <p:txBody>
          <a:bodyPr/>
          <a:lstStyle/>
          <a:p>
            <a:r>
              <a:rPr lang="en-US" smtClean="0"/>
              <a:t>GLOBUS MANAGER – is used by Temenos24 application to perform OFS module functions like update and</a:t>
            </a:r>
          </a:p>
          <a:p>
            <a:r>
              <a:rPr lang="en-US" smtClean="0"/>
              <a:t>Querying between them. </a:t>
            </a:r>
          </a:p>
          <a:p>
            <a:r>
              <a:rPr lang="en-US" smtClean="0"/>
              <a:t>GLOBUS MANAGER – Receives messages from some TEMENOS T24 application / subroutine through a subroutine call.</a:t>
            </a:r>
          </a:p>
          <a:p>
            <a:r>
              <a:rPr lang="en-US" smtClean="0"/>
              <a:t>GLOBUS MANAGER - Performs checks to see if the call is from another OFS interface.</a:t>
            </a:r>
          </a:p>
          <a:p>
            <a:endParaRPr lang="en-US" smtClean="0"/>
          </a:p>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xfrm>
            <a:off x="1289050" y="706438"/>
            <a:ext cx="4818063" cy="3613150"/>
          </a:xfrm>
          <a:ln/>
        </p:spPr>
      </p:sp>
      <p:sp>
        <p:nvSpPr>
          <p:cNvPr id="158723"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ln/>
        </p:spPr>
      </p:sp>
      <p:sp>
        <p:nvSpPr>
          <p:cNvPr id="159747" name="Text Box 3"/>
          <p:cNvSpPr txBox="1">
            <a:spLocks noGrp="1" noChangeArrowheads="1"/>
          </p:cNvSpPr>
          <p:nvPr>
            <p:ph type="body" idx="1"/>
          </p:nvPr>
        </p:nvSpPr>
        <p:spPr>
          <a:noFill/>
          <a:ln/>
        </p:spPr>
        <p:txBody>
          <a:bodyPr/>
          <a:lstStyle/>
          <a:p>
            <a:r>
              <a:rPr lang="en-US" smtClean="0"/>
              <a:t>The applications are the three main applications in OFS. By setting up these applications various functionalities of</a:t>
            </a:r>
          </a:p>
          <a:p>
            <a:r>
              <a:rPr lang="en-US" smtClean="0"/>
              <a:t>OFS can be done.</a:t>
            </a:r>
          </a:p>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ln/>
        </p:spPr>
      </p:sp>
      <p:sp>
        <p:nvSpPr>
          <p:cNvPr id="160771" name="Notes Placeholder 2"/>
          <p:cNvSpPr txBox="1">
            <a:spLocks noGrp="1"/>
          </p:cNvSpPr>
          <p:nvPr>
            <p:ph type="body" idx="1"/>
          </p:nvPr>
        </p:nvSpPr>
        <p:spPr>
          <a:noFill/>
          <a:ln/>
        </p:spPr>
        <p:txBody>
          <a:bodyPr/>
          <a:lstStyle/>
          <a:p>
            <a:r>
              <a:rPr lang="en-US" smtClean="0"/>
              <a:t>DESCRIPTION : Description of ofs service defined in record.</a:t>
            </a:r>
          </a:p>
          <a:p>
            <a:r>
              <a:rPr lang="en-US" smtClean="0"/>
              <a:t>SOURCE.TYPE : Defined the type of communication used to exchange data with this service.</a:t>
            </a:r>
          </a:p>
          <a:p>
            <a:r>
              <a:rPr lang="en-US" smtClean="0"/>
              <a:t>LOGIN.ID : Specifies the UNIX or NT login that will automatically initiate the communication with the external source. The external source will initiate communications by issuing a login using the specified id. The system will automatically begin the communication process when this login is detect.</a:t>
            </a:r>
          </a:p>
          <a:p>
            <a:r>
              <a:rPr lang="en-US" smtClean="0"/>
              <a:t>LOG.DETAIL.LEVEL : Specifies the type of OFS message logging to be performed by OFS.</a:t>
            </a:r>
          </a:p>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ln/>
        </p:spPr>
      </p:sp>
      <p:sp>
        <p:nvSpPr>
          <p:cNvPr id="161795" name="Notes Placeholder 2"/>
          <p:cNvSpPr txBox="1">
            <a:spLocks noGrp="1"/>
          </p:cNvSpPr>
          <p:nvPr>
            <p:ph type="body" idx="1"/>
          </p:nvPr>
        </p:nvSpPr>
        <p:spPr>
          <a:noFill/>
          <a:ln/>
        </p:spPr>
        <p:txBody>
          <a:bodyPr/>
          <a:lstStyle/>
          <a:p>
            <a:r>
              <a:rPr lang="en-US" smtClean="0"/>
              <a:t>For online EB.PHANTOM need not be created.</a:t>
            </a:r>
          </a:p>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a:ln/>
        </p:spPr>
      </p:sp>
      <p:sp>
        <p:nvSpPr>
          <p:cNvPr id="162819" name="Notes Placeholder 2"/>
          <p:cNvSpPr txBox="1">
            <a:spLocks noGrp="1"/>
          </p:cNvSpPr>
          <p:nvPr>
            <p:ph type="body" idx="1"/>
          </p:nvPr>
        </p:nvSpPr>
        <p:spPr>
          <a:noFill/>
          <a:ln/>
        </p:spPr>
        <p:txBody>
          <a:bodyPr/>
          <a:lstStyle/>
          <a:p>
            <a:r>
              <a:rPr lang="en-US" smtClean="0"/>
              <a:t>LOG.DETAIL.LEVEL has got options like NONE, OPEN,EXCEPT and FULL</a:t>
            </a:r>
          </a:p>
          <a:p>
            <a:r>
              <a:rPr lang="en-US" smtClean="0"/>
              <a:t>NONE- No message logging</a:t>
            </a:r>
          </a:p>
          <a:p>
            <a:r>
              <a:rPr lang="en-US" smtClean="0"/>
              <a:t>OPEN – Only initial start and stop for processes are logged</a:t>
            </a:r>
          </a:p>
          <a:p>
            <a:r>
              <a:rPr lang="en-US" smtClean="0"/>
              <a:t>EXCEPT – Only exceptions such as incorrect message  syntax, invalid user details are reported</a:t>
            </a:r>
          </a:p>
          <a:p>
            <a:r>
              <a:rPr lang="en-US" smtClean="0"/>
              <a:t>FULL – All message communication are fully logged.</a:t>
            </a:r>
          </a:p>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txBox="1">
            <a:spLocks noGrp="1"/>
          </p:cNvSpPr>
          <p:nvPr>
            <p:ph type="body" idx="1"/>
          </p:nvPr>
        </p:nvSpPr>
        <p:spPr>
          <a:noFill/>
          <a:ln/>
        </p:spPr>
        <p:txBody>
          <a:bodyPr/>
          <a:lstStyle/>
          <a:p>
            <a:r>
              <a:rPr lang="en-US" smtClean="0"/>
              <a:t>:: - used to assign value to a field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Text Box 3"/>
          <p:cNvSpPr txBox="1">
            <a:spLocks noGrp="1" noChangeArrowheads="1"/>
          </p:cNvSpPr>
          <p:nvPr>
            <p:ph type="body" idx="1"/>
          </p:nvPr>
        </p:nvSpPr>
        <p:spPr>
          <a:noFill/>
          <a:ln/>
        </p:spPr>
        <p:txBody>
          <a:bodyPr/>
          <a:lstStyle/>
          <a:p>
            <a:r>
              <a:rPr lang="en-US" smtClean="0"/>
              <a:t>When collection of request for  updation or insertion or deletion or an enquiry which is to be processed from </a:t>
            </a:r>
          </a:p>
          <a:p>
            <a:r>
              <a:rPr lang="en-US" smtClean="0"/>
              <a:t>T24, all the data’s can be put and file and the file is termed as Batch file.</a:t>
            </a:r>
          </a:p>
          <a:p>
            <a:r>
              <a:rPr lang="en-US" smtClean="0"/>
              <a:t>Batch mode is used when the messages are received in flat files. </a:t>
            </a:r>
          </a:p>
          <a:p>
            <a:endParaRPr lang="en-US" smtClean="0"/>
          </a:p>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Rot="1" noChangeAspect="1" noChangeArrowheads="1" noTextEdit="1"/>
          </p:cNvSpPr>
          <p:nvPr>
            <p:ph type="sldImg"/>
          </p:nvPr>
        </p:nvSpPr>
        <p:spPr>
          <a:ln/>
        </p:spPr>
      </p:sp>
      <p:sp>
        <p:nvSpPr>
          <p:cNvPr id="165891" name="Text Box 3"/>
          <p:cNvSpPr txBox="1">
            <a:spLocks noGrp="1" noChangeArrowheads="1"/>
          </p:cNvSpPr>
          <p:nvPr>
            <p:ph type="body" idx="1"/>
          </p:nvPr>
        </p:nvSpPr>
        <p:spPr>
          <a:noFill/>
          <a:ln/>
        </p:spPr>
        <p:txBody>
          <a:bodyPr/>
          <a:lstStyle/>
          <a:p>
            <a:r>
              <a:rPr lang="en-US" smtClean="0"/>
              <a:t>When you set up the EB.PHANTOM we have to give the id of OFS.SOURCE to OFS.SOURCE field in EB.PHANTOM.</a:t>
            </a:r>
          </a:p>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a:ln/>
        </p:spPr>
      </p:sp>
      <p:sp>
        <p:nvSpPr>
          <p:cNvPr id="166915" name="Notes Placeholder 2"/>
          <p:cNvSpPr txBox="1">
            <a:spLocks noGrp="1"/>
          </p:cNvSpPr>
          <p:nvPr>
            <p:ph type="body" idx="1"/>
          </p:nvPr>
        </p:nvSpPr>
        <p:spPr>
          <a:noFill/>
          <a:ln/>
        </p:spPr>
        <p:txBody>
          <a:bodyPr/>
          <a:lstStyle/>
          <a:p>
            <a:r>
              <a:rPr lang="en-US" smtClean="0"/>
              <a:t>RUN.MODE – COULD BE EITHER INTERACTIVE OR PHANTOM</a:t>
            </a:r>
          </a:p>
          <a:p>
            <a:r>
              <a:rPr lang="en-US" smtClean="0"/>
              <a:t>INTERACTIVE – PROCESS WILL BE RUN FROM CURRENT TERMINAL</a:t>
            </a:r>
          </a:p>
          <a:p>
            <a:r>
              <a:rPr lang="en-US" smtClean="0"/>
              <a:t>PHANTOM – PROCESS WILL RUN IN BACKGROUND</a:t>
            </a:r>
          </a:p>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xfrm>
            <a:off x="1289050" y="706438"/>
            <a:ext cx="4818063" cy="3613150"/>
          </a:xfrm>
          <a:ln/>
        </p:spPr>
      </p:sp>
      <p:sp>
        <p:nvSpPr>
          <p:cNvPr id="167939"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a:ln/>
        </p:spPr>
      </p:sp>
      <p:sp>
        <p:nvSpPr>
          <p:cNvPr id="168963" name="Notes Placeholder 2"/>
          <p:cNvSpPr txBox="1">
            <a:spLocks noGrp="1"/>
          </p:cNvSpPr>
          <p:nvPr>
            <p:ph type="body" idx="1"/>
          </p:nvPr>
        </p:nvSpPr>
        <p:spPr>
          <a:noFill/>
          <a:ln/>
        </p:spPr>
        <p:txBody>
          <a:bodyPr/>
          <a:lstStyle/>
          <a:p>
            <a:r>
              <a:rPr lang="en-US" smtClean="0"/>
              <a:t>More than one argument can be used. If more than one argument is used and other could be used to out message purpose</a:t>
            </a:r>
          </a:p>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a:ln/>
        </p:spPr>
      </p:sp>
      <p:sp>
        <p:nvSpPr>
          <p:cNvPr id="169987" name="Notes Placeholder 2"/>
          <p:cNvSpPr txBox="1">
            <a:spLocks noGrp="1"/>
          </p:cNvSpPr>
          <p:nvPr>
            <p:ph type="body" idx="1"/>
          </p:nvPr>
        </p:nvSpPr>
        <p:spPr>
          <a:noFill/>
          <a:ln/>
        </p:spPr>
        <p:txBody>
          <a:bodyPr/>
          <a:lstStyle/>
          <a:p>
            <a:r>
              <a:rPr lang="en-US" smtClean="0"/>
              <a:t>MSG.PRE.RTN – Allows a user defined routine to be specified for a particular service. The routine specified here will be executed within the OFS processing prior to application update or execution of enquiry.</a:t>
            </a:r>
          </a:p>
          <a:p>
            <a:r>
              <a:rPr lang="en-US" smtClean="0"/>
              <a:t>Arguments : OFS.MESSAGE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1289050" y="706438"/>
            <a:ext cx="4818063" cy="3613150"/>
          </a:xfrm>
          <a:ln/>
        </p:spPr>
      </p:sp>
      <p:sp>
        <p:nvSpPr>
          <p:cNvPr id="171011" name="Rectangle 3"/>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a:ln/>
        </p:spPr>
      </p:sp>
      <p:sp>
        <p:nvSpPr>
          <p:cNvPr id="172035" name="Notes Placeholder 2"/>
          <p:cNvSpPr txBox="1">
            <a:spLocks noGrp="1"/>
          </p:cNvSpPr>
          <p:nvPr>
            <p:ph type="body" idx="1"/>
          </p:nvPr>
        </p:nvSpPr>
        <p:spPr>
          <a:noFill/>
          <a:ln/>
        </p:spPr>
        <p:txBody>
          <a:bodyPr/>
          <a:lstStyle/>
          <a:p>
            <a:r>
              <a:rPr lang="en-US" smtClean="0"/>
              <a:t>Id is a 10 digit reference number used in DATA.CAPTURE record which generates one accounting entry, </a:t>
            </a:r>
          </a:p>
          <a:p>
            <a:r>
              <a:rPr lang="en-US" smtClean="0"/>
              <a:t>The 10 digit reference nuumber is comprised of Department code; Batch number; and Item number</a:t>
            </a:r>
          </a:p>
          <a:p>
            <a:r>
              <a:rPr lang="en-US" smtClean="0"/>
              <a:t>The Department code is derived from the DEPT.ACCT.OFFICER system table,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a:ln/>
        </p:spPr>
      </p:sp>
      <p:sp>
        <p:nvSpPr>
          <p:cNvPr id="173059" name="Notes Placeholder 2"/>
          <p:cNvSpPr txBox="1">
            <a:spLocks noGrp="1"/>
          </p:cNvSpPr>
          <p:nvPr>
            <p:ph type="body" idx="1"/>
          </p:nvPr>
        </p:nvSpPr>
        <p:spPr>
          <a:noFill/>
          <a:ln/>
        </p:spPr>
        <p:txBody>
          <a:bodyPr/>
          <a:lstStyle/>
          <a:p>
            <a:r>
              <a:rPr lang="en-US" smtClean="0"/>
              <a:t>Debit leg and credit leg are nothing but credit entry and debit entry repectively.</a:t>
            </a:r>
          </a:p>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a:ln/>
        </p:spPr>
      </p:sp>
      <p:sp>
        <p:nvSpPr>
          <p:cNvPr id="174083" name="Notes Placeholder 2"/>
          <p:cNvSpPr txBox="1">
            <a:spLocks noGrp="1"/>
          </p:cNvSpPr>
          <p:nvPr>
            <p:ph type="body" idx="1"/>
          </p:nvPr>
        </p:nvSpPr>
        <p:spPr>
          <a:noFill/>
          <a:ln/>
        </p:spPr>
        <p:txBody>
          <a:bodyPr/>
          <a:lstStyle/>
          <a:p>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txBox="1">
            <a:spLocks noGrp="1"/>
          </p:cNvSpPr>
          <p:nvPr>
            <p:ph type="body" idx="1"/>
          </p:nvPr>
        </p:nvSpPr>
        <p:spPr>
          <a:noFill/>
          <a:ln/>
        </p:spPr>
        <p:txBody>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130" name="Rectangle 1"/>
          <p:cNvSpPr>
            <a:spLocks noGrp="1" noRot="1" noChangeAspect="1" noChangeArrowheads="1" noTextEdit="1"/>
          </p:cNvSpPr>
          <p:nvPr>
            <p:ph type="sldImg"/>
          </p:nvPr>
        </p:nvSpPr>
        <p:spPr>
          <a:xfrm>
            <a:off x="1289050" y="706438"/>
            <a:ext cx="4818063" cy="3613150"/>
          </a:xfrm>
          <a:ln/>
        </p:spPr>
      </p:sp>
      <p:sp>
        <p:nvSpPr>
          <p:cNvPr id="176131" name="Rectangle 2"/>
          <p:cNvSpPr txBox="1">
            <a:spLocks noGrp="1" noChangeArrowheads="1"/>
          </p:cNvSpPr>
          <p:nvPr>
            <p:ph type="body" idx="1"/>
          </p:nvPr>
        </p:nvSpPr>
        <p:spPr>
          <a:xfrm>
            <a:off x="976313" y="4556125"/>
            <a:ext cx="5445125" cy="4321175"/>
          </a:xfrm>
          <a:noFill/>
          <a:ln/>
        </p:spPr>
        <p:txBody>
          <a:bodyPr wrap="none" anchor="ct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992188" y="1592263"/>
            <a:ext cx="7874000" cy="4638208"/>
          </a:xfrm>
        </p:spPr>
        <p:txBody>
          <a:bodyPr/>
          <a:lstStyle>
            <a:lvl3pPr>
              <a:defRPr sz="1800"/>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92188" y="1592263"/>
            <a:ext cx="3860800" cy="4337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05388" y="1592263"/>
            <a:ext cx="3860800" cy="4337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7688" y="273050"/>
            <a:ext cx="1968500" cy="56562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92188" y="273050"/>
            <a:ext cx="5753100" cy="56562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92188" y="273050"/>
            <a:ext cx="7589837" cy="98425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92188" y="1592263"/>
            <a:ext cx="7874000" cy="4337050"/>
          </a:xfrm>
        </p:spPr>
        <p:txBody>
          <a:bodyPr/>
          <a:lstStyle/>
          <a:p>
            <a:pPr lvl="0"/>
            <a:endParaRPr lang="en-US" noProof="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4788" y="2973388"/>
            <a:ext cx="1447800" cy="13890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1804988" y="2973388"/>
            <a:ext cx="1449387" cy="13890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8763" y="692150"/>
            <a:ext cx="2133600" cy="3670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04788" y="692150"/>
            <a:ext cx="6251575" cy="3670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922713" y="4621213"/>
            <a:ext cx="2238375" cy="2170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313488" y="4621213"/>
            <a:ext cx="2239962" cy="2170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02400" y="2749550"/>
            <a:ext cx="2055813" cy="40417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30200" y="2749550"/>
            <a:ext cx="6019800" cy="40417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2713" y="5167313"/>
            <a:ext cx="1257300" cy="1568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522413" y="5167313"/>
            <a:ext cx="1258887" cy="1568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14550" y="4610100"/>
            <a:ext cx="666750" cy="21256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2713" y="4610100"/>
            <a:ext cx="1849437" cy="21256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5.jpe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914400" y="6411913"/>
            <a:ext cx="7969250" cy="223837"/>
          </a:xfrm>
          <a:prstGeom prst="rect">
            <a:avLst/>
          </a:prstGeom>
          <a:noFill/>
          <a:ln w="9525">
            <a:noFill/>
            <a:miter lim="800000"/>
            <a:headEnd/>
            <a:tailEnd/>
          </a:ln>
        </p:spPr>
        <p:txBody>
          <a:bodyPr lIns="90000" tIns="46800" rIns="90000" bIns="46800">
            <a:spAutoFit/>
          </a:bodyPr>
          <a:lstStyle/>
          <a:p>
            <a:pPr algn="r">
              <a:lnSpc>
                <a:spcPct val="93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900" dirty="0">
                <a:solidFill>
                  <a:srgbClr val="6B6B6B"/>
                </a:solidFill>
                <a:latin typeface="Arial" charset="0"/>
              </a:rPr>
              <a:t>Thesys </a:t>
            </a:r>
            <a:r>
              <a:rPr lang="en-GB" sz="900" dirty="0">
                <a:solidFill>
                  <a:srgbClr val="DD8656"/>
                </a:solidFill>
                <a:latin typeface="Arial" charset="0"/>
              </a:rPr>
              <a:t>Training </a:t>
            </a:r>
            <a:r>
              <a:rPr lang="en-GB" sz="900" dirty="0">
                <a:solidFill>
                  <a:srgbClr val="6B6B6B"/>
                </a:solidFill>
                <a:latin typeface="Arial" charset="0"/>
              </a:rPr>
              <a:t>Centre</a:t>
            </a:r>
          </a:p>
        </p:txBody>
      </p:sp>
      <p:grpSp>
        <p:nvGrpSpPr>
          <p:cNvPr id="1027" name="Group 3"/>
          <p:cNvGrpSpPr>
            <a:grpSpLocks/>
          </p:cNvGrpSpPr>
          <p:nvPr/>
        </p:nvGrpSpPr>
        <p:grpSpPr bwMode="auto">
          <a:xfrm>
            <a:off x="0" y="0"/>
            <a:ext cx="950913" cy="222250"/>
            <a:chOff x="0" y="0"/>
            <a:chExt cx="599" cy="140"/>
          </a:xfrm>
        </p:grpSpPr>
        <p:sp>
          <p:nvSpPr>
            <p:cNvPr id="1028" name="AutoShape 4"/>
            <p:cNvSpPr>
              <a:spLocks noChangeArrowheads="1"/>
            </p:cNvSpPr>
            <p:nvPr/>
          </p:nvSpPr>
          <p:spPr bwMode="auto">
            <a:xfrm>
              <a:off x="0" y="0"/>
              <a:ext cx="600" cy="141"/>
            </a:xfrm>
            <a:prstGeom prst="roundRect">
              <a:avLst>
                <a:gd name="adj" fmla="val 713"/>
              </a:avLst>
            </a:prstGeom>
            <a:solidFill>
              <a:srgbClr val="96D8F3"/>
            </a:solidFill>
            <a:ln w="9525">
              <a:noFill/>
              <a:round/>
              <a:headEnd/>
              <a:tailEnd/>
            </a:ln>
          </p:spPr>
          <p:txBody>
            <a:bodyPr wrap="none" anchor="ctr"/>
            <a:lstStyle/>
            <a:p>
              <a:pPr eaLnBrk="0" hangingPunct="0">
                <a:defRPr/>
              </a:pPr>
              <a:endParaRPr lang="en-US">
                <a:cs typeface="+mn-cs"/>
              </a:endParaRPr>
            </a:p>
          </p:txBody>
        </p:sp>
        <p:sp>
          <p:nvSpPr>
            <p:cNvPr id="1029" name="AutoShape 5"/>
            <p:cNvSpPr>
              <a:spLocks noChangeArrowheads="1"/>
            </p:cNvSpPr>
            <p:nvPr/>
          </p:nvSpPr>
          <p:spPr bwMode="auto">
            <a:xfrm>
              <a:off x="0" y="0"/>
              <a:ext cx="600" cy="141"/>
            </a:xfrm>
            <a:prstGeom prst="roundRect">
              <a:avLst>
                <a:gd name="adj" fmla="val 713"/>
              </a:avLst>
            </a:prstGeom>
            <a:solidFill>
              <a:srgbClr val="96D8F3"/>
            </a:solidFill>
            <a:ln w="9525">
              <a:noFill/>
              <a:round/>
              <a:headEnd/>
              <a:tailEnd/>
            </a:ln>
          </p:spPr>
          <p:txBody>
            <a:bodyPr lIns="90000" tIns="46800" rIns="90000" bIns="46800" anchor="ctr"/>
            <a:lstStyle/>
            <a:p>
              <a:pPr algn="ctr">
                <a:lnSpc>
                  <a:spcPts val="2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400">
                  <a:solidFill>
                    <a:schemeClr val="tx1"/>
                  </a:solidFill>
                  <a:cs typeface="+mn-cs"/>
                </a:rPr>
                <a:t> </a:t>
              </a:r>
            </a:p>
          </p:txBody>
        </p:sp>
      </p:grpSp>
      <p:sp>
        <p:nvSpPr>
          <p:cNvPr id="1030" name="Text Box 6"/>
          <p:cNvSpPr txBox="1">
            <a:spLocks noChangeArrowheads="1"/>
          </p:cNvSpPr>
          <p:nvPr/>
        </p:nvSpPr>
        <p:spPr bwMode="auto">
          <a:xfrm>
            <a:off x="388938" y="6373813"/>
            <a:ext cx="381000" cy="206375"/>
          </a:xfrm>
          <a:prstGeom prst="rect">
            <a:avLst/>
          </a:prstGeom>
          <a:noFill/>
          <a:ln w="9525">
            <a:noFill/>
            <a:miter lim="800000"/>
            <a:headEnd/>
            <a:tailEnd/>
          </a:ln>
        </p:spPr>
        <p:txBody>
          <a:bodyPr lIns="90000" tIns="46800" rIns="90000" bIns="46800">
            <a:spAutoFit/>
          </a:bodyPr>
          <a:lstStyle/>
          <a:p>
            <a:pPr algn="r">
              <a:lnSpc>
                <a:spcPct val="93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fld id="{96CC220B-590E-4EE9-B97C-CA03E1B83135}" type="slidenum">
              <a:rPr lang="en-GB" sz="1200" b="1" baseline="1000">
                <a:solidFill>
                  <a:srgbClr val="3C3C41"/>
                </a:solidFill>
                <a:latin typeface="Arial" charset="0"/>
                <a:cs typeface="+mn-cs"/>
              </a:rPr>
              <a:pPr algn="r">
                <a:lnSpc>
                  <a:spcPct val="93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t>‹#›</a:t>
            </a:fld>
            <a:endParaRPr lang="en-GB" sz="1200" b="1" baseline="1000" dirty="0">
              <a:solidFill>
                <a:srgbClr val="3C3C41"/>
              </a:solidFill>
              <a:latin typeface="Arial" charset="0"/>
              <a:cs typeface="+mn-cs"/>
            </a:endParaRPr>
          </a:p>
        </p:txBody>
      </p:sp>
      <p:grpSp>
        <p:nvGrpSpPr>
          <p:cNvPr id="4" name="Group 7"/>
          <p:cNvGrpSpPr>
            <a:grpSpLocks/>
          </p:cNvGrpSpPr>
          <p:nvPr/>
        </p:nvGrpSpPr>
        <p:grpSpPr bwMode="auto">
          <a:xfrm>
            <a:off x="1001713" y="0"/>
            <a:ext cx="8142287" cy="222250"/>
            <a:chOff x="631" y="0"/>
            <a:chExt cx="4308" cy="140"/>
          </a:xfrm>
          <a:solidFill>
            <a:srgbClr val="DD8656"/>
          </a:solidFill>
        </p:grpSpPr>
        <p:sp>
          <p:nvSpPr>
            <p:cNvPr id="1032" name="AutoShape 8"/>
            <p:cNvSpPr>
              <a:spLocks noChangeArrowheads="1"/>
            </p:cNvSpPr>
            <p:nvPr/>
          </p:nvSpPr>
          <p:spPr bwMode="auto">
            <a:xfrm>
              <a:off x="631" y="0"/>
              <a:ext cx="4309" cy="141"/>
            </a:xfrm>
            <a:prstGeom prst="roundRect">
              <a:avLst>
                <a:gd name="adj" fmla="val 713"/>
              </a:avLst>
            </a:prstGeom>
            <a:grpFill/>
            <a:ln w="9525">
              <a:noFill/>
              <a:round/>
              <a:headEnd/>
              <a:tailEnd/>
            </a:ln>
          </p:spPr>
          <p:txBody>
            <a:bodyPr wrap="none" anchor="ctr"/>
            <a:lstStyle/>
            <a:p>
              <a:pPr eaLnBrk="0" hangingPunct="0">
                <a:defRPr/>
              </a:pPr>
              <a:endParaRPr lang="en-US">
                <a:cs typeface="+mn-cs"/>
              </a:endParaRPr>
            </a:p>
          </p:txBody>
        </p:sp>
        <p:sp>
          <p:nvSpPr>
            <p:cNvPr id="1033" name="AutoShape 9"/>
            <p:cNvSpPr>
              <a:spLocks noChangeArrowheads="1"/>
            </p:cNvSpPr>
            <p:nvPr/>
          </p:nvSpPr>
          <p:spPr bwMode="auto">
            <a:xfrm>
              <a:off x="631" y="0"/>
              <a:ext cx="4309" cy="141"/>
            </a:xfrm>
            <a:prstGeom prst="roundRect">
              <a:avLst>
                <a:gd name="adj" fmla="val 713"/>
              </a:avLst>
            </a:prstGeom>
            <a:solidFill>
              <a:srgbClr val="217CB6"/>
            </a:solidFill>
            <a:ln w="9525">
              <a:noFill/>
              <a:round/>
              <a:headEnd/>
              <a:tailEnd/>
            </a:ln>
          </p:spPr>
          <p:txBody>
            <a:bodyPr lIns="90000" tIns="46800" rIns="90000" bIns="46800" anchor="ctr"/>
            <a:lstStyle/>
            <a:p>
              <a:pPr algn="ctr">
                <a:lnSpc>
                  <a:spcPts val="2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400">
                  <a:solidFill>
                    <a:schemeClr val="tx1"/>
                  </a:solidFill>
                  <a:cs typeface="+mn-cs"/>
                </a:rPr>
                <a:t> </a:t>
              </a:r>
            </a:p>
          </p:txBody>
        </p:sp>
      </p:grpSp>
      <p:sp>
        <p:nvSpPr>
          <p:cNvPr id="2" name="Rectangle 10"/>
          <p:cNvSpPr>
            <a:spLocks noGrp="1" noChangeArrowheads="1"/>
          </p:cNvSpPr>
          <p:nvPr>
            <p:ph type="title"/>
          </p:nvPr>
        </p:nvSpPr>
        <p:spPr bwMode="auto">
          <a:xfrm>
            <a:off x="992188" y="273050"/>
            <a:ext cx="7589837" cy="98425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1031" name="Rectangle 11"/>
          <p:cNvSpPr>
            <a:spLocks noGrp="1" noChangeArrowheads="1"/>
          </p:cNvSpPr>
          <p:nvPr>
            <p:ph type="body" idx="1"/>
          </p:nvPr>
        </p:nvSpPr>
        <p:spPr bwMode="auto">
          <a:xfrm>
            <a:off x="992188" y="1592263"/>
            <a:ext cx="7874000" cy="43370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grpSp>
        <p:nvGrpSpPr>
          <p:cNvPr id="3" name="Group 17"/>
          <p:cNvGrpSpPr>
            <a:grpSpLocks/>
          </p:cNvGrpSpPr>
          <p:nvPr/>
        </p:nvGrpSpPr>
        <p:grpSpPr bwMode="auto">
          <a:xfrm>
            <a:off x="0" y="0"/>
            <a:ext cx="950913" cy="222250"/>
            <a:chOff x="0" y="0"/>
            <a:chExt cx="599" cy="140"/>
          </a:xfrm>
        </p:grpSpPr>
        <p:sp>
          <p:nvSpPr>
            <p:cNvPr id="1042" name="AutoShape 18"/>
            <p:cNvSpPr>
              <a:spLocks noChangeArrowheads="1"/>
            </p:cNvSpPr>
            <p:nvPr/>
          </p:nvSpPr>
          <p:spPr bwMode="auto">
            <a:xfrm>
              <a:off x="0" y="0"/>
              <a:ext cx="600" cy="141"/>
            </a:xfrm>
            <a:prstGeom prst="roundRect">
              <a:avLst>
                <a:gd name="adj" fmla="val 713"/>
              </a:avLst>
            </a:prstGeom>
            <a:solidFill>
              <a:srgbClr val="CCCCCD"/>
            </a:solidFill>
            <a:ln w="9525">
              <a:noFill/>
              <a:round/>
              <a:headEnd/>
              <a:tailEnd/>
            </a:ln>
          </p:spPr>
          <p:txBody>
            <a:bodyPr wrap="none" anchor="ctr"/>
            <a:lstStyle/>
            <a:p>
              <a:pPr eaLnBrk="0" hangingPunct="0">
                <a:defRPr/>
              </a:pPr>
              <a:endParaRPr lang="en-US">
                <a:cs typeface="+mn-cs"/>
              </a:endParaRPr>
            </a:p>
          </p:txBody>
        </p:sp>
        <p:sp>
          <p:nvSpPr>
            <p:cNvPr id="1043" name="AutoShape 19"/>
            <p:cNvSpPr>
              <a:spLocks noChangeArrowheads="1"/>
            </p:cNvSpPr>
            <p:nvPr/>
          </p:nvSpPr>
          <p:spPr bwMode="auto">
            <a:xfrm>
              <a:off x="0" y="0"/>
              <a:ext cx="600" cy="141"/>
            </a:xfrm>
            <a:prstGeom prst="roundRect">
              <a:avLst>
                <a:gd name="adj" fmla="val 713"/>
              </a:avLst>
            </a:prstGeom>
            <a:noFill/>
            <a:ln w="9525">
              <a:noFill/>
              <a:round/>
              <a:headEnd/>
              <a:tailEnd/>
            </a:ln>
          </p:spPr>
          <p:txBody>
            <a:bodyPr lIns="90000" tIns="46800" rIns="90000" bIns="46800" anchor="ctr"/>
            <a:lstStyle/>
            <a:p>
              <a:pPr algn="ctr">
                <a:lnSpc>
                  <a:spcPts val="2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400">
                  <a:solidFill>
                    <a:schemeClr val="tx1"/>
                  </a:solidFill>
                  <a:cs typeface="+mn-cs"/>
                </a:rPr>
                <a:t> </a:t>
              </a:r>
            </a:p>
          </p:txBody>
        </p:sp>
      </p:gr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transition/>
  <p:txStyles>
    <p:titleStyle>
      <a:lvl1pPr algn="l" defTabSz="457200" rtl="0" eaLnBrk="0" fontAlgn="base" hangingPunct="0">
        <a:spcBef>
          <a:spcPct val="0"/>
        </a:spcBef>
        <a:spcAft>
          <a:spcPct val="0"/>
        </a:spcAft>
        <a:buClr>
          <a:srgbClr val="E00000"/>
        </a:buClr>
        <a:buSzPct val="100000"/>
        <a:buFont typeface="Trebuchet MS" pitchFamily="34" charset="0"/>
        <a:defRPr sz="3200">
          <a:solidFill>
            <a:srgbClr val="E00000"/>
          </a:solidFill>
          <a:latin typeface="+mj-lt"/>
          <a:ea typeface="+mj-ea"/>
          <a:cs typeface="+mj-cs"/>
        </a:defRPr>
      </a:lvl1pPr>
      <a:lvl2pPr algn="l" defTabSz="457200" rtl="0" eaLnBrk="0" fontAlgn="base" hangingPunct="0">
        <a:spcBef>
          <a:spcPct val="0"/>
        </a:spcBef>
        <a:spcAft>
          <a:spcPct val="0"/>
        </a:spcAft>
        <a:buClr>
          <a:srgbClr val="E00000"/>
        </a:buClr>
        <a:buSzPct val="100000"/>
        <a:buFont typeface="Trebuchet MS" pitchFamily="34" charset="0"/>
        <a:defRPr sz="3200">
          <a:solidFill>
            <a:srgbClr val="E00000"/>
          </a:solidFill>
          <a:latin typeface="Arial" charset="0"/>
          <a:cs typeface="Lucida Sans Unicode" pitchFamily="34" charset="0"/>
        </a:defRPr>
      </a:lvl2pPr>
      <a:lvl3pPr algn="l" defTabSz="457200" rtl="0" eaLnBrk="0" fontAlgn="base" hangingPunct="0">
        <a:spcBef>
          <a:spcPct val="0"/>
        </a:spcBef>
        <a:spcAft>
          <a:spcPct val="0"/>
        </a:spcAft>
        <a:buClr>
          <a:srgbClr val="E00000"/>
        </a:buClr>
        <a:buSzPct val="100000"/>
        <a:buFont typeface="Trebuchet MS" pitchFamily="34" charset="0"/>
        <a:defRPr sz="3200">
          <a:solidFill>
            <a:srgbClr val="E00000"/>
          </a:solidFill>
          <a:latin typeface="Arial" charset="0"/>
          <a:cs typeface="Lucida Sans Unicode" pitchFamily="34" charset="0"/>
        </a:defRPr>
      </a:lvl3pPr>
      <a:lvl4pPr algn="l" defTabSz="457200" rtl="0" eaLnBrk="0" fontAlgn="base" hangingPunct="0">
        <a:spcBef>
          <a:spcPct val="0"/>
        </a:spcBef>
        <a:spcAft>
          <a:spcPct val="0"/>
        </a:spcAft>
        <a:buClr>
          <a:srgbClr val="E00000"/>
        </a:buClr>
        <a:buSzPct val="100000"/>
        <a:buFont typeface="Trebuchet MS" pitchFamily="34" charset="0"/>
        <a:defRPr sz="3200">
          <a:solidFill>
            <a:srgbClr val="E00000"/>
          </a:solidFill>
          <a:latin typeface="Arial" charset="0"/>
          <a:cs typeface="Lucida Sans Unicode" pitchFamily="34" charset="0"/>
        </a:defRPr>
      </a:lvl4pPr>
      <a:lvl5pPr algn="l" defTabSz="457200" rtl="0" eaLnBrk="0" fontAlgn="base" hangingPunct="0">
        <a:spcBef>
          <a:spcPct val="0"/>
        </a:spcBef>
        <a:spcAft>
          <a:spcPct val="0"/>
        </a:spcAft>
        <a:buClr>
          <a:srgbClr val="E00000"/>
        </a:buClr>
        <a:buSzPct val="100000"/>
        <a:buFont typeface="Trebuchet MS" pitchFamily="34" charset="0"/>
        <a:defRPr sz="3200">
          <a:solidFill>
            <a:srgbClr val="E00000"/>
          </a:solidFill>
          <a:latin typeface="Arial" charset="0"/>
          <a:cs typeface="Lucida Sans Unicode" pitchFamily="34" charset="0"/>
        </a:defRPr>
      </a:lvl5pPr>
      <a:lvl6pPr marL="1536700" indent="-215900" algn="l" defTabSz="457200" rtl="0" eaLnBrk="1" fontAlgn="base" hangingPunct="1">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6pPr>
      <a:lvl7pPr marL="1993900" indent="-215900" algn="l" defTabSz="457200" rtl="0" eaLnBrk="1" fontAlgn="base" hangingPunct="1">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7pPr>
      <a:lvl8pPr marL="2451100" indent="-215900" algn="l" defTabSz="457200" rtl="0" eaLnBrk="1" fontAlgn="base" hangingPunct="1">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8pPr>
      <a:lvl9pPr marL="2908300" indent="-215900" algn="l" defTabSz="457200" rtl="0" eaLnBrk="1" fontAlgn="base" hangingPunct="1">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9pPr>
    </p:titleStyle>
    <p:bodyStyle>
      <a:lvl1pPr marL="342900" indent="-342900" algn="l" defTabSz="457200" rtl="0" eaLnBrk="0" fontAlgn="base" hangingPunct="0">
        <a:lnSpc>
          <a:spcPct val="125000"/>
        </a:lnSpc>
        <a:spcBef>
          <a:spcPts val="688"/>
        </a:spcBef>
        <a:spcAft>
          <a:spcPct val="0"/>
        </a:spcAft>
        <a:buClr>
          <a:srgbClr val="217CB6"/>
        </a:buClr>
        <a:buFont typeface="Wingdings 3" pitchFamily="18" charset="2"/>
        <a:buChar char="}"/>
        <a:defRPr sz="2200">
          <a:solidFill>
            <a:srgbClr val="3C3C41"/>
          </a:solidFill>
          <a:latin typeface="+mn-lt"/>
          <a:ea typeface="+mn-ea"/>
          <a:cs typeface="+mn-cs"/>
        </a:defRPr>
      </a:lvl1pPr>
      <a:lvl2pPr marL="617538" indent="-160338" algn="l" defTabSz="457200" rtl="0" eaLnBrk="0" fontAlgn="base" hangingPunct="0">
        <a:lnSpc>
          <a:spcPct val="125000"/>
        </a:lnSpc>
        <a:spcBef>
          <a:spcPts val="625"/>
        </a:spcBef>
        <a:spcAft>
          <a:spcPct val="0"/>
        </a:spcAft>
        <a:buClr>
          <a:schemeClr val="tx1"/>
        </a:buClr>
        <a:buSzPct val="80000"/>
        <a:buFont typeface="Trebuchet MS" pitchFamily="34" charset="0"/>
        <a:buChar char="•"/>
        <a:defRPr sz="2000">
          <a:solidFill>
            <a:srgbClr val="217CB6"/>
          </a:solidFill>
          <a:latin typeface="+mn-lt"/>
          <a:cs typeface="+mn-cs"/>
        </a:defRPr>
      </a:lvl2pPr>
      <a:lvl3pPr marL="1074738" indent="-160338" algn="l" defTabSz="457200" rtl="0" eaLnBrk="0" fontAlgn="base" hangingPunct="0">
        <a:lnSpc>
          <a:spcPct val="125000"/>
        </a:lnSpc>
        <a:spcBef>
          <a:spcPts val="625"/>
        </a:spcBef>
        <a:spcAft>
          <a:spcPct val="0"/>
        </a:spcAft>
        <a:buClr>
          <a:srgbClr val="217CB6"/>
        </a:buClr>
        <a:buFont typeface="Trebuchet MS" pitchFamily="34" charset="0"/>
        <a:buChar char="–"/>
        <a:defRPr sz="2400">
          <a:solidFill>
            <a:srgbClr val="3C3C41"/>
          </a:solidFill>
          <a:latin typeface="+mn-lt"/>
          <a:cs typeface="+mn-cs"/>
        </a:defRPr>
      </a:lvl3pPr>
      <a:lvl4pPr marL="1531938" indent="-160338" algn="l" defTabSz="457200" rtl="0" eaLnBrk="0" fontAlgn="base" hangingPunct="0">
        <a:lnSpc>
          <a:spcPct val="125000"/>
        </a:lnSpc>
        <a:spcBef>
          <a:spcPts val="563"/>
        </a:spcBef>
        <a:spcAft>
          <a:spcPct val="0"/>
        </a:spcAft>
        <a:buClr>
          <a:schemeClr val="tx1"/>
        </a:buClr>
        <a:buFont typeface="Trebuchet MS" pitchFamily="34" charset="0"/>
        <a:buChar char="»"/>
        <a:defRPr sz="1600">
          <a:solidFill>
            <a:srgbClr val="217CB6"/>
          </a:solidFill>
          <a:latin typeface="+mn-lt"/>
          <a:cs typeface="+mn-cs"/>
        </a:defRPr>
      </a:lvl4pPr>
      <a:lvl5pPr marL="1989138" indent="-160338" algn="l" defTabSz="457200" rtl="0" eaLnBrk="0" fontAlgn="base" hangingPunct="0">
        <a:lnSpc>
          <a:spcPct val="125000"/>
        </a:lnSpc>
        <a:spcBef>
          <a:spcPts val="500"/>
        </a:spcBef>
        <a:spcAft>
          <a:spcPct val="0"/>
        </a:spcAft>
        <a:buClr>
          <a:srgbClr val="000000"/>
        </a:buClr>
        <a:buSzPct val="65000"/>
        <a:buFont typeface="Trebuchet MS" pitchFamily="34" charset="0"/>
        <a:buChar char="»"/>
        <a:defRPr sz="1600">
          <a:solidFill>
            <a:srgbClr val="3C3C41"/>
          </a:solidFill>
          <a:latin typeface="+mn-lt"/>
          <a:cs typeface="+mn-cs"/>
        </a:defRPr>
      </a:lvl5pPr>
      <a:lvl6pPr marL="2446338" indent="-160338" algn="l" defTabSz="457200" rtl="0" eaLnBrk="1" fontAlgn="base" hangingPunct="1">
        <a:lnSpc>
          <a:spcPct val="125000"/>
        </a:lnSpc>
        <a:spcBef>
          <a:spcPts val="500"/>
        </a:spcBef>
        <a:spcAft>
          <a:spcPct val="0"/>
        </a:spcAft>
        <a:buClr>
          <a:srgbClr val="000000"/>
        </a:buClr>
        <a:buSzPct val="65000"/>
        <a:buFont typeface="Trebuchet MS" pitchFamily="34" charset="0"/>
        <a:buChar char="»"/>
        <a:defRPr sz="1600">
          <a:solidFill>
            <a:srgbClr val="3C3C41"/>
          </a:solidFill>
          <a:latin typeface="+mn-lt"/>
          <a:cs typeface="+mn-cs"/>
        </a:defRPr>
      </a:lvl6pPr>
      <a:lvl7pPr marL="2903538" indent="-160338" algn="l" defTabSz="457200" rtl="0" eaLnBrk="1" fontAlgn="base" hangingPunct="1">
        <a:lnSpc>
          <a:spcPct val="125000"/>
        </a:lnSpc>
        <a:spcBef>
          <a:spcPts val="500"/>
        </a:spcBef>
        <a:spcAft>
          <a:spcPct val="0"/>
        </a:spcAft>
        <a:buClr>
          <a:srgbClr val="000000"/>
        </a:buClr>
        <a:buSzPct val="65000"/>
        <a:buFont typeface="Trebuchet MS" pitchFamily="34" charset="0"/>
        <a:buChar char="»"/>
        <a:defRPr sz="1600">
          <a:solidFill>
            <a:srgbClr val="3C3C41"/>
          </a:solidFill>
          <a:latin typeface="+mn-lt"/>
          <a:cs typeface="+mn-cs"/>
        </a:defRPr>
      </a:lvl7pPr>
      <a:lvl8pPr marL="3360738" indent="-160338" algn="l" defTabSz="457200" rtl="0" eaLnBrk="1" fontAlgn="base" hangingPunct="1">
        <a:lnSpc>
          <a:spcPct val="125000"/>
        </a:lnSpc>
        <a:spcBef>
          <a:spcPts val="500"/>
        </a:spcBef>
        <a:spcAft>
          <a:spcPct val="0"/>
        </a:spcAft>
        <a:buClr>
          <a:srgbClr val="000000"/>
        </a:buClr>
        <a:buSzPct val="65000"/>
        <a:buFont typeface="Trebuchet MS" pitchFamily="34" charset="0"/>
        <a:buChar char="»"/>
        <a:defRPr sz="1600">
          <a:solidFill>
            <a:srgbClr val="3C3C41"/>
          </a:solidFill>
          <a:latin typeface="+mn-lt"/>
          <a:cs typeface="+mn-cs"/>
        </a:defRPr>
      </a:lvl8pPr>
      <a:lvl9pPr marL="3817938" indent="-160338" algn="l" defTabSz="457200" rtl="0" eaLnBrk="1" fontAlgn="base" hangingPunct="1">
        <a:lnSpc>
          <a:spcPct val="125000"/>
        </a:lnSpc>
        <a:spcBef>
          <a:spcPts val="500"/>
        </a:spcBef>
        <a:spcAft>
          <a:spcPct val="0"/>
        </a:spcAft>
        <a:buClr>
          <a:srgbClr val="000000"/>
        </a:buClr>
        <a:buSzPct val="65000"/>
        <a:buFont typeface="Trebuchet MS" pitchFamily="34" charset="0"/>
        <a:buChar char="»"/>
        <a:defRPr sz="1600">
          <a:solidFill>
            <a:srgbClr val="3C3C4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4" name="Rectangle 26"/>
          <p:cNvSpPr>
            <a:spLocks noChangeArrowheads="1"/>
          </p:cNvSpPr>
          <p:nvPr/>
        </p:nvSpPr>
        <p:spPr bwMode="auto">
          <a:xfrm>
            <a:off x="133350" y="127000"/>
            <a:ext cx="8886825" cy="2711450"/>
          </a:xfrm>
          <a:prstGeom prst="rect">
            <a:avLst/>
          </a:prstGeom>
          <a:solidFill>
            <a:srgbClr val="217CB6"/>
          </a:solidFill>
          <a:ln w="9525">
            <a:noFill/>
            <a:miter lim="800000"/>
            <a:headEnd/>
            <a:tailEnd/>
          </a:ln>
          <a:effectLst/>
        </p:spPr>
        <p:txBody>
          <a:bodyPr wrap="none" anchor="ctr"/>
          <a:lstStyle/>
          <a:p>
            <a:pPr eaLnBrk="0" hangingPunct="0">
              <a:defRPr/>
            </a:pPr>
            <a:endParaRPr lang="en-US">
              <a:cs typeface="+mn-cs"/>
            </a:endParaRPr>
          </a:p>
        </p:txBody>
      </p:sp>
      <p:sp>
        <p:nvSpPr>
          <p:cNvPr id="2062" name="AutoShape 14"/>
          <p:cNvSpPr>
            <a:spLocks noChangeArrowheads="1"/>
          </p:cNvSpPr>
          <p:nvPr/>
        </p:nvSpPr>
        <p:spPr bwMode="auto">
          <a:xfrm>
            <a:off x="133350" y="2905125"/>
            <a:ext cx="3209925" cy="1568450"/>
          </a:xfrm>
          <a:prstGeom prst="roundRect">
            <a:avLst>
              <a:gd name="adj" fmla="val 56"/>
            </a:avLst>
          </a:prstGeom>
          <a:solidFill>
            <a:srgbClr val="CCCCCD"/>
          </a:solidFill>
          <a:ln w="9525">
            <a:noFill/>
            <a:round/>
            <a:headEnd/>
            <a:tailEnd/>
          </a:ln>
        </p:spPr>
        <p:txBody>
          <a:bodyPr wrap="none" anchor="ctr"/>
          <a:lstStyle/>
          <a:p>
            <a:pPr algn="ctr" eaLnBrk="0" hangingPunct="0">
              <a:defRPr/>
            </a:pPr>
            <a:endParaRPr lang="en-US" sz="2400">
              <a:cs typeface="+mn-cs"/>
            </a:endParaRPr>
          </a:p>
        </p:txBody>
      </p:sp>
      <p:sp>
        <p:nvSpPr>
          <p:cNvPr id="2052" name="Rectangle 5"/>
          <p:cNvSpPr>
            <a:spLocks noGrp="1" noChangeArrowheads="1"/>
          </p:cNvSpPr>
          <p:nvPr>
            <p:ph type="title"/>
          </p:nvPr>
        </p:nvSpPr>
        <p:spPr bwMode="auto">
          <a:xfrm>
            <a:off x="1066800" y="692150"/>
            <a:ext cx="7675563" cy="151765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053" name="Rectangle 6"/>
          <p:cNvSpPr>
            <a:spLocks noGrp="1" noChangeArrowheads="1"/>
          </p:cNvSpPr>
          <p:nvPr>
            <p:ph type="body" idx="1"/>
          </p:nvPr>
        </p:nvSpPr>
        <p:spPr bwMode="auto">
          <a:xfrm>
            <a:off x="204788" y="2973388"/>
            <a:ext cx="3049587" cy="13890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p:txBody>
      </p:sp>
      <p:pic>
        <p:nvPicPr>
          <p:cNvPr id="2054" name="Picture 8" descr="bg.jpg"/>
          <p:cNvPicPr>
            <a:picLocks noChangeAspect="1"/>
          </p:cNvPicPr>
          <p:nvPr/>
        </p:nvPicPr>
        <p:blipFill>
          <a:blip r:embed="rId13"/>
          <a:srcRect/>
          <a:stretch>
            <a:fillRect/>
          </a:stretch>
        </p:blipFill>
        <p:spPr bwMode="auto">
          <a:xfrm>
            <a:off x="3400425" y="2905125"/>
            <a:ext cx="5624513" cy="1584325"/>
          </a:xfrm>
          <a:prstGeom prst="rect">
            <a:avLst/>
          </a:prstGeom>
          <a:noFill/>
          <a:ln w="9525">
            <a:noFill/>
            <a:miter lim="800000"/>
            <a:headEnd/>
            <a:tailEnd/>
          </a:ln>
        </p:spPr>
      </p:pic>
      <p:sp>
        <p:nvSpPr>
          <p:cNvPr id="9" name="Rectangle 6"/>
          <p:cNvSpPr txBox="1">
            <a:spLocks noChangeArrowheads="1"/>
          </p:cNvSpPr>
          <p:nvPr userDrawn="1"/>
        </p:nvSpPr>
        <p:spPr bwMode="auto">
          <a:xfrm>
            <a:off x="3776663" y="3567113"/>
            <a:ext cx="3351212" cy="341312"/>
          </a:xfrm>
          <a:prstGeom prst="rect">
            <a:avLst/>
          </a:prstGeom>
          <a:noFill/>
          <a:ln w="9525">
            <a:noFill/>
            <a:miter lim="800000"/>
            <a:headEnd/>
            <a:tailEnd/>
          </a:ln>
        </p:spPr>
        <p:txBody>
          <a:bodyPr lIns="0" tIns="0" rIns="0" bIns="0"/>
          <a:lstStyle/>
          <a:p>
            <a:pPr marL="342900" indent="-342900" defTabSz="457200" eaLnBrk="0" hangingPunct="0">
              <a:lnSpc>
                <a:spcPct val="92000"/>
              </a:lnSpc>
              <a:spcBef>
                <a:spcPts val="688"/>
              </a:spcBef>
              <a:buClr>
                <a:srgbClr val="000000"/>
              </a:buClr>
              <a:buSzPct val="100000"/>
              <a:buFont typeface="Trebuchet MS" pitchFamily="34" charset="0"/>
              <a:buNone/>
              <a:defRPr/>
            </a:pPr>
            <a:r>
              <a:rPr lang="en-US" kern="0" dirty="0">
                <a:solidFill>
                  <a:srgbClr val="217CB6"/>
                </a:solidFill>
                <a:latin typeface="+mn-lt"/>
                <a:cs typeface="+mn-cs"/>
              </a:rPr>
              <a:t>Technical Courses</a:t>
            </a:r>
          </a:p>
        </p:txBody>
      </p:sp>
      <p:pic>
        <p:nvPicPr>
          <p:cNvPr id="2056" name="Picture 17" descr="Thesys Logo"/>
          <p:cNvPicPr>
            <a:picLocks noChangeAspect="1" noChangeArrowheads="1"/>
          </p:cNvPicPr>
          <p:nvPr userDrawn="1"/>
        </p:nvPicPr>
        <p:blipFill>
          <a:blip r:embed="rId14">
            <a:clrChange>
              <a:clrFrom>
                <a:srgbClr val="FFFFFF"/>
              </a:clrFrom>
              <a:clrTo>
                <a:srgbClr val="FFFFFF">
                  <a:alpha val="0"/>
                </a:srgbClr>
              </a:clrTo>
            </a:clrChange>
          </a:blip>
          <a:srcRect/>
          <a:stretch>
            <a:fillRect/>
          </a:stretch>
        </p:blipFill>
        <p:spPr bwMode="auto">
          <a:xfrm>
            <a:off x="6800850" y="5743575"/>
            <a:ext cx="1704975" cy="636588"/>
          </a:xfrm>
          <a:prstGeom prst="rect">
            <a:avLst/>
          </a:prstGeom>
          <a:noFill/>
          <a:ln w="9525">
            <a:noFill/>
            <a:miter lim="800000"/>
            <a:headEnd/>
            <a:tailEnd/>
          </a:ln>
        </p:spPr>
      </p:pic>
      <p:pic>
        <p:nvPicPr>
          <p:cNvPr id="2057" name="Picture 8" descr="Positive CP RGB.jpg"/>
          <p:cNvPicPr>
            <a:picLocks noChangeAspect="1"/>
          </p:cNvPicPr>
          <p:nvPr userDrawn="1"/>
        </p:nvPicPr>
        <p:blipFill>
          <a:blip r:embed="rId15"/>
          <a:srcRect/>
          <a:stretch>
            <a:fillRect/>
          </a:stretch>
        </p:blipFill>
        <p:spPr bwMode="auto">
          <a:xfrm>
            <a:off x="685800" y="5621338"/>
            <a:ext cx="1744663" cy="671512"/>
          </a:xfrm>
          <a:prstGeom prst="rect">
            <a:avLst/>
          </a:prstGeom>
          <a:noFill/>
          <a:ln w="9525">
            <a:noFill/>
            <a:miter lim="800000"/>
            <a:headEnd/>
            <a:tailEnd/>
          </a:ln>
        </p:spPr>
      </p:pic>
      <p:pic>
        <p:nvPicPr>
          <p:cNvPr id="2058" name="Picture 14" descr="logo_png.png"/>
          <p:cNvPicPr>
            <a:picLocks noChangeAspect="1"/>
          </p:cNvPicPr>
          <p:nvPr userDrawn="1"/>
        </p:nvPicPr>
        <p:blipFill>
          <a:blip r:embed="rId16"/>
          <a:srcRect/>
          <a:stretch>
            <a:fillRect/>
          </a:stretch>
        </p:blipFill>
        <p:spPr bwMode="auto">
          <a:xfrm>
            <a:off x="3819525" y="5651500"/>
            <a:ext cx="1550988" cy="67468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ransition/>
  <p:txStyles>
    <p:titleStyle>
      <a:lvl1pPr algn="l" defTabSz="457200" rtl="0" eaLnBrk="0" fontAlgn="base" hangingPunct="0">
        <a:lnSpc>
          <a:spcPct val="74000"/>
        </a:lnSpc>
        <a:spcBef>
          <a:spcPct val="0"/>
        </a:spcBef>
        <a:spcAft>
          <a:spcPct val="0"/>
        </a:spcAft>
        <a:buClr>
          <a:srgbClr val="E00000"/>
        </a:buClr>
        <a:buSzPct val="100000"/>
        <a:buFont typeface="Trebuchet MS" pitchFamily="34" charset="0"/>
        <a:defRPr sz="3200" b="1">
          <a:solidFill>
            <a:schemeClr val="tx1"/>
          </a:solidFill>
          <a:latin typeface="+mj-lt"/>
          <a:ea typeface="+mj-ea"/>
          <a:cs typeface="+mj-cs"/>
        </a:defRPr>
      </a:lvl1pPr>
      <a:lvl2pPr algn="l" defTabSz="457200" rtl="0" eaLnBrk="0" fontAlgn="base" hangingPunct="0">
        <a:lnSpc>
          <a:spcPct val="74000"/>
        </a:lnSpc>
        <a:spcBef>
          <a:spcPct val="0"/>
        </a:spcBef>
        <a:spcAft>
          <a:spcPct val="0"/>
        </a:spcAft>
        <a:buClr>
          <a:srgbClr val="E00000"/>
        </a:buClr>
        <a:buSzPct val="100000"/>
        <a:buFont typeface="Trebuchet MS" pitchFamily="34" charset="0"/>
        <a:defRPr sz="3200" b="1">
          <a:solidFill>
            <a:schemeClr val="tx1"/>
          </a:solidFill>
          <a:latin typeface="Arial" charset="0"/>
        </a:defRPr>
      </a:lvl2pPr>
      <a:lvl3pPr algn="l" defTabSz="457200" rtl="0" eaLnBrk="0" fontAlgn="base" hangingPunct="0">
        <a:lnSpc>
          <a:spcPct val="74000"/>
        </a:lnSpc>
        <a:spcBef>
          <a:spcPct val="0"/>
        </a:spcBef>
        <a:spcAft>
          <a:spcPct val="0"/>
        </a:spcAft>
        <a:buClr>
          <a:srgbClr val="E00000"/>
        </a:buClr>
        <a:buSzPct val="100000"/>
        <a:buFont typeface="Trebuchet MS" pitchFamily="34" charset="0"/>
        <a:defRPr sz="3200" b="1">
          <a:solidFill>
            <a:schemeClr val="tx1"/>
          </a:solidFill>
          <a:latin typeface="Arial" charset="0"/>
        </a:defRPr>
      </a:lvl3pPr>
      <a:lvl4pPr algn="l" defTabSz="457200" rtl="0" eaLnBrk="0" fontAlgn="base" hangingPunct="0">
        <a:lnSpc>
          <a:spcPct val="74000"/>
        </a:lnSpc>
        <a:spcBef>
          <a:spcPct val="0"/>
        </a:spcBef>
        <a:spcAft>
          <a:spcPct val="0"/>
        </a:spcAft>
        <a:buClr>
          <a:srgbClr val="E00000"/>
        </a:buClr>
        <a:buSzPct val="100000"/>
        <a:buFont typeface="Trebuchet MS" pitchFamily="34" charset="0"/>
        <a:defRPr sz="3200" b="1">
          <a:solidFill>
            <a:schemeClr val="tx1"/>
          </a:solidFill>
          <a:latin typeface="Arial" charset="0"/>
        </a:defRPr>
      </a:lvl4pPr>
      <a:lvl5pPr algn="l" defTabSz="457200" rtl="0" eaLnBrk="0" fontAlgn="base" hangingPunct="0">
        <a:lnSpc>
          <a:spcPct val="74000"/>
        </a:lnSpc>
        <a:spcBef>
          <a:spcPct val="0"/>
        </a:spcBef>
        <a:spcAft>
          <a:spcPct val="0"/>
        </a:spcAft>
        <a:buClr>
          <a:srgbClr val="E00000"/>
        </a:buClr>
        <a:buSzPct val="100000"/>
        <a:buFont typeface="Trebuchet MS" pitchFamily="34" charset="0"/>
        <a:defRPr sz="3200" b="1">
          <a:solidFill>
            <a:schemeClr val="tx1"/>
          </a:solidFill>
          <a:latin typeface="Arial" charset="0"/>
        </a:defRPr>
      </a:lvl5pPr>
      <a:lvl6pPr marL="15367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defRPr>
      </a:lvl6pPr>
      <a:lvl7pPr marL="19939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defRPr>
      </a:lvl7pPr>
      <a:lvl8pPr marL="24511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defRPr>
      </a:lvl8pPr>
      <a:lvl9pPr marL="29083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defRPr>
      </a:lvl9pPr>
    </p:titleStyle>
    <p:bodyStyle>
      <a:lvl1pPr marL="342900" indent="-342900" algn="l" defTabSz="457200" rtl="0" eaLnBrk="0" fontAlgn="base" hangingPunct="0">
        <a:lnSpc>
          <a:spcPct val="92000"/>
        </a:lnSpc>
        <a:spcBef>
          <a:spcPts val="688"/>
        </a:spcBef>
        <a:spcAft>
          <a:spcPct val="0"/>
        </a:spcAft>
        <a:buClr>
          <a:srgbClr val="000000"/>
        </a:buClr>
        <a:buSzPct val="100000"/>
        <a:buFont typeface="Trebuchet MS" pitchFamily="34" charset="0"/>
        <a:buChar char="•"/>
        <a:defRPr sz="2000">
          <a:solidFill>
            <a:srgbClr val="FFFFFF"/>
          </a:solidFill>
          <a:latin typeface="+mn-lt"/>
          <a:ea typeface="+mn-ea"/>
          <a:cs typeface="+mn-cs"/>
        </a:defRPr>
      </a:lvl1pPr>
      <a:lvl2pPr marL="617538" indent="-160338" algn="l" defTabSz="457200" rtl="0" eaLnBrk="0" fontAlgn="base" hangingPunct="0">
        <a:lnSpc>
          <a:spcPct val="92000"/>
        </a:lnSpc>
        <a:spcBef>
          <a:spcPts val="625"/>
        </a:spcBef>
        <a:spcAft>
          <a:spcPct val="0"/>
        </a:spcAft>
        <a:buClr>
          <a:srgbClr val="000000"/>
        </a:buClr>
        <a:buSzPct val="65000"/>
        <a:buFont typeface="Trebuchet MS" pitchFamily="34" charset="0"/>
        <a:buChar char="–"/>
        <a:defRPr sz="2800">
          <a:solidFill>
            <a:srgbClr val="FFFFFF"/>
          </a:solidFill>
          <a:latin typeface="+mn-lt"/>
        </a:defRPr>
      </a:lvl2pPr>
      <a:lvl3pPr marL="1074738" indent="-160338" algn="l" defTabSz="457200" rtl="0" eaLnBrk="0" fontAlgn="base" hangingPunct="0">
        <a:lnSpc>
          <a:spcPct val="92000"/>
        </a:lnSpc>
        <a:spcBef>
          <a:spcPts val="625"/>
        </a:spcBef>
        <a:spcAft>
          <a:spcPct val="0"/>
        </a:spcAft>
        <a:buClr>
          <a:srgbClr val="000000"/>
        </a:buClr>
        <a:buSzPct val="65000"/>
        <a:buFont typeface="Trebuchet MS" pitchFamily="34" charset="0"/>
        <a:buChar char="•"/>
        <a:defRPr sz="2000">
          <a:solidFill>
            <a:srgbClr val="FFFFFF"/>
          </a:solidFill>
          <a:latin typeface="Trebuchet MS" pitchFamily="34" charset="0"/>
        </a:defRPr>
      </a:lvl3pPr>
      <a:lvl4pPr marL="1531938" indent="-160338" algn="l" defTabSz="457200" rtl="0" eaLnBrk="0" fontAlgn="base" hangingPunct="0">
        <a:lnSpc>
          <a:spcPct val="92000"/>
        </a:lnSpc>
        <a:spcBef>
          <a:spcPts val="563"/>
        </a:spcBef>
        <a:spcAft>
          <a:spcPct val="0"/>
        </a:spcAft>
        <a:buClr>
          <a:srgbClr val="000000"/>
        </a:buClr>
        <a:buSzPct val="65000"/>
        <a:buFont typeface="Trebuchet MS" pitchFamily="34" charset="0"/>
        <a:buChar char="–"/>
        <a:defRPr sz="2000">
          <a:solidFill>
            <a:srgbClr val="FFFFFF"/>
          </a:solidFill>
          <a:latin typeface="Trebuchet MS" pitchFamily="34" charset="0"/>
        </a:defRPr>
      </a:lvl4pPr>
      <a:lvl5pPr marL="1989138" indent="-160338" algn="l" defTabSz="457200" rtl="0" eaLnBrk="0" fontAlgn="base" hangingPunct="0">
        <a:lnSpc>
          <a:spcPct val="92000"/>
        </a:lnSpc>
        <a:spcBef>
          <a:spcPts val="500"/>
        </a:spcBef>
        <a:spcAft>
          <a:spcPct val="0"/>
        </a:spcAft>
        <a:buClr>
          <a:srgbClr val="000000"/>
        </a:buClr>
        <a:buSzPct val="65000"/>
        <a:buFont typeface="Trebuchet MS" pitchFamily="34" charset="0"/>
        <a:buChar char="»"/>
        <a:defRPr sz="1600">
          <a:solidFill>
            <a:srgbClr val="FFFFFF"/>
          </a:solidFill>
          <a:latin typeface="Trebuchet MS" pitchFamily="34" charset="0"/>
        </a:defRPr>
      </a:lvl5pPr>
      <a:lvl6pPr marL="2446338" indent="-160338" algn="l" defTabSz="457200" rtl="0" fontAlgn="base">
        <a:lnSpc>
          <a:spcPct val="92000"/>
        </a:lnSpc>
        <a:spcBef>
          <a:spcPts val="500"/>
        </a:spcBef>
        <a:spcAft>
          <a:spcPct val="0"/>
        </a:spcAft>
        <a:buClr>
          <a:srgbClr val="000000"/>
        </a:buClr>
        <a:buSzPct val="65000"/>
        <a:buFont typeface="Trebuchet MS" pitchFamily="34" charset="0"/>
        <a:defRPr sz="1600">
          <a:solidFill>
            <a:srgbClr val="FFFFFF"/>
          </a:solidFill>
          <a:latin typeface="Trebuchet MS" pitchFamily="34" charset="0"/>
        </a:defRPr>
      </a:lvl6pPr>
      <a:lvl7pPr marL="2903538" indent="-160338" algn="l" defTabSz="457200" rtl="0" fontAlgn="base">
        <a:lnSpc>
          <a:spcPct val="92000"/>
        </a:lnSpc>
        <a:spcBef>
          <a:spcPts val="500"/>
        </a:spcBef>
        <a:spcAft>
          <a:spcPct val="0"/>
        </a:spcAft>
        <a:buClr>
          <a:srgbClr val="000000"/>
        </a:buClr>
        <a:buSzPct val="65000"/>
        <a:buFont typeface="Trebuchet MS" pitchFamily="34" charset="0"/>
        <a:defRPr sz="1600">
          <a:solidFill>
            <a:srgbClr val="FFFFFF"/>
          </a:solidFill>
          <a:latin typeface="Trebuchet MS" pitchFamily="34" charset="0"/>
        </a:defRPr>
      </a:lvl7pPr>
      <a:lvl8pPr marL="3360738" indent="-160338" algn="l" defTabSz="457200" rtl="0" fontAlgn="base">
        <a:lnSpc>
          <a:spcPct val="92000"/>
        </a:lnSpc>
        <a:spcBef>
          <a:spcPts val="500"/>
        </a:spcBef>
        <a:spcAft>
          <a:spcPct val="0"/>
        </a:spcAft>
        <a:buClr>
          <a:srgbClr val="000000"/>
        </a:buClr>
        <a:buSzPct val="65000"/>
        <a:buFont typeface="Trebuchet MS" pitchFamily="34" charset="0"/>
        <a:defRPr sz="1600">
          <a:solidFill>
            <a:srgbClr val="FFFFFF"/>
          </a:solidFill>
          <a:latin typeface="Trebuchet MS" pitchFamily="34" charset="0"/>
        </a:defRPr>
      </a:lvl8pPr>
      <a:lvl9pPr marL="3817938" indent="-160338" algn="l" defTabSz="457200" rtl="0" fontAlgn="base">
        <a:lnSpc>
          <a:spcPct val="92000"/>
        </a:lnSpc>
        <a:spcBef>
          <a:spcPts val="500"/>
        </a:spcBef>
        <a:spcAft>
          <a:spcPct val="0"/>
        </a:spcAft>
        <a:buClr>
          <a:srgbClr val="000000"/>
        </a:buClr>
        <a:buSzPct val="65000"/>
        <a:buFont typeface="Trebuchet MS" pitchFamily="34" charset="0"/>
        <a:defRPr sz="1600">
          <a:solidFill>
            <a:srgbClr val="FFFFFF"/>
          </a:solidFill>
          <a:latin typeface="Trebuchet MS"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AutoShape 1"/>
          <p:cNvSpPr>
            <a:spLocks noChangeArrowheads="1"/>
          </p:cNvSpPr>
          <p:nvPr/>
        </p:nvSpPr>
        <p:spPr bwMode="auto">
          <a:xfrm>
            <a:off x="161925" y="131763"/>
            <a:ext cx="8840788" cy="6567487"/>
          </a:xfrm>
          <a:prstGeom prst="roundRect">
            <a:avLst>
              <a:gd name="adj" fmla="val 23"/>
            </a:avLst>
          </a:prstGeom>
          <a:solidFill>
            <a:srgbClr val="217CB6"/>
          </a:solidFill>
          <a:ln w="9525">
            <a:noFill/>
            <a:round/>
            <a:headEnd/>
            <a:tailEnd/>
          </a:ln>
        </p:spPr>
        <p:txBody>
          <a:bodyPr wrap="none" anchor="ctr"/>
          <a:lstStyle/>
          <a:p>
            <a:pPr eaLnBrk="0" hangingPunct="0">
              <a:defRPr/>
            </a:pPr>
            <a:endParaRPr lang="en-US">
              <a:cs typeface="+mn-cs"/>
            </a:endParaRPr>
          </a:p>
        </p:txBody>
      </p:sp>
      <p:sp>
        <p:nvSpPr>
          <p:cNvPr id="3075" name="Rectangle 2"/>
          <p:cNvSpPr>
            <a:spLocks noGrp="1" noChangeArrowheads="1"/>
          </p:cNvSpPr>
          <p:nvPr>
            <p:ph type="title"/>
          </p:nvPr>
        </p:nvSpPr>
        <p:spPr bwMode="auto">
          <a:xfrm>
            <a:off x="330200" y="2749550"/>
            <a:ext cx="8228013" cy="114141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3076" name="Rectangle 3"/>
          <p:cNvSpPr>
            <a:spLocks noGrp="1" noChangeArrowheads="1"/>
          </p:cNvSpPr>
          <p:nvPr>
            <p:ph type="body" idx="1"/>
          </p:nvPr>
        </p:nvSpPr>
        <p:spPr bwMode="auto">
          <a:xfrm>
            <a:off x="2836863" y="4621213"/>
            <a:ext cx="5716587" cy="21701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ransition/>
  <p:txStyles>
    <p:titleStyle>
      <a:lvl1pPr algn="r" defTabSz="457200" rtl="0" eaLnBrk="0" fontAlgn="base" hangingPunct="0">
        <a:lnSpc>
          <a:spcPct val="103000"/>
        </a:lnSpc>
        <a:spcBef>
          <a:spcPct val="0"/>
        </a:spcBef>
        <a:spcAft>
          <a:spcPct val="0"/>
        </a:spcAft>
        <a:buClr>
          <a:srgbClr val="FFFFFF"/>
        </a:buClr>
        <a:buSzPct val="100000"/>
        <a:buFont typeface="Arial" charset="0"/>
        <a:defRPr sz="3200">
          <a:solidFill>
            <a:schemeClr val="tx1"/>
          </a:solidFill>
          <a:latin typeface="+mj-lt"/>
          <a:ea typeface="+mj-ea"/>
          <a:cs typeface="+mj-cs"/>
        </a:defRPr>
      </a:lvl1pPr>
      <a:lvl2pPr algn="r" defTabSz="457200" rtl="0" eaLnBrk="0" fontAlgn="base" hangingPunct="0">
        <a:lnSpc>
          <a:spcPct val="103000"/>
        </a:lnSpc>
        <a:spcBef>
          <a:spcPct val="0"/>
        </a:spcBef>
        <a:spcAft>
          <a:spcPct val="0"/>
        </a:spcAft>
        <a:buClr>
          <a:srgbClr val="FFFFFF"/>
        </a:buClr>
        <a:buSzPct val="100000"/>
        <a:buFont typeface="Arial" charset="0"/>
        <a:defRPr sz="3200">
          <a:solidFill>
            <a:schemeClr val="tx1"/>
          </a:solidFill>
          <a:latin typeface="Arial" charset="0"/>
          <a:cs typeface="Lucida Sans Unicode" pitchFamily="34" charset="0"/>
        </a:defRPr>
      </a:lvl2pPr>
      <a:lvl3pPr algn="r" defTabSz="457200" rtl="0" eaLnBrk="0" fontAlgn="base" hangingPunct="0">
        <a:lnSpc>
          <a:spcPct val="103000"/>
        </a:lnSpc>
        <a:spcBef>
          <a:spcPct val="0"/>
        </a:spcBef>
        <a:spcAft>
          <a:spcPct val="0"/>
        </a:spcAft>
        <a:buClr>
          <a:srgbClr val="FFFFFF"/>
        </a:buClr>
        <a:buSzPct val="100000"/>
        <a:buFont typeface="Arial" charset="0"/>
        <a:defRPr sz="3200">
          <a:solidFill>
            <a:schemeClr val="tx1"/>
          </a:solidFill>
          <a:latin typeface="Arial" charset="0"/>
          <a:cs typeface="Lucida Sans Unicode" pitchFamily="34" charset="0"/>
        </a:defRPr>
      </a:lvl3pPr>
      <a:lvl4pPr algn="r" defTabSz="457200" rtl="0" eaLnBrk="0" fontAlgn="base" hangingPunct="0">
        <a:lnSpc>
          <a:spcPct val="103000"/>
        </a:lnSpc>
        <a:spcBef>
          <a:spcPct val="0"/>
        </a:spcBef>
        <a:spcAft>
          <a:spcPct val="0"/>
        </a:spcAft>
        <a:buClr>
          <a:srgbClr val="FFFFFF"/>
        </a:buClr>
        <a:buSzPct val="100000"/>
        <a:buFont typeface="Arial" charset="0"/>
        <a:defRPr sz="3200">
          <a:solidFill>
            <a:schemeClr val="tx1"/>
          </a:solidFill>
          <a:latin typeface="Arial" charset="0"/>
          <a:cs typeface="Lucida Sans Unicode" pitchFamily="34" charset="0"/>
        </a:defRPr>
      </a:lvl4pPr>
      <a:lvl5pPr algn="r" defTabSz="457200" rtl="0" eaLnBrk="0" fontAlgn="base" hangingPunct="0">
        <a:lnSpc>
          <a:spcPct val="103000"/>
        </a:lnSpc>
        <a:spcBef>
          <a:spcPct val="0"/>
        </a:spcBef>
        <a:spcAft>
          <a:spcPct val="0"/>
        </a:spcAft>
        <a:buClr>
          <a:srgbClr val="FFFFFF"/>
        </a:buClr>
        <a:buSzPct val="100000"/>
        <a:buFont typeface="Arial" charset="0"/>
        <a:defRPr sz="3200">
          <a:solidFill>
            <a:schemeClr val="tx1"/>
          </a:solidFill>
          <a:latin typeface="Arial" charset="0"/>
          <a:cs typeface="Lucida Sans Unicode" pitchFamily="34" charset="0"/>
        </a:defRPr>
      </a:lvl5pPr>
      <a:lvl6pPr marL="15367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6pPr>
      <a:lvl7pPr marL="19939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7pPr>
      <a:lvl8pPr marL="24511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8pPr>
      <a:lvl9pPr marL="29083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9pPr>
    </p:titleStyle>
    <p:bodyStyle>
      <a:lvl1pPr marL="338138" indent="-319088" algn="r" defTabSz="457200" rtl="0" eaLnBrk="0" fontAlgn="base" hangingPunct="0">
        <a:spcBef>
          <a:spcPts val="1863"/>
        </a:spcBef>
        <a:spcAft>
          <a:spcPct val="0"/>
        </a:spcAft>
        <a:buClr>
          <a:srgbClr val="000000"/>
        </a:buClr>
        <a:buSzPct val="45000"/>
        <a:buFont typeface="Arial" charset="0"/>
        <a:buChar char="•"/>
        <a:defRPr sz="2800">
          <a:solidFill>
            <a:schemeClr val="tx1"/>
          </a:solidFill>
          <a:latin typeface="+mn-lt"/>
          <a:ea typeface="+mn-ea"/>
          <a:cs typeface="+mn-cs"/>
        </a:defRPr>
      </a:lvl1pPr>
      <a:lvl2pPr marL="741363" indent="-284163" algn="r" defTabSz="457200" rtl="0" eaLnBrk="0" fontAlgn="base" hangingPunct="0">
        <a:spcBef>
          <a:spcPts val="700"/>
        </a:spcBef>
        <a:spcAft>
          <a:spcPct val="0"/>
        </a:spcAft>
        <a:buClr>
          <a:srgbClr val="000000"/>
        </a:buClr>
        <a:buSzPct val="45000"/>
        <a:buFont typeface="Arial" charset="0"/>
        <a:buChar char="–"/>
        <a:defRPr sz="2000">
          <a:solidFill>
            <a:schemeClr val="tx1"/>
          </a:solidFill>
          <a:latin typeface="+mn-lt"/>
          <a:cs typeface="+mn-cs"/>
        </a:defRPr>
      </a:lvl2pPr>
      <a:lvl3pPr marL="1143000" indent="-228600" algn="r" defTabSz="457200" rtl="0" eaLnBrk="0" fontAlgn="base" hangingPunct="0">
        <a:spcBef>
          <a:spcPts val="600"/>
        </a:spcBef>
        <a:spcAft>
          <a:spcPct val="0"/>
        </a:spcAft>
        <a:buClr>
          <a:srgbClr val="000000"/>
        </a:buClr>
        <a:buSzPct val="45000"/>
        <a:buFont typeface="Arial" charset="0"/>
        <a:buChar char="•"/>
        <a:defRPr sz="1600">
          <a:solidFill>
            <a:schemeClr val="tx1"/>
          </a:solidFill>
          <a:latin typeface="+mn-lt"/>
          <a:cs typeface="+mn-cs"/>
        </a:defRPr>
      </a:lvl3pPr>
      <a:lvl4pPr marL="1600200" indent="-228600" algn="r" defTabSz="457200" rtl="0" eaLnBrk="0" fontAlgn="base" hangingPunct="0">
        <a:spcBef>
          <a:spcPts val="500"/>
        </a:spcBef>
        <a:spcAft>
          <a:spcPct val="0"/>
        </a:spcAft>
        <a:buClr>
          <a:srgbClr val="000000"/>
        </a:buClr>
        <a:buSzPct val="45000"/>
        <a:buFont typeface="Arial" charset="0"/>
        <a:buChar char="–"/>
        <a:defRPr sz="1400">
          <a:solidFill>
            <a:schemeClr val="tx1"/>
          </a:solidFill>
          <a:latin typeface="+mn-lt"/>
          <a:cs typeface="+mn-cs"/>
        </a:defRPr>
      </a:lvl4pPr>
      <a:lvl5pPr marL="2057400" indent="-228600" algn="r" defTabSz="457200" rtl="0" eaLnBrk="0" fontAlgn="base" hangingPunct="0">
        <a:spcBef>
          <a:spcPts val="500"/>
        </a:spcBef>
        <a:spcAft>
          <a:spcPct val="0"/>
        </a:spcAft>
        <a:buClr>
          <a:srgbClr val="000000"/>
        </a:buClr>
        <a:buSzPct val="45000"/>
        <a:buFont typeface="Arial" charset="0"/>
        <a:buChar char="»"/>
        <a:defRPr sz="1200">
          <a:solidFill>
            <a:schemeClr val="tx1"/>
          </a:solidFill>
          <a:latin typeface="+mn-lt"/>
          <a:cs typeface="+mn-cs"/>
        </a:defRPr>
      </a:lvl5pPr>
      <a:lvl6pPr marL="2514600" indent="-228600" algn="r" defTabSz="457200" rtl="0" fontAlgn="base">
        <a:spcBef>
          <a:spcPts val="500"/>
        </a:spcBef>
        <a:spcAft>
          <a:spcPct val="0"/>
        </a:spcAft>
        <a:buClr>
          <a:srgbClr val="000000"/>
        </a:buClr>
        <a:buSzPct val="45000"/>
        <a:buFont typeface="Arial" charset="0"/>
        <a:defRPr sz="1200">
          <a:solidFill>
            <a:schemeClr val="tx1"/>
          </a:solidFill>
          <a:latin typeface="+mn-lt"/>
          <a:cs typeface="+mn-cs"/>
        </a:defRPr>
      </a:lvl6pPr>
      <a:lvl7pPr marL="2971800" indent="-228600" algn="r" defTabSz="457200" rtl="0" fontAlgn="base">
        <a:spcBef>
          <a:spcPts val="500"/>
        </a:spcBef>
        <a:spcAft>
          <a:spcPct val="0"/>
        </a:spcAft>
        <a:buClr>
          <a:srgbClr val="000000"/>
        </a:buClr>
        <a:buSzPct val="45000"/>
        <a:buFont typeface="Arial" charset="0"/>
        <a:defRPr sz="1200">
          <a:solidFill>
            <a:schemeClr val="tx1"/>
          </a:solidFill>
          <a:latin typeface="+mn-lt"/>
          <a:cs typeface="+mn-cs"/>
        </a:defRPr>
      </a:lvl7pPr>
      <a:lvl8pPr marL="3429000" indent="-228600" algn="r" defTabSz="457200" rtl="0" fontAlgn="base">
        <a:spcBef>
          <a:spcPts val="500"/>
        </a:spcBef>
        <a:spcAft>
          <a:spcPct val="0"/>
        </a:spcAft>
        <a:buClr>
          <a:srgbClr val="000000"/>
        </a:buClr>
        <a:buSzPct val="45000"/>
        <a:buFont typeface="Arial" charset="0"/>
        <a:defRPr sz="1200">
          <a:solidFill>
            <a:schemeClr val="tx1"/>
          </a:solidFill>
          <a:latin typeface="+mn-lt"/>
          <a:cs typeface="+mn-cs"/>
        </a:defRPr>
      </a:lvl8pPr>
      <a:lvl9pPr marL="3886200" indent="-228600" algn="r" defTabSz="457200" rtl="0" fontAlgn="base">
        <a:spcBef>
          <a:spcPts val="500"/>
        </a:spcBef>
        <a:spcAft>
          <a:spcPct val="0"/>
        </a:spcAft>
        <a:buClr>
          <a:srgbClr val="000000"/>
        </a:buClr>
        <a:buSzPct val="45000"/>
        <a:buFont typeface="Arial" charset="0"/>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AutoShape 2"/>
          <p:cNvSpPr>
            <a:spLocks noChangeArrowheads="1"/>
          </p:cNvSpPr>
          <p:nvPr/>
        </p:nvSpPr>
        <p:spPr bwMode="auto">
          <a:xfrm>
            <a:off x="147638" y="4322763"/>
            <a:ext cx="7080250" cy="153987"/>
          </a:xfrm>
          <a:prstGeom prst="roundRect">
            <a:avLst>
              <a:gd name="adj" fmla="val 1042"/>
            </a:avLst>
          </a:prstGeom>
          <a:solidFill>
            <a:srgbClr val="5A5A64"/>
          </a:solidFill>
          <a:ln w="9525">
            <a:noFill/>
            <a:round/>
            <a:headEnd/>
            <a:tailEnd/>
          </a:ln>
        </p:spPr>
        <p:txBody>
          <a:bodyPr wrap="none" anchor="ctr"/>
          <a:lstStyle/>
          <a:p>
            <a:pPr eaLnBrk="0" hangingPunct="0">
              <a:defRPr/>
            </a:pPr>
            <a:endParaRPr lang="en-US">
              <a:cs typeface="+mn-cs"/>
            </a:endParaRPr>
          </a:p>
        </p:txBody>
      </p:sp>
      <p:sp>
        <p:nvSpPr>
          <p:cNvPr id="8195" name="AutoShape 3"/>
          <p:cNvSpPr>
            <a:spLocks noChangeArrowheads="1"/>
          </p:cNvSpPr>
          <p:nvPr/>
        </p:nvSpPr>
        <p:spPr bwMode="auto">
          <a:xfrm>
            <a:off x="146050" y="131763"/>
            <a:ext cx="8850313" cy="4202112"/>
          </a:xfrm>
          <a:prstGeom prst="roundRect">
            <a:avLst>
              <a:gd name="adj" fmla="val 37"/>
            </a:avLst>
          </a:prstGeom>
          <a:solidFill>
            <a:srgbClr val="217CB6"/>
          </a:solidFill>
          <a:ln w="9525">
            <a:noFill/>
            <a:round/>
            <a:headEnd/>
            <a:tailEnd/>
          </a:ln>
        </p:spPr>
        <p:txBody>
          <a:bodyPr wrap="none" anchor="ctr"/>
          <a:lstStyle/>
          <a:p>
            <a:pPr eaLnBrk="0" hangingPunct="0">
              <a:defRPr/>
            </a:pPr>
            <a:endParaRPr lang="en-US">
              <a:cs typeface="+mn-cs"/>
            </a:endParaRPr>
          </a:p>
        </p:txBody>
      </p:sp>
      <p:sp>
        <p:nvSpPr>
          <p:cNvPr id="4100" name="Rectangle 4"/>
          <p:cNvSpPr>
            <a:spLocks noGrp="1" noChangeArrowheads="1"/>
          </p:cNvSpPr>
          <p:nvPr>
            <p:ph type="title"/>
          </p:nvPr>
        </p:nvSpPr>
        <p:spPr bwMode="auto">
          <a:xfrm>
            <a:off x="133350" y="4610100"/>
            <a:ext cx="1333500" cy="174625"/>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4101" name="Rectangle 5"/>
          <p:cNvSpPr>
            <a:spLocks noGrp="1" noChangeArrowheads="1"/>
          </p:cNvSpPr>
          <p:nvPr>
            <p:ph type="body" idx="1"/>
          </p:nvPr>
        </p:nvSpPr>
        <p:spPr bwMode="auto">
          <a:xfrm>
            <a:off x="112713" y="5167313"/>
            <a:ext cx="2668587" cy="15684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4102" name="Picture 7" descr="Thesys Logo"/>
          <p:cNvPicPr>
            <a:picLocks noChangeAspect="1" noChangeArrowheads="1"/>
          </p:cNvPicPr>
          <p:nvPr/>
        </p:nvPicPr>
        <p:blipFill>
          <a:blip r:embed="rId13">
            <a:clrChange>
              <a:clrFrom>
                <a:srgbClr val="FFFFFF"/>
              </a:clrFrom>
              <a:clrTo>
                <a:srgbClr val="FFFFFF">
                  <a:alpha val="0"/>
                </a:srgbClr>
              </a:clrTo>
            </a:clrChange>
          </a:blip>
          <a:srcRect/>
          <a:stretch>
            <a:fillRect/>
          </a:stretch>
        </p:blipFill>
        <p:spPr bwMode="auto">
          <a:xfrm>
            <a:off x="7696200" y="6202363"/>
            <a:ext cx="1390650" cy="5191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ransition/>
  <p:txStyles>
    <p:titleStyle>
      <a:lvl1pPr algn="ctr" defTabSz="457200" rtl="0" eaLnBrk="0" fontAlgn="base" hangingPunct="0">
        <a:spcBef>
          <a:spcPct val="0"/>
        </a:spcBef>
        <a:spcAft>
          <a:spcPct val="0"/>
        </a:spcAft>
        <a:buClr>
          <a:srgbClr val="000000"/>
        </a:buClr>
        <a:buSzPct val="100000"/>
        <a:buFont typeface="Arial" charset="0"/>
        <a:defRPr sz="600">
          <a:solidFill>
            <a:srgbClr val="FFFFFF"/>
          </a:solidFill>
          <a:latin typeface="+mj-lt"/>
          <a:ea typeface="+mj-ea"/>
          <a:cs typeface="+mj-cs"/>
        </a:defRPr>
      </a:lvl1pPr>
      <a:lvl2pPr algn="ctr" defTabSz="457200" rtl="0" eaLnBrk="0" fontAlgn="base" hangingPunct="0">
        <a:spcBef>
          <a:spcPct val="0"/>
        </a:spcBef>
        <a:spcAft>
          <a:spcPct val="0"/>
        </a:spcAft>
        <a:buClr>
          <a:srgbClr val="000000"/>
        </a:buClr>
        <a:buSzPct val="100000"/>
        <a:buFont typeface="Arial" charset="0"/>
        <a:defRPr sz="600">
          <a:solidFill>
            <a:srgbClr val="FFFFFF"/>
          </a:solidFill>
          <a:latin typeface="Arial" charset="0"/>
          <a:cs typeface="Lucida Sans Unicode" pitchFamily="34" charset="0"/>
        </a:defRPr>
      </a:lvl2pPr>
      <a:lvl3pPr algn="ctr" defTabSz="457200" rtl="0" eaLnBrk="0" fontAlgn="base" hangingPunct="0">
        <a:spcBef>
          <a:spcPct val="0"/>
        </a:spcBef>
        <a:spcAft>
          <a:spcPct val="0"/>
        </a:spcAft>
        <a:buClr>
          <a:srgbClr val="000000"/>
        </a:buClr>
        <a:buSzPct val="100000"/>
        <a:buFont typeface="Arial" charset="0"/>
        <a:defRPr sz="600">
          <a:solidFill>
            <a:srgbClr val="FFFFFF"/>
          </a:solidFill>
          <a:latin typeface="Arial" charset="0"/>
          <a:cs typeface="Lucida Sans Unicode" pitchFamily="34" charset="0"/>
        </a:defRPr>
      </a:lvl3pPr>
      <a:lvl4pPr algn="ctr" defTabSz="457200" rtl="0" eaLnBrk="0" fontAlgn="base" hangingPunct="0">
        <a:spcBef>
          <a:spcPct val="0"/>
        </a:spcBef>
        <a:spcAft>
          <a:spcPct val="0"/>
        </a:spcAft>
        <a:buClr>
          <a:srgbClr val="000000"/>
        </a:buClr>
        <a:buSzPct val="100000"/>
        <a:buFont typeface="Arial" charset="0"/>
        <a:defRPr sz="600">
          <a:solidFill>
            <a:srgbClr val="FFFFFF"/>
          </a:solidFill>
          <a:latin typeface="Arial" charset="0"/>
          <a:cs typeface="Lucida Sans Unicode" pitchFamily="34" charset="0"/>
        </a:defRPr>
      </a:lvl4pPr>
      <a:lvl5pPr algn="ctr" defTabSz="457200" rtl="0" eaLnBrk="0" fontAlgn="base" hangingPunct="0">
        <a:spcBef>
          <a:spcPct val="0"/>
        </a:spcBef>
        <a:spcAft>
          <a:spcPct val="0"/>
        </a:spcAft>
        <a:buClr>
          <a:srgbClr val="000000"/>
        </a:buClr>
        <a:buSzPct val="100000"/>
        <a:buFont typeface="Arial" charset="0"/>
        <a:defRPr sz="600">
          <a:solidFill>
            <a:srgbClr val="FFFFFF"/>
          </a:solidFill>
          <a:latin typeface="Arial" charset="0"/>
          <a:cs typeface="Lucida Sans Unicode" pitchFamily="34" charset="0"/>
        </a:defRPr>
      </a:lvl5pPr>
      <a:lvl6pPr marL="15367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6pPr>
      <a:lvl7pPr marL="19939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7pPr>
      <a:lvl8pPr marL="24511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8pPr>
      <a:lvl9pPr marL="2908300" indent="-215900" algn="l" defTabSz="457200" rtl="0" fontAlgn="base">
        <a:spcBef>
          <a:spcPct val="0"/>
        </a:spcBef>
        <a:spcAft>
          <a:spcPct val="0"/>
        </a:spcAft>
        <a:buClr>
          <a:srgbClr val="000000"/>
        </a:buClr>
        <a:buSzPct val="45000"/>
        <a:buFont typeface="StarSymbol" charset="0"/>
        <a:defRPr sz="4400">
          <a:solidFill>
            <a:srgbClr val="000000"/>
          </a:solidFill>
          <a:latin typeface="Times New Roman" pitchFamily="18" charset="0"/>
          <a:cs typeface="Lucida Sans Unicode" pitchFamily="34" charset="0"/>
        </a:defRPr>
      </a:lvl9pPr>
    </p:titleStyle>
    <p:bodyStyle>
      <a:lvl1pPr marL="341313" indent="-341313" algn="l" defTabSz="457200" rtl="0" eaLnBrk="0" fontAlgn="base" hangingPunct="0">
        <a:spcBef>
          <a:spcPts val="300"/>
        </a:spcBef>
        <a:spcAft>
          <a:spcPct val="0"/>
        </a:spcAft>
        <a:buClr>
          <a:srgbClr val="000000"/>
        </a:buClr>
        <a:buSzPct val="45000"/>
        <a:buFont typeface="Arial" charset="0"/>
        <a:buChar char="•"/>
        <a:defRPr sz="1200">
          <a:solidFill>
            <a:srgbClr val="FFFFFF"/>
          </a:solidFill>
          <a:latin typeface="+mn-lt"/>
          <a:ea typeface="+mn-ea"/>
          <a:cs typeface="+mn-cs"/>
        </a:defRPr>
      </a:lvl1pPr>
      <a:lvl2pPr marL="741363" indent="-284163" algn="l" defTabSz="457200" rtl="0" eaLnBrk="0" fontAlgn="base" hangingPunct="0">
        <a:spcBef>
          <a:spcPts val="700"/>
        </a:spcBef>
        <a:spcAft>
          <a:spcPct val="0"/>
        </a:spcAft>
        <a:buClr>
          <a:srgbClr val="000000"/>
        </a:buClr>
        <a:buSzPct val="45000"/>
        <a:buFont typeface="Arial" charset="0"/>
        <a:buChar char="–"/>
        <a:defRPr sz="600">
          <a:solidFill>
            <a:srgbClr val="FFFFFF"/>
          </a:solidFill>
          <a:latin typeface="+mn-lt"/>
          <a:cs typeface="+mn-cs"/>
        </a:defRPr>
      </a:lvl2pPr>
      <a:lvl3pPr marL="1143000" indent="-228600" algn="l" defTabSz="457200" rtl="0" eaLnBrk="0" fontAlgn="base" hangingPunct="0">
        <a:spcBef>
          <a:spcPts val="600"/>
        </a:spcBef>
        <a:spcAft>
          <a:spcPct val="0"/>
        </a:spcAft>
        <a:buClr>
          <a:srgbClr val="000000"/>
        </a:buClr>
        <a:buSzPct val="45000"/>
        <a:buFont typeface="Arial" charset="0"/>
        <a:buChar char="•"/>
        <a:defRPr sz="600">
          <a:solidFill>
            <a:srgbClr val="FFFFFF"/>
          </a:solidFill>
          <a:latin typeface="+mn-lt"/>
          <a:cs typeface="+mn-cs"/>
        </a:defRPr>
      </a:lvl3pPr>
      <a:lvl4pPr marL="1600200" indent="-228600" algn="l" defTabSz="457200" rtl="0" eaLnBrk="0" fontAlgn="base" hangingPunct="0">
        <a:spcBef>
          <a:spcPts val="500"/>
        </a:spcBef>
        <a:spcAft>
          <a:spcPct val="0"/>
        </a:spcAft>
        <a:buClr>
          <a:srgbClr val="000000"/>
        </a:buClr>
        <a:buSzPct val="45000"/>
        <a:buFont typeface="Arial" charset="0"/>
        <a:buChar char="–"/>
        <a:defRPr sz="600">
          <a:solidFill>
            <a:srgbClr val="FFFFFF"/>
          </a:solidFill>
          <a:latin typeface="+mn-lt"/>
          <a:cs typeface="+mn-cs"/>
        </a:defRPr>
      </a:lvl4pPr>
      <a:lvl5pPr marL="2057400" indent="-228600" algn="l" defTabSz="457200" rtl="0" eaLnBrk="0" fontAlgn="base" hangingPunct="0">
        <a:spcBef>
          <a:spcPts val="500"/>
        </a:spcBef>
        <a:spcAft>
          <a:spcPct val="0"/>
        </a:spcAft>
        <a:buClr>
          <a:srgbClr val="000000"/>
        </a:buClr>
        <a:buSzPct val="45000"/>
        <a:buFont typeface="Arial" charset="0"/>
        <a:buChar char="»"/>
        <a:defRPr sz="600">
          <a:solidFill>
            <a:srgbClr val="FFFFFF"/>
          </a:solidFill>
          <a:latin typeface="+mn-lt"/>
          <a:cs typeface="+mn-cs"/>
        </a:defRPr>
      </a:lvl5pPr>
      <a:lvl6pPr marL="2514600" indent="-228600" algn="l" defTabSz="457200" rtl="0" fontAlgn="base">
        <a:spcBef>
          <a:spcPts val="500"/>
        </a:spcBef>
        <a:spcAft>
          <a:spcPct val="0"/>
        </a:spcAft>
        <a:buClr>
          <a:srgbClr val="000000"/>
        </a:buClr>
        <a:buSzPct val="45000"/>
        <a:buFont typeface="Arial" charset="0"/>
        <a:defRPr sz="600">
          <a:solidFill>
            <a:srgbClr val="FFFFFF"/>
          </a:solidFill>
          <a:latin typeface="+mn-lt"/>
          <a:cs typeface="+mn-cs"/>
        </a:defRPr>
      </a:lvl6pPr>
      <a:lvl7pPr marL="2971800" indent="-228600" algn="l" defTabSz="457200" rtl="0" fontAlgn="base">
        <a:spcBef>
          <a:spcPts val="500"/>
        </a:spcBef>
        <a:spcAft>
          <a:spcPct val="0"/>
        </a:spcAft>
        <a:buClr>
          <a:srgbClr val="000000"/>
        </a:buClr>
        <a:buSzPct val="45000"/>
        <a:buFont typeface="Arial" charset="0"/>
        <a:defRPr sz="600">
          <a:solidFill>
            <a:srgbClr val="FFFFFF"/>
          </a:solidFill>
          <a:latin typeface="+mn-lt"/>
          <a:cs typeface="+mn-cs"/>
        </a:defRPr>
      </a:lvl7pPr>
      <a:lvl8pPr marL="3429000" indent="-228600" algn="l" defTabSz="457200" rtl="0" fontAlgn="base">
        <a:spcBef>
          <a:spcPts val="500"/>
        </a:spcBef>
        <a:spcAft>
          <a:spcPct val="0"/>
        </a:spcAft>
        <a:buClr>
          <a:srgbClr val="000000"/>
        </a:buClr>
        <a:buSzPct val="45000"/>
        <a:buFont typeface="Arial" charset="0"/>
        <a:defRPr sz="600">
          <a:solidFill>
            <a:srgbClr val="FFFFFF"/>
          </a:solidFill>
          <a:latin typeface="+mn-lt"/>
          <a:cs typeface="+mn-cs"/>
        </a:defRPr>
      </a:lvl8pPr>
      <a:lvl9pPr marL="3886200" indent="-228600" algn="l" defTabSz="457200" rtl="0" fontAlgn="base">
        <a:spcBef>
          <a:spcPts val="500"/>
        </a:spcBef>
        <a:spcAft>
          <a:spcPct val="0"/>
        </a:spcAft>
        <a:buClr>
          <a:srgbClr val="000000"/>
        </a:buClr>
        <a:buSzPct val="45000"/>
        <a:buFont typeface="Arial" charset="0"/>
        <a:defRPr sz="600">
          <a:solidFill>
            <a:srgbClr val="FFFFFF"/>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nSpc>
                <a:spcPct val="100000"/>
              </a:lnSpc>
            </a:pPr>
            <a:r>
              <a:rPr lang="en-US" smtClean="0">
                <a:solidFill>
                  <a:schemeClr val="bg1"/>
                </a:solidFill>
              </a:rPr>
              <a:t>OFS (OPEN FINANCIAL SERVICES)</a:t>
            </a:r>
          </a:p>
        </p:txBody>
      </p:sp>
      <p:sp>
        <p:nvSpPr>
          <p:cNvPr id="5123" name="Rectangle 3"/>
          <p:cNvSpPr>
            <a:spLocks noGrp="1" noChangeArrowheads="1"/>
          </p:cNvSpPr>
          <p:nvPr>
            <p:ph type="body" idx="1"/>
          </p:nvPr>
        </p:nvSpPr>
        <p:spPr/>
        <p:txBody>
          <a:bodyPr/>
          <a:lstStyle/>
          <a:p>
            <a:pPr marL="0" indent="0" eaLnBrk="1" hangingPunct="1">
              <a:buFont typeface="Trebuchet MS" pitchFamily="34" charset="0"/>
              <a:buNone/>
            </a:pPr>
            <a:r>
              <a:rPr lang="en-US" sz="1400" smtClean="0">
                <a:solidFill>
                  <a:schemeClr val="tx1"/>
                </a:solidFill>
              </a:rPr>
              <a:t>Day 1 &amp; 2 – </a:t>
            </a:r>
            <a:r>
              <a:rPr lang="en-US" sz="1200" smtClean="0">
                <a:solidFill>
                  <a:schemeClr val="tx1"/>
                </a:solidFill>
              </a:rPr>
              <a:t>Sessions 1-4</a:t>
            </a:r>
            <a:br>
              <a:rPr lang="en-US" sz="1200" smtClean="0">
                <a:solidFill>
                  <a:schemeClr val="tx1"/>
                </a:solidFill>
              </a:rPr>
            </a:br>
            <a:r>
              <a:rPr lang="en-US" sz="1200" smtClean="0">
                <a:solidFill>
                  <a:schemeClr val="tx1"/>
                </a:solidFill>
              </a:rPr>
              <a:t>OFS</a:t>
            </a:r>
          </a:p>
          <a:p>
            <a:pPr marL="0" indent="0" eaLnBrk="1" hangingPunct="1">
              <a:buFont typeface="Trebuchet MS" pitchFamily="34" charset="0"/>
              <a:buNone/>
            </a:pPr>
            <a:r>
              <a:rPr lang="en-US" sz="1200" b="1" smtClean="0">
                <a:solidFill>
                  <a:schemeClr val="tx1"/>
                </a:solidFill>
              </a:rPr>
              <a:t>Dates</a:t>
            </a:r>
            <a:r>
              <a:rPr lang="en-US" sz="1200" smtClean="0">
                <a:solidFill>
                  <a:schemeClr val="tx1"/>
                </a:solidFill>
              </a:rPr>
              <a:t/>
            </a:r>
            <a:br>
              <a:rPr lang="en-US" sz="1200" smtClean="0">
                <a:solidFill>
                  <a:schemeClr val="tx1"/>
                </a:solidFill>
              </a:rPr>
            </a:br>
            <a:r>
              <a:rPr lang="en-US" sz="1200" smtClean="0">
                <a:solidFill>
                  <a:schemeClr val="tx1"/>
                </a:solidFill>
              </a:rPr>
              <a:t>DD/MM/YYYY</a:t>
            </a:r>
          </a:p>
          <a:p>
            <a:pPr marL="0" indent="0" eaLnBrk="1" hangingPunct="1">
              <a:buFont typeface="Trebuchet MS" pitchFamily="34" charset="0"/>
              <a:buNone/>
            </a:pPr>
            <a:r>
              <a:rPr lang="en-US" sz="1200" b="1" smtClean="0">
                <a:solidFill>
                  <a:schemeClr val="tx1"/>
                </a:solidFill>
              </a:rPr>
              <a:t>Venue </a:t>
            </a:r>
            <a:br>
              <a:rPr lang="en-US" sz="1200" b="1" smtClean="0">
                <a:solidFill>
                  <a:schemeClr val="tx1"/>
                </a:solidFill>
              </a:rPr>
            </a:br>
            <a:r>
              <a:rPr lang="en-US" sz="1200" smtClean="0">
                <a:solidFill>
                  <a:schemeClr val="tx1"/>
                </a:solidFill>
              </a:rPr>
              <a:t>xxxx</a:t>
            </a:r>
          </a:p>
          <a:p>
            <a:pPr marL="0" indent="0" eaLnBrk="1" hangingPunct="1">
              <a:buFont typeface="Trebuchet MS" pitchFamily="34" charset="0"/>
              <a:buNone/>
            </a:pPr>
            <a:endParaRPr lang="en-US" sz="120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mtClean="0"/>
              <a:t>Day-wise Plan</a:t>
            </a:r>
          </a:p>
        </p:txBody>
      </p:sp>
      <p:sp>
        <p:nvSpPr>
          <p:cNvPr id="6147" name="Content Placeholder 2"/>
          <p:cNvSpPr>
            <a:spLocks noGrp="1"/>
          </p:cNvSpPr>
          <p:nvPr>
            <p:ph idx="1"/>
          </p:nvPr>
        </p:nvSpPr>
        <p:spPr>
          <a:xfrm>
            <a:off x="992188" y="1592263"/>
            <a:ext cx="3671887" cy="4638675"/>
          </a:xfrm>
        </p:spPr>
        <p:txBody>
          <a:bodyPr/>
          <a:lstStyle/>
          <a:p>
            <a:r>
              <a:rPr lang="en-US" smtClean="0"/>
              <a:t>Session - I</a:t>
            </a:r>
          </a:p>
          <a:p>
            <a:pPr lvl="1"/>
            <a:r>
              <a:rPr lang="en-US" smtClean="0"/>
              <a:t> What is OFS</a:t>
            </a:r>
          </a:p>
          <a:p>
            <a:pPr lvl="1"/>
            <a:r>
              <a:rPr lang="en-US" smtClean="0"/>
              <a:t> Why OFS</a:t>
            </a:r>
          </a:p>
          <a:p>
            <a:pPr lvl="1"/>
            <a:r>
              <a:rPr lang="en-US" smtClean="0"/>
              <a:t>Functionality of OFS</a:t>
            </a:r>
          </a:p>
          <a:p>
            <a:pPr lvl="1"/>
            <a:r>
              <a:rPr lang="en-US" smtClean="0"/>
              <a:t>Architecture of OFS</a:t>
            </a:r>
          </a:p>
          <a:p>
            <a:pPr lvl="1"/>
            <a:r>
              <a:rPr lang="en-US" smtClean="0"/>
              <a:t>Components of OFS</a:t>
            </a:r>
          </a:p>
          <a:p>
            <a:pPr lvl="1"/>
            <a:r>
              <a:rPr lang="en-US" smtClean="0"/>
              <a:t> Processing modes of OFS</a:t>
            </a:r>
          </a:p>
          <a:p>
            <a:pPr lvl="1"/>
            <a:endParaRPr lang="en-US" smtClean="0"/>
          </a:p>
          <a:p>
            <a:pPr lvl="1"/>
            <a:endParaRPr lang="en-US" smtClean="0"/>
          </a:p>
          <a:p>
            <a:pPr lvl="1">
              <a:buFont typeface="Trebuchet MS" pitchFamily="34" charset="0"/>
              <a:buNone/>
            </a:pPr>
            <a:endParaRPr lang="en-US" smtClean="0"/>
          </a:p>
        </p:txBody>
      </p:sp>
      <p:sp>
        <p:nvSpPr>
          <p:cNvPr id="4" name="Content Placeholder 2"/>
          <p:cNvSpPr txBox="1">
            <a:spLocks/>
          </p:cNvSpPr>
          <p:nvPr/>
        </p:nvSpPr>
        <p:spPr bwMode="auto">
          <a:xfrm>
            <a:off x="4567238" y="1639888"/>
            <a:ext cx="3997325" cy="4638675"/>
          </a:xfrm>
          <a:prstGeom prst="rect">
            <a:avLst/>
          </a:prstGeom>
          <a:noFill/>
          <a:ln w="9525">
            <a:noFill/>
            <a:miter lim="800000"/>
            <a:headEnd/>
            <a:tailEnd/>
          </a:ln>
        </p:spPr>
        <p:txBody>
          <a:bodyPr lIns="0" tIns="0" rIns="0" bIns="0"/>
          <a:lstStyle/>
          <a:p>
            <a:pPr marL="342900" indent="-342900" defTabSz="457200" eaLnBrk="0" hangingPunct="0">
              <a:lnSpc>
                <a:spcPct val="125000"/>
              </a:lnSpc>
              <a:spcBef>
                <a:spcPts val="688"/>
              </a:spcBef>
              <a:buClr>
                <a:srgbClr val="217CB6"/>
              </a:buClr>
              <a:buFont typeface="Wingdings 3" pitchFamily="18" charset="2"/>
              <a:buChar char="}"/>
              <a:defRPr/>
            </a:pPr>
            <a:r>
              <a:rPr lang="en-US" sz="2200" kern="0" dirty="0">
                <a:solidFill>
                  <a:srgbClr val="3C3C41"/>
                </a:solidFill>
                <a:latin typeface="+mn-lt"/>
                <a:cs typeface="+mn-cs"/>
              </a:rPr>
              <a:t>Session - II</a:t>
            </a:r>
          </a:p>
          <a:p>
            <a:pPr marL="617538" lvl="1" indent="-160338" defTabSz="457200" eaLnBrk="0" hangingPunct="0">
              <a:lnSpc>
                <a:spcPct val="125000"/>
              </a:lnSpc>
              <a:spcBef>
                <a:spcPts val="625"/>
              </a:spcBef>
              <a:buClr>
                <a:schemeClr val="tx1"/>
              </a:buClr>
              <a:buSzPct val="80000"/>
              <a:buFont typeface="Trebuchet MS" pitchFamily="34" charset="0"/>
              <a:buChar char="•"/>
              <a:defRPr/>
            </a:pPr>
            <a:r>
              <a:rPr lang="en-US" kern="0" dirty="0">
                <a:solidFill>
                  <a:srgbClr val="217CB6"/>
                </a:solidFill>
                <a:latin typeface="+mn-lt"/>
                <a:cs typeface="+mn-cs"/>
              </a:rPr>
              <a:t>Applications involved in OFS</a:t>
            </a:r>
          </a:p>
          <a:p>
            <a:pPr marL="617538" lvl="1" indent="-160338" defTabSz="457200" eaLnBrk="0" hangingPunct="0">
              <a:lnSpc>
                <a:spcPct val="125000"/>
              </a:lnSpc>
              <a:spcBef>
                <a:spcPts val="625"/>
              </a:spcBef>
              <a:buClr>
                <a:schemeClr val="tx1"/>
              </a:buClr>
              <a:buSzPct val="80000"/>
              <a:buFont typeface="Trebuchet MS" pitchFamily="34" charset="0"/>
              <a:buChar char="•"/>
              <a:defRPr/>
            </a:pPr>
            <a:r>
              <a:rPr lang="en-US" kern="0" dirty="0">
                <a:solidFill>
                  <a:srgbClr val="217CB6"/>
                </a:solidFill>
                <a:latin typeface="+mn-lt"/>
                <a:cs typeface="+mn-cs"/>
              </a:rPr>
              <a:t>Message Structure</a:t>
            </a:r>
          </a:p>
          <a:p>
            <a:pPr marL="617538" lvl="1" indent="-160338" defTabSz="457200" eaLnBrk="0" hangingPunct="0">
              <a:lnSpc>
                <a:spcPct val="125000"/>
              </a:lnSpc>
              <a:spcBef>
                <a:spcPts val="625"/>
              </a:spcBef>
              <a:buClr>
                <a:schemeClr val="tx1"/>
              </a:buClr>
              <a:buSzPct val="80000"/>
              <a:buFont typeface="Trebuchet MS" pitchFamily="34" charset="0"/>
              <a:buChar char="•"/>
              <a:defRPr/>
            </a:pPr>
            <a:r>
              <a:rPr lang="en-US" kern="0" dirty="0">
                <a:solidFill>
                  <a:srgbClr val="217CB6"/>
                </a:solidFill>
                <a:latin typeface="+mn-lt"/>
                <a:cs typeface="+mn-cs"/>
              </a:rPr>
              <a:t>Messages Types</a:t>
            </a:r>
          </a:p>
          <a:p>
            <a:pPr marL="617538" lvl="1" indent="-160338" defTabSz="457200" eaLnBrk="0" hangingPunct="0">
              <a:lnSpc>
                <a:spcPct val="125000"/>
              </a:lnSpc>
              <a:spcBef>
                <a:spcPts val="625"/>
              </a:spcBef>
              <a:buClr>
                <a:schemeClr val="tx1"/>
              </a:buClr>
              <a:buSzPct val="80000"/>
              <a:buFont typeface="Trebuchet MS" pitchFamily="34" charset="0"/>
              <a:buChar char="•"/>
              <a:defRPr/>
            </a:pPr>
            <a:endParaRPr lang="en-US" kern="0" dirty="0">
              <a:solidFill>
                <a:srgbClr val="217CB6"/>
              </a:solidFill>
              <a:latin typeface="+mn-lt"/>
              <a:cs typeface="+mn-cs"/>
            </a:endParaRPr>
          </a:p>
          <a:p>
            <a:pPr marL="617538" lvl="1" indent="-160338" defTabSz="457200" eaLnBrk="0" hangingPunct="0">
              <a:lnSpc>
                <a:spcPct val="125000"/>
              </a:lnSpc>
              <a:spcBef>
                <a:spcPts val="625"/>
              </a:spcBef>
              <a:buClr>
                <a:schemeClr val="tx1"/>
              </a:buClr>
              <a:buSzPct val="80000"/>
              <a:buFont typeface="Trebuchet MS" pitchFamily="34" charset="0"/>
              <a:buChar char="•"/>
              <a:defRPr/>
            </a:pPr>
            <a:endParaRPr lang="en-US" kern="0" dirty="0">
              <a:solidFill>
                <a:srgbClr val="217CB6"/>
              </a:solidFill>
              <a:latin typeface="+mn-lt"/>
              <a:cs typeface="+mn-cs"/>
            </a:endParaRPr>
          </a:p>
          <a:p>
            <a:pPr marL="617538" lvl="1" indent="-160338" defTabSz="457200" eaLnBrk="0" hangingPunct="0">
              <a:lnSpc>
                <a:spcPct val="125000"/>
              </a:lnSpc>
              <a:spcBef>
                <a:spcPts val="625"/>
              </a:spcBef>
              <a:buClr>
                <a:schemeClr val="tx1"/>
              </a:buClr>
              <a:buSzPct val="80000"/>
              <a:buFont typeface="Trebuchet MS" pitchFamily="34" charset="0"/>
              <a:buNone/>
              <a:defRPr/>
            </a:pPr>
            <a:endParaRPr lang="en-US" kern="0" dirty="0">
              <a:solidFill>
                <a:srgbClr val="217CB6"/>
              </a:solidFill>
              <a:latin typeface="+mn-lt"/>
              <a:cs typeface="+mn-cs"/>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t>Day-wise Plan</a:t>
            </a:r>
          </a:p>
        </p:txBody>
      </p:sp>
      <p:sp>
        <p:nvSpPr>
          <p:cNvPr id="7171" name="Content Placeholder 2"/>
          <p:cNvSpPr>
            <a:spLocks noGrp="1"/>
          </p:cNvSpPr>
          <p:nvPr>
            <p:ph idx="1"/>
          </p:nvPr>
        </p:nvSpPr>
        <p:spPr>
          <a:xfrm>
            <a:off x="992188" y="1592263"/>
            <a:ext cx="3579812" cy="4638675"/>
          </a:xfrm>
        </p:spPr>
        <p:txBody>
          <a:bodyPr/>
          <a:lstStyle/>
          <a:p>
            <a:r>
              <a:rPr lang="en-US" smtClean="0"/>
              <a:t>Session - III</a:t>
            </a:r>
          </a:p>
          <a:p>
            <a:pPr lvl="1" eaLnBrk="1" hangingPunct="1"/>
            <a:r>
              <a:rPr lang="en-US" smtClean="0"/>
              <a:t>Online OFS sample</a:t>
            </a:r>
          </a:p>
          <a:p>
            <a:pPr lvl="1" eaLnBrk="1" hangingPunct="1"/>
            <a:r>
              <a:rPr lang="en-US" smtClean="0"/>
              <a:t>Batch OFS sample</a:t>
            </a:r>
          </a:p>
          <a:p>
            <a:pPr lvl="1" eaLnBrk="1" hangingPunct="1"/>
            <a:r>
              <a:rPr lang="en-US" smtClean="0"/>
              <a:t>ENQUIRY using OFS</a:t>
            </a:r>
          </a:p>
          <a:p>
            <a:pPr lvl="1"/>
            <a:endParaRPr lang="en-US" smtClean="0"/>
          </a:p>
        </p:txBody>
      </p:sp>
      <p:sp>
        <p:nvSpPr>
          <p:cNvPr id="4" name="Content Placeholder 2"/>
          <p:cNvSpPr txBox="1">
            <a:spLocks/>
          </p:cNvSpPr>
          <p:nvPr/>
        </p:nvSpPr>
        <p:spPr bwMode="auto">
          <a:xfrm>
            <a:off x="4619625" y="1570038"/>
            <a:ext cx="4224338" cy="4638675"/>
          </a:xfrm>
          <a:prstGeom prst="rect">
            <a:avLst/>
          </a:prstGeom>
          <a:noFill/>
          <a:ln w="9525">
            <a:noFill/>
            <a:miter lim="800000"/>
            <a:headEnd/>
            <a:tailEnd/>
          </a:ln>
        </p:spPr>
        <p:txBody>
          <a:bodyPr lIns="0" tIns="0" rIns="0" bIns="0"/>
          <a:lstStyle/>
          <a:p>
            <a:pPr marL="342900" indent="-342900" defTabSz="457200">
              <a:lnSpc>
                <a:spcPct val="125000"/>
              </a:lnSpc>
              <a:spcBef>
                <a:spcPts val="688"/>
              </a:spcBef>
              <a:buClr>
                <a:srgbClr val="217CB6"/>
              </a:buClr>
              <a:buFont typeface="Wingdings 3" pitchFamily="18" charset="2"/>
              <a:buChar char="}"/>
              <a:defRPr/>
            </a:pPr>
            <a:r>
              <a:rPr lang="en-US" sz="2200" kern="0" dirty="0">
                <a:solidFill>
                  <a:srgbClr val="3C3C41"/>
                </a:solidFill>
                <a:latin typeface="+mn-lt"/>
                <a:cs typeface="+mn-cs"/>
              </a:rPr>
              <a:t>Session - IV</a:t>
            </a:r>
          </a:p>
          <a:p>
            <a:pPr marL="617538" lvl="1" indent="-160338" defTabSz="457200">
              <a:lnSpc>
                <a:spcPct val="125000"/>
              </a:lnSpc>
              <a:spcBef>
                <a:spcPts val="625"/>
              </a:spcBef>
              <a:buClr>
                <a:schemeClr val="tx1"/>
              </a:buClr>
              <a:buSzPct val="80000"/>
              <a:buFont typeface="Trebuchet MS" pitchFamily="34" charset="0"/>
              <a:buChar char="•"/>
              <a:defRPr/>
            </a:pPr>
            <a:r>
              <a:rPr lang="en-US" kern="0" dirty="0">
                <a:solidFill>
                  <a:srgbClr val="217CB6"/>
                </a:solidFill>
                <a:latin typeface="+mn-lt"/>
                <a:cs typeface="+mn-cs"/>
              </a:rPr>
              <a:t>Subroutine call using OFS sample</a:t>
            </a:r>
          </a:p>
          <a:p>
            <a:pPr marL="617538" lvl="1" indent="-160338" defTabSz="457200">
              <a:lnSpc>
                <a:spcPct val="125000"/>
              </a:lnSpc>
              <a:spcBef>
                <a:spcPts val="625"/>
              </a:spcBef>
              <a:buClr>
                <a:schemeClr val="tx1"/>
              </a:buClr>
              <a:buSzPct val="80000"/>
              <a:buFont typeface="Trebuchet MS" pitchFamily="34" charset="0"/>
              <a:buChar char="•"/>
              <a:defRPr/>
            </a:pPr>
            <a:r>
              <a:rPr lang="en-US" kern="0" dirty="0">
                <a:solidFill>
                  <a:srgbClr val="217CB6"/>
                </a:solidFill>
                <a:latin typeface="+mn-lt"/>
                <a:cs typeface="+mn-cs"/>
              </a:rPr>
              <a:t>Data capture using OFS sample</a:t>
            </a:r>
          </a:p>
          <a:p>
            <a:pPr marL="617538" lvl="1" indent="-160338" defTabSz="457200">
              <a:lnSpc>
                <a:spcPct val="125000"/>
              </a:lnSpc>
              <a:spcBef>
                <a:spcPts val="625"/>
              </a:spcBef>
              <a:buClr>
                <a:schemeClr val="tx1"/>
              </a:buClr>
              <a:buSzPct val="80000"/>
              <a:buFont typeface="Trebuchet MS" pitchFamily="34" charset="0"/>
              <a:buChar char="•"/>
              <a:defRPr/>
            </a:pPr>
            <a:r>
              <a:rPr lang="en-US" kern="0" dirty="0">
                <a:solidFill>
                  <a:srgbClr val="217CB6"/>
                </a:solidFill>
                <a:latin typeface="+mn-lt"/>
                <a:cs typeface="+mn-cs"/>
              </a:rPr>
              <a:t>Error Messages in OFS</a:t>
            </a:r>
          </a:p>
          <a:p>
            <a:pPr marL="617538" lvl="1" indent="-160338" defTabSz="457200" eaLnBrk="0" hangingPunct="0">
              <a:lnSpc>
                <a:spcPct val="125000"/>
              </a:lnSpc>
              <a:spcBef>
                <a:spcPts val="625"/>
              </a:spcBef>
              <a:buClr>
                <a:schemeClr val="tx1"/>
              </a:buClr>
              <a:buSzPct val="80000"/>
              <a:buFont typeface="Trebuchet MS" pitchFamily="34" charset="0"/>
              <a:buChar char="•"/>
              <a:defRPr/>
            </a:pPr>
            <a:endParaRPr lang="en-US" kern="0" dirty="0">
              <a:solidFill>
                <a:srgbClr val="217CB6"/>
              </a:solidFill>
              <a:latin typeface="+mn-lt"/>
              <a:cs typeface="+mn-cs"/>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smtClean="0">
                <a:solidFill>
                  <a:schemeClr val="bg1"/>
                </a:solidFill>
              </a:rPr>
              <a:t>Objective &amp; Agenda</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Objective</a:t>
            </a:r>
          </a:p>
        </p:txBody>
      </p:sp>
      <p:sp>
        <p:nvSpPr>
          <p:cNvPr id="9219" name="Rectangle 3"/>
          <p:cNvSpPr>
            <a:spLocks noGrp="1" noChangeArrowheads="1"/>
          </p:cNvSpPr>
          <p:nvPr>
            <p:ph type="body" idx="1"/>
          </p:nvPr>
        </p:nvSpPr>
        <p:spPr>
          <a:xfrm>
            <a:off x="992188" y="1592263"/>
            <a:ext cx="7874000" cy="4337050"/>
          </a:xfrm>
        </p:spPr>
        <p:txBody>
          <a:bodyPr/>
          <a:lstStyle/>
          <a:p>
            <a:pPr eaLnBrk="1" hangingPunct="1"/>
            <a:r>
              <a:rPr lang="en-US" smtClean="0"/>
              <a:t>At the end of this session, participants will </a:t>
            </a:r>
          </a:p>
          <a:p>
            <a:pPr lvl="1" eaLnBrk="1" hangingPunct="1"/>
            <a:r>
              <a:rPr lang="en-US" smtClean="0"/>
              <a:t>Understand the message structure in OFS </a:t>
            </a:r>
          </a:p>
          <a:p>
            <a:pPr lvl="1" eaLnBrk="1" hangingPunct="1"/>
            <a:r>
              <a:rPr lang="en-US" smtClean="0"/>
              <a:t>Usage of OFS in various applications like TC connector and for Interfaces </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Agenda</a:t>
            </a:r>
          </a:p>
        </p:txBody>
      </p:sp>
      <p:sp>
        <p:nvSpPr>
          <p:cNvPr id="10243" name="Rectangle 3"/>
          <p:cNvSpPr>
            <a:spLocks noGrp="1" noChangeArrowheads="1"/>
          </p:cNvSpPr>
          <p:nvPr>
            <p:ph type="body" idx="1"/>
          </p:nvPr>
        </p:nvSpPr>
        <p:spPr>
          <a:xfrm>
            <a:off x="992188" y="1592263"/>
            <a:ext cx="7874000" cy="4337050"/>
          </a:xfrm>
        </p:spPr>
        <p:txBody>
          <a:bodyPr/>
          <a:lstStyle/>
          <a:p>
            <a:pPr eaLnBrk="1" hangingPunct="1"/>
            <a:r>
              <a:rPr lang="en-US" smtClean="0"/>
              <a:t>What is OFS?</a:t>
            </a:r>
          </a:p>
          <a:p>
            <a:pPr eaLnBrk="1" hangingPunct="1"/>
            <a:r>
              <a:rPr lang="en-US" smtClean="0"/>
              <a:t>Why OFS?</a:t>
            </a:r>
          </a:p>
          <a:p>
            <a:pPr eaLnBrk="1" hangingPunct="1"/>
            <a:r>
              <a:rPr lang="en-US" smtClean="0"/>
              <a:t>Functionality of OFS</a:t>
            </a:r>
          </a:p>
          <a:p>
            <a:pPr eaLnBrk="1" hangingPunct="1"/>
            <a:r>
              <a:rPr lang="en-US" smtClean="0"/>
              <a:t>Architecture of OFS</a:t>
            </a:r>
          </a:p>
          <a:p>
            <a:pPr eaLnBrk="1" hangingPunct="1"/>
            <a:r>
              <a:rPr lang="en-US" smtClean="0"/>
              <a:t>Components of OFS</a:t>
            </a:r>
          </a:p>
          <a:p>
            <a:pPr eaLnBrk="1" hangingPunct="1"/>
            <a:endParaRPr lang="en-US" smtClean="0"/>
          </a:p>
          <a:p>
            <a:pPr eaLnBrk="1" hangingPunct="1"/>
            <a:endParaRPr lang="en-US" smtClean="0"/>
          </a:p>
          <a:p>
            <a:pPr eaLnBrk="1" hangingPunct="1">
              <a:buFont typeface="Wingdings 3" pitchFamily="18" charset="2"/>
              <a:buNone/>
            </a:pPr>
            <a:r>
              <a:rPr lang="en-US" smtClean="0"/>
              <a:t>											Agenda cont….</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t>Agenda</a:t>
            </a:r>
          </a:p>
        </p:txBody>
      </p:sp>
      <p:sp>
        <p:nvSpPr>
          <p:cNvPr id="11267" name="Rectangle 3"/>
          <p:cNvSpPr>
            <a:spLocks noGrp="1" noChangeArrowheads="1"/>
          </p:cNvSpPr>
          <p:nvPr>
            <p:ph type="body" idx="1"/>
          </p:nvPr>
        </p:nvSpPr>
        <p:spPr>
          <a:xfrm>
            <a:off x="992188" y="1592263"/>
            <a:ext cx="7874000" cy="4337050"/>
          </a:xfrm>
        </p:spPr>
        <p:txBody>
          <a:bodyPr/>
          <a:lstStyle/>
          <a:p>
            <a:pPr eaLnBrk="1" hangingPunct="1"/>
            <a:r>
              <a:rPr lang="en-US" smtClean="0"/>
              <a:t>Processing Modes</a:t>
            </a:r>
          </a:p>
          <a:p>
            <a:pPr eaLnBrk="1" hangingPunct="1"/>
            <a:r>
              <a:rPr lang="en-US" smtClean="0"/>
              <a:t>Applications involved in OFS</a:t>
            </a:r>
          </a:p>
          <a:p>
            <a:pPr eaLnBrk="1" hangingPunct="1"/>
            <a:r>
              <a:rPr lang="en-US" smtClean="0"/>
              <a:t>Message structure</a:t>
            </a:r>
          </a:p>
          <a:p>
            <a:pPr eaLnBrk="1" hangingPunct="1"/>
            <a:r>
              <a:rPr lang="en-US" smtClean="0"/>
              <a:t>Message Types</a:t>
            </a:r>
          </a:p>
          <a:p>
            <a:pPr eaLnBrk="1" hangingPunct="1"/>
            <a:r>
              <a:rPr lang="en-US" smtClean="0"/>
              <a:t>Common variables in OFS</a:t>
            </a:r>
          </a:p>
          <a:p>
            <a:pPr eaLnBrk="1" hangingPunct="1"/>
            <a:endParaRPr lang="en-US" smtClean="0"/>
          </a:p>
          <a:p>
            <a:pPr eaLnBrk="1" hangingPunct="1"/>
            <a:endParaRPr lang="en-US" smtClean="0"/>
          </a:p>
          <a:p>
            <a:pPr eaLnBrk="1" hangingPunct="1">
              <a:buFont typeface="Wingdings 3" pitchFamily="18" charset="2"/>
              <a:buNone/>
            </a:pPr>
            <a:r>
              <a:rPr lang="en-US" smtClean="0"/>
              <a:t> 											Agenda cont….</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mtClean="0"/>
              <a:t>Agenda</a:t>
            </a:r>
          </a:p>
        </p:txBody>
      </p:sp>
      <p:sp>
        <p:nvSpPr>
          <p:cNvPr id="12291" name="Rectangle 3"/>
          <p:cNvSpPr>
            <a:spLocks noGrp="1" noChangeArrowheads="1"/>
          </p:cNvSpPr>
          <p:nvPr>
            <p:ph type="body" idx="1"/>
          </p:nvPr>
        </p:nvSpPr>
        <p:spPr>
          <a:xfrm>
            <a:off x="992188" y="1592263"/>
            <a:ext cx="7874000" cy="4337050"/>
          </a:xfrm>
        </p:spPr>
        <p:txBody>
          <a:bodyPr/>
          <a:lstStyle/>
          <a:p>
            <a:pPr eaLnBrk="1" hangingPunct="1"/>
            <a:r>
              <a:rPr lang="en-US" smtClean="0"/>
              <a:t>Online OFS sample</a:t>
            </a:r>
          </a:p>
          <a:p>
            <a:pPr eaLnBrk="1" hangingPunct="1"/>
            <a:r>
              <a:rPr lang="en-US" smtClean="0"/>
              <a:t>Batch OFS sample</a:t>
            </a:r>
          </a:p>
          <a:p>
            <a:pPr eaLnBrk="1" hangingPunct="1"/>
            <a:r>
              <a:rPr lang="en-US" smtClean="0"/>
              <a:t>ENQUIRY using OFS</a:t>
            </a:r>
          </a:p>
          <a:p>
            <a:pPr eaLnBrk="1" hangingPunct="1"/>
            <a:r>
              <a:rPr lang="en-US" smtClean="0"/>
              <a:t>Subroutine call using OFS sample</a:t>
            </a:r>
          </a:p>
          <a:p>
            <a:pPr eaLnBrk="1" hangingPunct="1"/>
            <a:r>
              <a:rPr lang="en-US" smtClean="0"/>
              <a:t>Data capture using OFS sample</a:t>
            </a:r>
          </a:p>
          <a:p>
            <a:pPr eaLnBrk="1" hangingPunct="1"/>
            <a:r>
              <a:rPr lang="en-US" smtClean="0"/>
              <a:t>Error Messages in OFS</a:t>
            </a:r>
          </a:p>
          <a:p>
            <a:pPr eaLnBrk="1" hangingPunct="1"/>
            <a:endParaRPr lang="en-US" smtClean="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smtClean="0">
                <a:solidFill>
                  <a:schemeClr val="bg1"/>
                </a:solidFill>
              </a:rPr>
              <a:t>Introduction</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mtClean="0"/>
              <a:t>Introduction</a:t>
            </a:r>
          </a:p>
        </p:txBody>
      </p:sp>
      <p:sp>
        <p:nvSpPr>
          <p:cNvPr id="14339" name="Rectangle 3"/>
          <p:cNvSpPr>
            <a:spLocks noGrp="1" noChangeArrowheads="1"/>
          </p:cNvSpPr>
          <p:nvPr>
            <p:ph type="body" idx="1"/>
          </p:nvPr>
        </p:nvSpPr>
        <p:spPr>
          <a:xfrm>
            <a:off x="992188" y="1592263"/>
            <a:ext cx="7426325" cy="4337050"/>
          </a:xfrm>
        </p:spPr>
        <p:txBody>
          <a:bodyPr/>
          <a:lstStyle/>
          <a:p>
            <a:pPr eaLnBrk="1" hangingPunct="1"/>
            <a:r>
              <a:rPr lang="en-US" smtClean="0"/>
              <a:t>What is OFS?</a:t>
            </a:r>
          </a:p>
          <a:p>
            <a:pPr lvl="1" eaLnBrk="1" hangingPunct="1"/>
            <a:r>
              <a:rPr lang="en-US" smtClean="0"/>
              <a:t>The Open Financial Service module (OFS) provides an interface to allow the update and interrogation of T24 applications</a:t>
            </a:r>
          </a:p>
          <a:p>
            <a:pPr lvl="1" eaLnBrk="1" hangingPunct="1"/>
            <a:r>
              <a:rPr lang="en-US" smtClean="0"/>
              <a:t>Any file can be updated using OFS</a:t>
            </a:r>
          </a:p>
          <a:p>
            <a:pPr lvl="1" eaLnBrk="1" hangingPunct="1"/>
            <a:r>
              <a:rPr lang="en-US" smtClean="0"/>
              <a:t>OFS is an interface that allows transactions and queries request to be processed by T24</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Introduction</a:t>
            </a:r>
          </a:p>
        </p:txBody>
      </p:sp>
      <p:sp>
        <p:nvSpPr>
          <p:cNvPr id="15363" name="Content Placeholder 2"/>
          <p:cNvSpPr>
            <a:spLocks noGrp="1"/>
          </p:cNvSpPr>
          <p:nvPr>
            <p:ph idx="1"/>
          </p:nvPr>
        </p:nvSpPr>
        <p:spPr>
          <a:xfrm>
            <a:off x="992188" y="1592263"/>
            <a:ext cx="7513637" cy="4638675"/>
          </a:xfrm>
        </p:spPr>
        <p:txBody>
          <a:bodyPr/>
          <a:lstStyle/>
          <a:p>
            <a:pPr lvl="1" eaLnBrk="1" hangingPunct="1"/>
            <a:r>
              <a:rPr lang="en-US" smtClean="0"/>
              <a:t>Data available in external source can be processed</a:t>
            </a:r>
          </a:p>
          <a:p>
            <a:pPr lvl="1" eaLnBrk="1" hangingPunct="1"/>
            <a:r>
              <a:rPr lang="en-US" smtClean="0"/>
              <a:t>Also enquiries related application can be retrieved using OFS</a:t>
            </a:r>
          </a:p>
          <a:p>
            <a:pPr lvl="1" eaLnBrk="1" hangingPunct="1"/>
            <a:r>
              <a:rPr lang="en-US" smtClean="0"/>
              <a:t>Can be used in various external applications like ATM, Internet Banking </a:t>
            </a:r>
          </a:p>
          <a:p>
            <a:endParaRPr lang="en-US"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mtClean="0"/>
              <a:t>Why OFS?</a:t>
            </a:r>
          </a:p>
        </p:txBody>
      </p:sp>
      <p:sp>
        <p:nvSpPr>
          <p:cNvPr id="16387" name="Rectangle 3"/>
          <p:cNvSpPr>
            <a:spLocks noGrp="1" noChangeArrowheads="1"/>
          </p:cNvSpPr>
          <p:nvPr>
            <p:ph type="body" idx="1"/>
          </p:nvPr>
        </p:nvSpPr>
        <p:spPr>
          <a:xfrm>
            <a:off x="992188" y="1592263"/>
            <a:ext cx="7874000" cy="4337050"/>
          </a:xfrm>
        </p:spPr>
        <p:txBody>
          <a:bodyPr/>
          <a:lstStyle/>
          <a:p>
            <a:pPr eaLnBrk="1" hangingPunct="1"/>
            <a:r>
              <a:rPr lang="en-US" smtClean="0"/>
              <a:t>OFS is the only standard gateway to Temenos database</a:t>
            </a:r>
          </a:p>
          <a:p>
            <a:pPr eaLnBrk="1" hangingPunct="1"/>
            <a:r>
              <a:rPr lang="en-US" smtClean="0"/>
              <a:t>OFS syntax are understandable by Temenos database</a:t>
            </a:r>
          </a:p>
          <a:p>
            <a:pPr eaLnBrk="1" hangingPunct="1"/>
            <a:r>
              <a:rPr lang="en-US" smtClean="0"/>
              <a:t>Request for enquiries and updation of tables are done through the OFS formatted messages</a:t>
            </a:r>
          </a:p>
          <a:p>
            <a:pPr eaLnBrk="1" hangingPunct="1"/>
            <a:r>
              <a:rPr lang="en-US" smtClean="0"/>
              <a:t>Interface takes care of running any OFS business function which helps to avoid direct user intervention</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smtClean="0"/>
              <a:t>Functionality of OFS</a:t>
            </a:r>
          </a:p>
        </p:txBody>
      </p:sp>
      <p:sp>
        <p:nvSpPr>
          <p:cNvPr id="17411" name="Rectangle 3"/>
          <p:cNvSpPr>
            <a:spLocks noGrp="1" noChangeArrowheads="1"/>
          </p:cNvSpPr>
          <p:nvPr>
            <p:ph type="body" idx="1"/>
          </p:nvPr>
        </p:nvSpPr>
        <p:spPr>
          <a:xfrm>
            <a:off x="992188" y="1592263"/>
            <a:ext cx="7874000" cy="4337050"/>
          </a:xfrm>
        </p:spPr>
        <p:txBody>
          <a:bodyPr/>
          <a:lstStyle/>
          <a:p>
            <a:pPr eaLnBrk="1" hangingPunct="1"/>
            <a:r>
              <a:rPr lang="en-US" smtClean="0"/>
              <a:t>Supports multi-company processing</a:t>
            </a:r>
          </a:p>
          <a:p>
            <a:pPr eaLnBrk="1" hangingPunct="1"/>
            <a:r>
              <a:rPr lang="en-US" smtClean="0"/>
              <a:t>Error messages handling</a:t>
            </a:r>
          </a:p>
          <a:p>
            <a:pPr eaLnBrk="1" hangingPunct="1"/>
            <a:r>
              <a:rPr lang="en-US" smtClean="0"/>
              <a:t>Platform independent</a:t>
            </a:r>
          </a:p>
          <a:p>
            <a:pPr eaLnBrk="1" hangingPunct="1"/>
            <a:r>
              <a:rPr lang="en-US" smtClean="0"/>
              <a:t>Support for sub-values</a:t>
            </a:r>
          </a:p>
          <a:p>
            <a:pPr eaLnBrk="1" hangingPunct="1"/>
            <a:r>
              <a:rPr lang="en-US" smtClean="0"/>
              <a:t>The incoming messages can be customized by user</a:t>
            </a:r>
          </a:p>
          <a:p>
            <a:pPr eaLnBrk="1" hangingPunct="1">
              <a:buFont typeface="Wingdings 3" pitchFamily="18" charset="2"/>
              <a:buNone/>
            </a:pPr>
            <a:r>
              <a:rPr lang="en-US" smtClean="0"/>
              <a:t>     defined routines</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smtClean="0">
                <a:solidFill>
                  <a:schemeClr val="bg1"/>
                </a:solidFill>
              </a:rPr>
              <a:t>Architecture</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t>Architecture</a:t>
            </a:r>
          </a:p>
        </p:txBody>
      </p:sp>
      <p:grpSp>
        <p:nvGrpSpPr>
          <p:cNvPr id="19459" name="Group 20"/>
          <p:cNvGrpSpPr>
            <a:grpSpLocks/>
          </p:cNvGrpSpPr>
          <p:nvPr/>
        </p:nvGrpSpPr>
        <p:grpSpPr bwMode="auto">
          <a:xfrm>
            <a:off x="1152525" y="1538288"/>
            <a:ext cx="7200900" cy="4167187"/>
            <a:chOff x="744" y="1225"/>
            <a:chExt cx="4536" cy="2625"/>
          </a:xfrm>
        </p:grpSpPr>
        <p:sp>
          <p:nvSpPr>
            <p:cNvPr id="19460" name="Rectangle 12"/>
            <p:cNvSpPr>
              <a:spLocks noChangeArrowheads="1"/>
            </p:cNvSpPr>
            <p:nvPr/>
          </p:nvSpPr>
          <p:spPr bwMode="auto">
            <a:xfrm>
              <a:off x="744" y="1536"/>
              <a:ext cx="4536" cy="1640"/>
            </a:xfrm>
            <a:prstGeom prst="rect">
              <a:avLst/>
            </a:prstGeom>
            <a:noFill/>
            <a:ln w="9525">
              <a:solidFill>
                <a:schemeClr val="tx1"/>
              </a:solidFill>
              <a:miter lim="800000"/>
              <a:headEnd/>
              <a:tailEnd/>
            </a:ln>
          </p:spPr>
          <p:txBody>
            <a:bodyPr wrap="none" anchor="ctr"/>
            <a:lstStyle/>
            <a:p>
              <a:endParaRPr lang="en-US"/>
            </a:p>
          </p:txBody>
        </p:sp>
        <p:sp>
          <p:nvSpPr>
            <p:cNvPr id="19461" name="Text Box 13"/>
            <p:cNvSpPr txBox="1">
              <a:spLocks noChangeArrowheads="1"/>
            </p:cNvSpPr>
            <p:nvPr/>
          </p:nvSpPr>
          <p:spPr bwMode="auto">
            <a:xfrm>
              <a:off x="854" y="1793"/>
              <a:ext cx="4148" cy="256"/>
            </a:xfrm>
            <a:prstGeom prst="rect">
              <a:avLst/>
            </a:prstGeom>
            <a:noFill/>
            <a:ln w="28575">
              <a:solidFill>
                <a:srgbClr val="3399FF"/>
              </a:solidFill>
              <a:miter lim="800000"/>
              <a:headEnd/>
              <a:tailEnd/>
            </a:ln>
          </p:spPr>
          <p:txBody>
            <a:bodyPr>
              <a:spAutoFit/>
            </a:bodyPr>
            <a:lstStyle/>
            <a:p>
              <a:r>
                <a:rPr lang="en-US"/>
                <a:t>                                   </a:t>
              </a:r>
              <a:r>
                <a:rPr lang="en-US">
                  <a:solidFill>
                    <a:schemeClr val="tx1"/>
                  </a:solidFill>
                </a:rPr>
                <a:t> Globus Manager</a:t>
              </a:r>
            </a:p>
          </p:txBody>
        </p:sp>
        <p:sp>
          <p:nvSpPr>
            <p:cNvPr id="19462" name="Text Box 14"/>
            <p:cNvSpPr txBox="1">
              <a:spLocks noChangeArrowheads="1"/>
            </p:cNvSpPr>
            <p:nvPr/>
          </p:nvSpPr>
          <p:spPr bwMode="auto">
            <a:xfrm>
              <a:off x="862" y="2235"/>
              <a:ext cx="4148" cy="256"/>
            </a:xfrm>
            <a:prstGeom prst="rect">
              <a:avLst/>
            </a:prstGeom>
            <a:noFill/>
            <a:ln w="28575">
              <a:solidFill>
                <a:srgbClr val="3399FF"/>
              </a:solidFill>
              <a:miter lim="800000"/>
              <a:headEnd/>
              <a:tailEnd/>
            </a:ln>
          </p:spPr>
          <p:txBody>
            <a:bodyPr>
              <a:spAutoFit/>
            </a:bodyPr>
            <a:lstStyle/>
            <a:p>
              <a:r>
                <a:rPr lang="en-US">
                  <a:solidFill>
                    <a:schemeClr val="tx1"/>
                  </a:solidFill>
                </a:rPr>
                <a:t>                                   Request Manager</a:t>
              </a:r>
            </a:p>
          </p:txBody>
        </p:sp>
        <p:sp>
          <p:nvSpPr>
            <p:cNvPr id="19463" name="Text Box 15"/>
            <p:cNvSpPr txBox="1">
              <a:spLocks noChangeArrowheads="1"/>
            </p:cNvSpPr>
            <p:nvPr/>
          </p:nvSpPr>
          <p:spPr bwMode="auto">
            <a:xfrm>
              <a:off x="870" y="2641"/>
              <a:ext cx="4148" cy="256"/>
            </a:xfrm>
            <a:prstGeom prst="rect">
              <a:avLst/>
            </a:prstGeom>
            <a:noFill/>
            <a:ln w="28575">
              <a:solidFill>
                <a:srgbClr val="3399FF"/>
              </a:solidFill>
              <a:miter lim="800000"/>
              <a:headEnd/>
              <a:tailEnd/>
            </a:ln>
          </p:spPr>
          <p:txBody>
            <a:bodyPr>
              <a:spAutoFit/>
            </a:bodyPr>
            <a:lstStyle/>
            <a:p>
              <a:r>
                <a:rPr lang="en-US">
                  <a:solidFill>
                    <a:schemeClr val="tx1"/>
                  </a:solidFill>
                </a:rPr>
                <a:t>                                     Enquiry Manager</a:t>
              </a:r>
            </a:p>
          </p:txBody>
        </p:sp>
        <p:sp>
          <p:nvSpPr>
            <p:cNvPr id="19464" name="Text Box 16"/>
            <p:cNvSpPr txBox="1">
              <a:spLocks noChangeArrowheads="1"/>
            </p:cNvSpPr>
            <p:nvPr/>
          </p:nvSpPr>
          <p:spPr bwMode="auto">
            <a:xfrm>
              <a:off x="1542" y="2937"/>
              <a:ext cx="3027" cy="250"/>
            </a:xfrm>
            <a:prstGeom prst="rect">
              <a:avLst/>
            </a:prstGeom>
            <a:noFill/>
            <a:ln w="9525">
              <a:noFill/>
              <a:miter lim="800000"/>
              <a:headEnd/>
              <a:tailEnd/>
            </a:ln>
          </p:spPr>
          <p:txBody>
            <a:bodyPr>
              <a:spAutoFit/>
            </a:bodyPr>
            <a:lstStyle/>
            <a:p>
              <a:r>
                <a:rPr lang="en-US">
                  <a:solidFill>
                    <a:schemeClr val="tx1"/>
                  </a:solidFill>
                </a:rPr>
                <a:t>               OPEN FINANCIAL SERVICE</a:t>
              </a:r>
            </a:p>
          </p:txBody>
        </p:sp>
        <p:sp>
          <p:nvSpPr>
            <p:cNvPr id="19465" name="Text Box 17"/>
            <p:cNvSpPr txBox="1">
              <a:spLocks noChangeArrowheads="1"/>
            </p:cNvSpPr>
            <p:nvPr/>
          </p:nvSpPr>
          <p:spPr bwMode="auto">
            <a:xfrm>
              <a:off x="808" y="3256"/>
              <a:ext cx="4360" cy="250"/>
            </a:xfrm>
            <a:prstGeom prst="rect">
              <a:avLst/>
            </a:prstGeom>
            <a:noFill/>
            <a:ln w="9525">
              <a:noFill/>
              <a:miter lim="800000"/>
              <a:headEnd/>
              <a:tailEnd/>
            </a:ln>
          </p:spPr>
          <p:txBody>
            <a:bodyPr>
              <a:spAutoFit/>
            </a:bodyPr>
            <a:lstStyle/>
            <a:p>
              <a:pPr>
                <a:spcBef>
                  <a:spcPct val="50000"/>
                </a:spcBef>
              </a:pPr>
              <a:r>
                <a:rPr lang="en-US">
                  <a:solidFill>
                    <a:schemeClr val="tx1"/>
                  </a:solidFill>
                </a:rPr>
                <a:t>                          Applications/versions,Enquires</a:t>
              </a:r>
            </a:p>
          </p:txBody>
        </p:sp>
        <p:sp>
          <p:nvSpPr>
            <p:cNvPr id="19466" name="Text Box 18"/>
            <p:cNvSpPr txBox="1">
              <a:spLocks noChangeArrowheads="1"/>
            </p:cNvSpPr>
            <p:nvPr/>
          </p:nvSpPr>
          <p:spPr bwMode="auto">
            <a:xfrm>
              <a:off x="944" y="3600"/>
              <a:ext cx="4288" cy="250"/>
            </a:xfrm>
            <a:prstGeom prst="rect">
              <a:avLst/>
            </a:prstGeom>
            <a:noFill/>
            <a:ln w="9525">
              <a:noFill/>
              <a:miter lim="800000"/>
              <a:headEnd/>
              <a:tailEnd/>
            </a:ln>
          </p:spPr>
          <p:txBody>
            <a:bodyPr>
              <a:spAutoFit/>
            </a:bodyPr>
            <a:lstStyle/>
            <a:p>
              <a:pPr>
                <a:spcBef>
                  <a:spcPct val="50000"/>
                </a:spcBef>
              </a:pPr>
              <a:r>
                <a:rPr lang="en-US">
                  <a:solidFill>
                    <a:schemeClr val="tx1"/>
                  </a:solidFill>
                </a:rPr>
                <a:t>                                           T24 Database</a:t>
              </a:r>
            </a:p>
          </p:txBody>
        </p:sp>
        <p:sp>
          <p:nvSpPr>
            <p:cNvPr id="16396" name="Text Box 19"/>
            <p:cNvSpPr txBox="1">
              <a:spLocks noChangeArrowheads="1"/>
            </p:cNvSpPr>
            <p:nvPr/>
          </p:nvSpPr>
          <p:spPr bwMode="auto">
            <a:xfrm>
              <a:off x="1374" y="1225"/>
              <a:ext cx="3436" cy="250"/>
            </a:xfrm>
            <a:prstGeom prst="rect">
              <a:avLst/>
            </a:prstGeom>
            <a:noFill/>
            <a:ln w="9525">
              <a:noFill/>
              <a:miter lim="800000"/>
              <a:headEnd/>
              <a:tailEnd/>
            </a:ln>
          </p:spPr>
          <p:txBody>
            <a:bodyPr>
              <a:spAutoFit/>
            </a:bodyPr>
            <a:lstStyle/>
            <a:p>
              <a:pPr>
                <a:defRPr/>
              </a:pPr>
              <a:r>
                <a:rPr lang="en-US" dirty="0">
                  <a:solidFill>
                    <a:schemeClr val="tx1">
                      <a:lumMod val="85000"/>
                      <a:lumOff val="15000"/>
                    </a:schemeClr>
                  </a:solidFill>
                </a:rPr>
                <a:t>Messages from T24 Applications/subroutines</a:t>
              </a:r>
            </a:p>
          </p:txBody>
        </p:sp>
      </p:gr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Architecture</a:t>
            </a:r>
          </a:p>
        </p:txBody>
      </p:sp>
      <p:sp>
        <p:nvSpPr>
          <p:cNvPr id="20483" name="Oval 3"/>
          <p:cNvSpPr>
            <a:spLocks noChangeArrowheads="1"/>
          </p:cNvSpPr>
          <p:nvPr/>
        </p:nvSpPr>
        <p:spPr bwMode="auto">
          <a:xfrm>
            <a:off x="1306513" y="1379538"/>
            <a:ext cx="1784350" cy="449262"/>
          </a:xfrm>
          <a:prstGeom prst="ellipse">
            <a:avLst/>
          </a:prstGeom>
          <a:solidFill>
            <a:schemeClr val="bg1"/>
          </a:solidFill>
          <a:ln w="9525" algn="ctr">
            <a:solidFill>
              <a:srgbClr val="0000FF"/>
            </a:solidFill>
            <a:round/>
            <a:headEnd/>
            <a:tailEnd/>
          </a:ln>
        </p:spPr>
        <p:txBody>
          <a:bodyPr/>
          <a:lstStyle/>
          <a:p>
            <a:pPr eaLnBrk="0" hangingPunct="0"/>
            <a:r>
              <a:rPr lang="en-US" sz="1400">
                <a:solidFill>
                  <a:schemeClr val="tx1"/>
                </a:solidFill>
              </a:rPr>
              <a:t>External Feed</a:t>
            </a:r>
          </a:p>
        </p:txBody>
      </p:sp>
      <p:cxnSp>
        <p:nvCxnSpPr>
          <p:cNvPr id="20484" name="Straight Arrow Connector 6"/>
          <p:cNvCxnSpPr>
            <a:cxnSpLocks noChangeShapeType="1"/>
            <a:stCxn id="20483" idx="4"/>
          </p:cNvCxnSpPr>
          <p:nvPr/>
        </p:nvCxnSpPr>
        <p:spPr bwMode="auto">
          <a:xfrm rot="16200000" flipH="1">
            <a:off x="2035969" y="1991519"/>
            <a:ext cx="333375" cy="7937"/>
          </a:xfrm>
          <a:prstGeom prst="straightConnector1">
            <a:avLst/>
          </a:prstGeom>
          <a:noFill/>
          <a:ln w="9525" algn="ctr">
            <a:solidFill>
              <a:srgbClr val="FF0000"/>
            </a:solidFill>
            <a:round/>
            <a:headEnd/>
            <a:tailEnd type="arrow" w="med" len="med"/>
          </a:ln>
        </p:spPr>
      </p:cxnSp>
      <p:sp>
        <p:nvSpPr>
          <p:cNvPr id="20485" name="Rectangle 7"/>
          <p:cNvSpPr>
            <a:spLocks noChangeArrowheads="1"/>
          </p:cNvSpPr>
          <p:nvPr/>
        </p:nvSpPr>
        <p:spPr bwMode="auto">
          <a:xfrm>
            <a:off x="1363663" y="2162175"/>
            <a:ext cx="1916112" cy="701675"/>
          </a:xfrm>
          <a:prstGeom prst="rect">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OFS ONLINE</a:t>
            </a:r>
          </a:p>
          <a:p>
            <a:pPr algn="ctr" eaLnBrk="0" hangingPunct="0"/>
            <a:r>
              <a:rPr lang="en-US" sz="1400">
                <a:solidFill>
                  <a:schemeClr val="tx1"/>
                </a:solidFill>
              </a:rPr>
              <a:t>MANAGER</a:t>
            </a:r>
          </a:p>
        </p:txBody>
      </p:sp>
      <p:sp>
        <p:nvSpPr>
          <p:cNvPr id="20486" name="Rectangle 9"/>
          <p:cNvSpPr>
            <a:spLocks noChangeArrowheads="1"/>
          </p:cNvSpPr>
          <p:nvPr/>
        </p:nvSpPr>
        <p:spPr bwMode="auto">
          <a:xfrm>
            <a:off x="4462463" y="2141538"/>
            <a:ext cx="1916112" cy="692150"/>
          </a:xfrm>
          <a:prstGeom prst="rect">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OFS QUEUE</a:t>
            </a:r>
          </a:p>
          <a:p>
            <a:pPr algn="ctr" eaLnBrk="0" hangingPunct="0"/>
            <a:r>
              <a:rPr lang="en-US" sz="1400">
                <a:solidFill>
                  <a:schemeClr val="tx1"/>
                </a:solidFill>
              </a:rPr>
              <a:t>MANAGER</a:t>
            </a:r>
          </a:p>
        </p:txBody>
      </p:sp>
      <p:sp>
        <p:nvSpPr>
          <p:cNvPr id="20487" name="Rectangle 10"/>
          <p:cNvSpPr>
            <a:spLocks noChangeArrowheads="1"/>
          </p:cNvSpPr>
          <p:nvPr/>
        </p:nvSpPr>
        <p:spPr bwMode="auto">
          <a:xfrm>
            <a:off x="2755900" y="3201988"/>
            <a:ext cx="1916113" cy="635000"/>
          </a:xfrm>
          <a:prstGeom prst="rect">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OFS REQUEST</a:t>
            </a:r>
          </a:p>
          <a:p>
            <a:pPr algn="ctr" eaLnBrk="0" hangingPunct="0"/>
            <a:r>
              <a:rPr lang="en-US" sz="1400">
                <a:solidFill>
                  <a:schemeClr val="tx1"/>
                </a:solidFill>
              </a:rPr>
              <a:t>MANAGER</a:t>
            </a:r>
          </a:p>
        </p:txBody>
      </p:sp>
      <p:cxnSp>
        <p:nvCxnSpPr>
          <p:cNvPr id="20488" name="Straight Arrow Connector 12"/>
          <p:cNvCxnSpPr>
            <a:cxnSpLocks noChangeShapeType="1"/>
          </p:cNvCxnSpPr>
          <p:nvPr/>
        </p:nvCxnSpPr>
        <p:spPr bwMode="auto">
          <a:xfrm>
            <a:off x="2652713" y="2852738"/>
            <a:ext cx="420687" cy="355600"/>
          </a:xfrm>
          <a:prstGeom prst="straightConnector1">
            <a:avLst/>
          </a:prstGeom>
          <a:noFill/>
          <a:ln w="9525" algn="ctr">
            <a:solidFill>
              <a:srgbClr val="FF0000"/>
            </a:solidFill>
            <a:round/>
            <a:headEnd/>
            <a:tailEnd type="arrow" w="med" len="med"/>
          </a:ln>
        </p:spPr>
      </p:cxnSp>
      <p:cxnSp>
        <p:nvCxnSpPr>
          <p:cNvPr id="20489" name="Straight Arrow Connector 14"/>
          <p:cNvCxnSpPr>
            <a:cxnSpLocks noChangeShapeType="1"/>
          </p:cNvCxnSpPr>
          <p:nvPr/>
        </p:nvCxnSpPr>
        <p:spPr bwMode="auto">
          <a:xfrm rot="10800000" flipV="1">
            <a:off x="4616450" y="2852738"/>
            <a:ext cx="415925" cy="355600"/>
          </a:xfrm>
          <a:prstGeom prst="straightConnector1">
            <a:avLst/>
          </a:prstGeom>
          <a:noFill/>
          <a:ln w="9525" algn="ctr">
            <a:solidFill>
              <a:srgbClr val="FF0000"/>
            </a:solidFill>
            <a:round/>
            <a:headEnd/>
            <a:tailEnd type="arrow" w="med" len="med"/>
          </a:ln>
        </p:spPr>
      </p:cxnSp>
      <p:sp>
        <p:nvSpPr>
          <p:cNvPr id="20490" name="Can 15"/>
          <p:cNvSpPr>
            <a:spLocks noChangeArrowheads="1"/>
          </p:cNvSpPr>
          <p:nvPr/>
        </p:nvSpPr>
        <p:spPr bwMode="auto">
          <a:xfrm>
            <a:off x="3178175" y="4205288"/>
            <a:ext cx="1162050" cy="784225"/>
          </a:xfrm>
          <a:prstGeom prst="can">
            <a:avLst>
              <a:gd name="adj" fmla="val 25000"/>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OFS DETAILS</a:t>
            </a:r>
          </a:p>
        </p:txBody>
      </p:sp>
      <p:cxnSp>
        <p:nvCxnSpPr>
          <p:cNvPr id="20491" name="Straight Arrow Connector 17"/>
          <p:cNvCxnSpPr>
            <a:cxnSpLocks noChangeShapeType="1"/>
          </p:cNvCxnSpPr>
          <p:nvPr/>
        </p:nvCxnSpPr>
        <p:spPr bwMode="auto">
          <a:xfrm rot="5400000">
            <a:off x="3578225" y="4049713"/>
            <a:ext cx="396875" cy="3175"/>
          </a:xfrm>
          <a:prstGeom prst="straightConnector1">
            <a:avLst/>
          </a:prstGeom>
          <a:noFill/>
          <a:ln w="9525" algn="ctr">
            <a:solidFill>
              <a:srgbClr val="FF0000"/>
            </a:solidFill>
            <a:round/>
            <a:headEnd/>
            <a:tailEnd type="arrow" w="med" len="med"/>
          </a:ln>
        </p:spPr>
      </p:cxnSp>
      <p:sp>
        <p:nvSpPr>
          <p:cNvPr id="20492" name="Can 18"/>
          <p:cNvSpPr>
            <a:spLocks noChangeArrowheads="1"/>
          </p:cNvSpPr>
          <p:nvPr/>
        </p:nvSpPr>
        <p:spPr bwMode="auto">
          <a:xfrm>
            <a:off x="5051425" y="3924300"/>
            <a:ext cx="1154113" cy="962025"/>
          </a:xfrm>
          <a:prstGeom prst="can">
            <a:avLst>
              <a:gd name="adj" fmla="val 25000"/>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OFS  OFFLINE QUEUE</a:t>
            </a:r>
          </a:p>
        </p:txBody>
      </p:sp>
      <p:cxnSp>
        <p:nvCxnSpPr>
          <p:cNvPr id="20493" name="Straight Arrow Connector 22"/>
          <p:cNvCxnSpPr>
            <a:cxnSpLocks noChangeShapeType="1"/>
          </p:cNvCxnSpPr>
          <p:nvPr/>
        </p:nvCxnSpPr>
        <p:spPr bwMode="auto">
          <a:xfrm rot="10800000">
            <a:off x="3959225" y="3857625"/>
            <a:ext cx="1062038" cy="354013"/>
          </a:xfrm>
          <a:prstGeom prst="straightConnector1">
            <a:avLst/>
          </a:prstGeom>
          <a:noFill/>
          <a:ln w="9525" algn="ctr">
            <a:solidFill>
              <a:srgbClr val="FF0000"/>
            </a:solidFill>
            <a:round/>
            <a:headEnd/>
            <a:tailEnd type="arrow" w="med" len="med"/>
          </a:ln>
        </p:spPr>
      </p:cxnSp>
      <p:sp>
        <p:nvSpPr>
          <p:cNvPr id="20494" name="Rectangle 25"/>
          <p:cNvSpPr>
            <a:spLocks noChangeArrowheads="1"/>
          </p:cNvSpPr>
          <p:nvPr/>
        </p:nvSpPr>
        <p:spPr bwMode="auto">
          <a:xfrm>
            <a:off x="1589088" y="5362575"/>
            <a:ext cx="1916112" cy="647700"/>
          </a:xfrm>
          <a:prstGeom prst="rect">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OFS ENQUIRY</a:t>
            </a:r>
          </a:p>
          <a:p>
            <a:pPr algn="ctr" eaLnBrk="0" hangingPunct="0"/>
            <a:r>
              <a:rPr lang="en-US" sz="1400">
                <a:solidFill>
                  <a:schemeClr val="tx1"/>
                </a:solidFill>
              </a:rPr>
              <a:t>MANAGER</a:t>
            </a:r>
          </a:p>
        </p:txBody>
      </p:sp>
      <p:sp>
        <p:nvSpPr>
          <p:cNvPr id="20495" name="Rectangle 26"/>
          <p:cNvSpPr>
            <a:spLocks noChangeArrowheads="1"/>
          </p:cNvSpPr>
          <p:nvPr/>
        </p:nvSpPr>
        <p:spPr bwMode="auto">
          <a:xfrm>
            <a:off x="4154488" y="5421313"/>
            <a:ext cx="2038350" cy="649287"/>
          </a:xfrm>
          <a:prstGeom prst="rect">
            <a:avLst/>
          </a:prstGeom>
          <a:solidFill>
            <a:schemeClr val="bg1"/>
          </a:solidFill>
          <a:ln w="9525" algn="ctr">
            <a:solidFill>
              <a:srgbClr val="0000FF"/>
            </a:solidFill>
            <a:round/>
            <a:headEnd/>
            <a:tailEnd/>
          </a:ln>
        </p:spPr>
        <p:txBody>
          <a:bodyPr/>
          <a:lstStyle/>
          <a:p>
            <a:pPr algn="ctr" eaLnBrk="0" hangingPunct="0"/>
            <a:r>
              <a:rPr lang="en-US" sz="1400">
                <a:solidFill>
                  <a:schemeClr val="tx1"/>
                </a:solidFill>
              </a:rPr>
              <a:t>GLOBUS TRANSACTION</a:t>
            </a:r>
          </a:p>
        </p:txBody>
      </p:sp>
      <p:cxnSp>
        <p:nvCxnSpPr>
          <p:cNvPr id="20496" name="Straight Arrow Connector 28"/>
          <p:cNvCxnSpPr>
            <a:cxnSpLocks noChangeShapeType="1"/>
          </p:cNvCxnSpPr>
          <p:nvPr/>
        </p:nvCxnSpPr>
        <p:spPr bwMode="auto">
          <a:xfrm rot="5400000" flipH="1" flipV="1">
            <a:off x="3147219" y="4853782"/>
            <a:ext cx="312737" cy="615950"/>
          </a:xfrm>
          <a:prstGeom prst="straightConnector1">
            <a:avLst/>
          </a:prstGeom>
          <a:noFill/>
          <a:ln w="9525" algn="ctr">
            <a:solidFill>
              <a:srgbClr val="FF0000"/>
            </a:solidFill>
            <a:round/>
            <a:headEnd type="arrow" w="med" len="med"/>
            <a:tailEnd type="arrow" w="med" len="med"/>
          </a:ln>
        </p:spPr>
      </p:cxnSp>
      <p:cxnSp>
        <p:nvCxnSpPr>
          <p:cNvPr id="20497" name="Straight Arrow Connector 30"/>
          <p:cNvCxnSpPr>
            <a:cxnSpLocks noChangeShapeType="1"/>
          </p:cNvCxnSpPr>
          <p:nvPr/>
        </p:nvCxnSpPr>
        <p:spPr bwMode="auto">
          <a:xfrm>
            <a:off x="3935413" y="4978400"/>
            <a:ext cx="827087" cy="406400"/>
          </a:xfrm>
          <a:prstGeom prst="straightConnector1">
            <a:avLst/>
          </a:prstGeom>
          <a:noFill/>
          <a:ln w="9525" algn="ctr">
            <a:solidFill>
              <a:srgbClr val="FF0000"/>
            </a:solidFill>
            <a:round/>
            <a:headEnd type="arrow" w="med" len="med"/>
            <a:tailEnd type="arrow" w="med" len="med"/>
          </a:ln>
        </p:spPr>
      </p:cxn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solidFill>
                  <a:schemeClr val="bg1"/>
                </a:solidFill>
              </a:rPr>
              <a:t>Components of OFS</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Components of OFS</a:t>
            </a:r>
          </a:p>
        </p:txBody>
      </p:sp>
      <p:sp>
        <p:nvSpPr>
          <p:cNvPr id="22531" name="Rectangle 3"/>
          <p:cNvSpPr>
            <a:spLocks noGrp="1" noChangeArrowheads="1"/>
          </p:cNvSpPr>
          <p:nvPr>
            <p:ph type="body" idx="1"/>
          </p:nvPr>
        </p:nvSpPr>
        <p:spPr>
          <a:xfrm>
            <a:off x="992188" y="1592263"/>
            <a:ext cx="7874000" cy="4337050"/>
          </a:xfrm>
        </p:spPr>
        <p:txBody>
          <a:bodyPr/>
          <a:lstStyle/>
          <a:p>
            <a:pPr eaLnBrk="1" hangingPunct="1"/>
            <a:r>
              <a:rPr lang="en-US" smtClean="0"/>
              <a:t>OFS QUEUE MANAGER</a:t>
            </a:r>
          </a:p>
          <a:p>
            <a:pPr eaLnBrk="1" hangingPunct="1"/>
            <a:r>
              <a:rPr lang="en-US" smtClean="0"/>
              <a:t>OFS ONLINE MANAGER</a:t>
            </a:r>
          </a:p>
          <a:p>
            <a:pPr eaLnBrk="1" hangingPunct="1"/>
            <a:r>
              <a:rPr lang="en-US" smtClean="0"/>
              <a:t>OFS REQUEST MANAGER</a:t>
            </a:r>
          </a:p>
          <a:p>
            <a:pPr eaLnBrk="1" hangingPunct="1"/>
            <a:r>
              <a:rPr lang="en-US" smtClean="0"/>
              <a:t>OFS CONNECTION MANAGER</a:t>
            </a:r>
          </a:p>
          <a:p>
            <a:pPr eaLnBrk="1" hangingPunct="1"/>
            <a:r>
              <a:rPr lang="en-US" smtClean="0"/>
              <a:t>OFS SESSION MANAGER</a:t>
            </a:r>
          </a:p>
          <a:p>
            <a:pPr eaLnBrk="1" hangingPunct="1"/>
            <a:endParaRPr lang="en-US"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Components of OFS – OFS QUEUE MANAGER</a:t>
            </a:r>
          </a:p>
        </p:txBody>
      </p:sp>
      <p:sp>
        <p:nvSpPr>
          <p:cNvPr id="23555" name="Rectangle 3"/>
          <p:cNvSpPr>
            <a:spLocks noGrp="1" noChangeArrowheads="1"/>
          </p:cNvSpPr>
          <p:nvPr>
            <p:ph type="body" idx="1"/>
          </p:nvPr>
        </p:nvSpPr>
        <p:spPr>
          <a:xfrm>
            <a:off x="992188" y="1592263"/>
            <a:ext cx="7874000" cy="4337050"/>
          </a:xfrm>
        </p:spPr>
        <p:txBody>
          <a:bodyPr/>
          <a:lstStyle/>
          <a:p>
            <a:pPr eaLnBrk="1" hangingPunct="1"/>
            <a:r>
              <a:rPr lang="en-US" smtClean="0"/>
              <a:t>OFS.QUEUE.MANAGER – is used for Batch communication with the OFS module</a:t>
            </a:r>
          </a:p>
          <a:p>
            <a:pPr eaLnBrk="1" hangingPunct="1"/>
            <a:r>
              <a:rPr lang="en-US" smtClean="0"/>
              <a:t>It also supports processing of offline messages (in batch mode)</a:t>
            </a:r>
          </a:p>
          <a:p>
            <a:pPr eaLnBrk="1" hangingPunct="1"/>
            <a:r>
              <a:rPr lang="en-US" smtClean="0"/>
              <a:t>Writes the reply for the processed message to a file or directory depending on the configuration done in the related OFS.SOURCE record</a:t>
            </a:r>
          </a:p>
          <a:p>
            <a:pPr eaLnBrk="1" hangingPunct="1"/>
            <a:r>
              <a:rPr lang="en-US" smtClean="0"/>
              <a:t>It also performs message logging 	depending on the level setup in related OFS.SOURCE record</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Components of OFS – OFS ONLINE MANAGER</a:t>
            </a:r>
          </a:p>
        </p:txBody>
      </p:sp>
      <p:sp>
        <p:nvSpPr>
          <p:cNvPr id="24579" name="Rectangle 3"/>
          <p:cNvSpPr>
            <a:spLocks noGrp="1" noChangeArrowheads="1"/>
          </p:cNvSpPr>
          <p:nvPr>
            <p:ph type="body" idx="1"/>
          </p:nvPr>
        </p:nvSpPr>
        <p:spPr>
          <a:xfrm>
            <a:off x="992188" y="1592263"/>
            <a:ext cx="7874000" cy="4337050"/>
          </a:xfrm>
        </p:spPr>
        <p:txBody>
          <a:bodyPr/>
          <a:lstStyle/>
          <a:p>
            <a:pPr eaLnBrk="1" hangingPunct="1"/>
            <a:r>
              <a:rPr lang="en-US" smtClean="0"/>
              <a:t>OFS ONLINE MANAGER – Receives messages from the external application (e.g. ATM Switch software) or user via a TELNET link</a:t>
            </a:r>
          </a:p>
          <a:p>
            <a:pPr eaLnBrk="1" hangingPunct="1"/>
            <a:r>
              <a:rPr lang="en-US" smtClean="0"/>
              <a:t>Passes the request message to the OFS.REQUEST.MANAGER to perform the required processing</a:t>
            </a:r>
          </a:p>
          <a:p>
            <a:pPr eaLnBrk="1" hangingPunct="1"/>
            <a:r>
              <a:rPr lang="en-US" smtClean="0"/>
              <a:t>Passes the reply message returned to the external application</a:t>
            </a:r>
          </a:p>
          <a:p>
            <a:pPr eaLnBrk="1" hangingPunct="1"/>
            <a:endParaRPr lang="en-US"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65213" y="346075"/>
            <a:ext cx="7589837" cy="984250"/>
          </a:xfrm>
        </p:spPr>
        <p:txBody>
          <a:bodyPr/>
          <a:lstStyle/>
          <a:p>
            <a:pPr eaLnBrk="1" hangingPunct="1"/>
            <a:r>
              <a:rPr lang="en-US" smtClean="0"/>
              <a:t>Components of OFS – OFS REQUEST MANAGER</a:t>
            </a:r>
          </a:p>
        </p:txBody>
      </p:sp>
      <p:sp>
        <p:nvSpPr>
          <p:cNvPr id="25603" name="Rectangle 3"/>
          <p:cNvSpPr>
            <a:spLocks noGrp="1" noChangeArrowheads="1"/>
          </p:cNvSpPr>
          <p:nvPr>
            <p:ph type="body" idx="1"/>
          </p:nvPr>
        </p:nvSpPr>
        <p:spPr>
          <a:xfrm>
            <a:off x="992188" y="1592263"/>
            <a:ext cx="7874000" cy="4337050"/>
          </a:xfrm>
        </p:spPr>
        <p:txBody>
          <a:bodyPr/>
          <a:lstStyle/>
          <a:p>
            <a:pPr eaLnBrk="1" hangingPunct="1">
              <a:lnSpc>
                <a:spcPct val="115000"/>
              </a:lnSpc>
            </a:pPr>
            <a:r>
              <a:rPr lang="en-US" smtClean="0"/>
              <a:t>Receives the request message from one of the OFS module routines (subroutine call)</a:t>
            </a:r>
          </a:p>
          <a:p>
            <a:pPr eaLnBrk="1" hangingPunct="1">
              <a:lnSpc>
                <a:spcPct val="115000"/>
              </a:lnSpc>
            </a:pPr>
            <a:r>
              <a:rPr lang="en-US" smtClean="0"/>
              <a:t>Calls the appropriate message parser based on the format of the message</a:t>
            </a:r>
          </a:p>
          <a:p>
            <a:pPr eaLnBrk="1" hangingPunct="1">
              <a:lnSpc>
                <a:spcPct val="115000"/>
              </a:lnSpc>
            </a:pPr>
            <a:r>
              <a:rPr lang="en-US" smtClean="0"/>
              <a:t>Validate syntax structure of OFS</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smtClean="0"/>
              <a:t>Components of OFS – OFS REQUEST MANAGER</a:t>
            </a:r>
          </a:p>
        </p:txBody>
      </p:sp>
      <p:sp>
        <p:nvSpPr>
          <p:cNvPr id="26627" name="Content Placeholder 2"/>
          <p:cNvSpPr>
            <a:spLocks noGrp="1"/>
          </p:cNvSpPr>
          <p:nvPr>
            <p:ph idx="1"/>
          </p:nvPr>
        </p:nvSpPr>
        <p:spPr>
          <a:xfrm>
            <a:off x="992188" y="1592263"/>
            <a:ext cx="7874000" cy="4638675"/>
          </a:xfrm>
        </p:spPr>
        <p:txBody>
          <a:bodyPr/>
          <a:lstStyle/>
          <a:p>
            <a:pPr eaLnBrk="1" hangingPunct="1">
              <a:lnSpc>
                <a:spcPct val="115000"/>
              </a:lnSpc>
            </a:pPr>
            <a:r>
              <a:rPr lang="en-US" smtClean="0"/>
              <a:t>Identifies the type of request (Application/enquiry)</a:t>
            </a:r>
          </a:p>
          <a:p>
            <a:pPr eaLnBrk="1" hangingPunct="1">
              <a:lnSpc>
                <a:spcPct val="115000"/>
              </a:lnSpc>
            </a:pPr>
            <a:r>
              <a:rPr lang="en-US" smtClean="0"/>
              <a:t>Calls the subroutine given in the request if it is found to be a Subroutine request</a:t>
            </a:r>
          </a:p>
          <a:p>
            <a:pPr eaLnBrk="1" hangingPunct="1">
              <a:lnSpc>
                <a:spcPct val="115000"/>
              </a:lnSpc>
            </a:pPr>
            <a:r>
              <a:rPr lang="en-US" smtClean="0"/>
              <a:t>Also passes the reply message to the caller application/subroutine</a:t>
            </a:r>
          </a:p>
          <a:p>
            <a:pPr>
              <a:buFont typeface="Wingdings 3" pitchFamily="18" charset="2"/>
              <a:buNone/>
            </a:pPr>
            <a:endParaRPr lang="en-US" smtClean="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mtClean="0"/>
              <a:t>Components of OFS – OFS CONNECTION MANAGER</a:t>
            </a:r>
          </a:p>
        </p:txBody>
      </p:sp>
      <p:sp>
        <p:nvSpPr>
          <p:cNvPr id="27651" name="Rectangle 3"/>
          <p:cNvSpPr>
            <a:spLocks noGrp="1" noChangeArrowheads="1"/>
          </p:cNvSpPr>
          <p:nvPr>
            <p:ph type="body" idx="1"/>
          </p:nvPr>
        </p:nvSpPr>
        <p:spPr>
          <a:xfrm>
            <a:off x="992188" y="1592263"/>
            <a:ext cx="7874000" cy="4337050"/>
          </a:xfrm>
        </p:spPr>
        <p:txBody>
          <a:bodyPr/>
          <a:lstStyle/>
          <a:p>
            <a:pPr eaLnBrk="1" hangingPunct="1"/>
            <a:r>
              <a:rPr lang="en-US" smtClean="0"/>
              <a:t>Connector uses Connection manager to send and receive messages from Temenos 24</a:t>
            </a:r>
          </a:p>
          <a:p>
            <a:pPr eaLnBrk="1" hangingPunct="1"/>
            <a:r>
              <a:rPr lang="en-US" smtClean="0"/>
              <a:t>Reads the records from OFS.SOURCE</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t>Components of OFS – OFS SESSION MANAGER</a:t>
            </a:r>
          </a:p>
        </p:txBody>
      </p:sp>
      <p:sp>
        <p:nvSpPr>
          <p:cNvPr id="28675" name="Rectangle 3"/>
          <p:cNvSpPr>
            <a:spLocks noGrp="1" noChangeArrowheads="1"/>
          </p:cNvSpPr>
          <p:nvPr>
            <p:ph type="body" idx="1"/>
          </p:nvPr>
        </p:nvSpPr>
        <p:spPr>
          <a:xfrm>
            <a:off x="992188" y="1592263"/>
            <a:ext cx="7874000" cy="4337050"/>
          </a:xfrm>
        </p:spPr>
        <p:txBody>
          <a:bodyPr/>
          <a:lstStyle/>
          <a:p>
            <a:pPr eaLnBrk="1" hangingPunct="1"/>
            <a:r>
              <a:rPr lang="en-US" smtClean="0"/>
              <a:t>Handles OFS requests coming  from Temenos T24 Browser clients, forwards them to Temenos T24 server for processing and send back the response</a:t>
            </a:r>
          </a:p>
          <a:p>
            <a:pPr eaLnBrk="1" hangingPunct="1"/>
            <a:r>
              <a:rPr lang="en-US" smtClean="0"/>
              <a:t>Handles Browser sessions create/destroy and manage operations</a:t>
            </a:r>
          </a:p>
          <a:p>
            <a:pPr eaLnBrk="1" hangingPunct="1"/>
            <a:r>
              <a:rPr lang="en-US" smtClean="0"/>
              <a:t>Parses xml messages</a:t>
            </a:r>
          </a:p>
          <a:p>
            <a:pPr eaLnBrk="1" hangingPunct="1"/>
            <a:endParaRPr lang="en-US" smtClean="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solidFill>
                  <a:schemeClr val="bg1"/>
                </a:solidFill>
              </a:rPr>
              <a:t>Processing Modes</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smtClean="0"/>
              <a:t>Processing Modes in OFS</a:t>
            </a:r>
          </a:p>
        </p:txBody>
      </p:sp>
      <p:sp>
        <p:nvSpPr>
          <p:cNvPr id="30723" name="Rectangle 3"/>
          <p:cNvSpPr>
            <a:spLocks noGrp="1" noChangeArrowheads="1"/>
          </p:cNvSpPr>
          <p:nvPr>
            <p:ph type="body" idx="1"/>
          </p:nvPr>
        </p:nvSpPr>
        <p:spPr>
          <a:xfrm>
            <a:off x="992188" y="1592263"/>
            <a:ext cx="7874000" cy="4337050"/>
          </a:xfrm>
        </p:spPr>
        <p:txBody>
          <a:bodyPr/>
          <a:lstStyle/>
          <a:p>
            <a:pPr eaLnBrk="1" hangingPunct="1"/>
            <a:r>
              <a:rPr lang="en-US" smtClean="0"/>
              <a:t>The following are various processing modes in OFS</a:t>
            </a:r>
          </a:p>
          <a:p>
            <a:pPr lvl="1" eaLnBrk="1" hangingPunct="1"/>
            <a:r>
              <a:rPr lang="en-US" smtClean="0"/>
              <a:t>BATCH MODE</a:t>
            </a:r>
          </a:p>
          <a:p>
            <a:pPr lvl="1" eaLnBrk="1" hangingPunct="1"/>
            <a:r>
              <a:rPr lang="en-US" smtClean="0"/>
              <a:t>ONLINE MODE</a:t>
            </a:r>
          </a:p>
          <a:p>
            <a:pPr lvl="1" eaLnBrk="1" hangingPunct="1"/>
            <a:r>
              <a:rPr lang="en-US" smtClean="0"/>
              <a:t>GLOBUS MODE</a:t>
            </a:r>
          </a:p>
          <a:p>
            <a:pPr lvl="1" eaLnBrk="1" hangingPunct="1">
              <a:buFont typeface="Trebuchet MS" pitchFamily="34" charset="0"/>
              <a:buNone/>
            </a:pPr>
            <a:endParaRPr lang="en-US" smtClean="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mtClean="0"/>
              <a:t>BATCH MODE</a:t>
            </a:r>
          </a:p>
        </p:txBody>
      </p:sp>
      <p:grpSp>
        <p:nvGrpSpPr>
          <p:cNvPr id="31747" name="Group 13"/>
          <p:cNvGrpSpPr>
            <a:grpSpLocks/>
          </p:cNvGrpSpPr>
          <p:nvPr/>
        </p:nvGrpSpPr>
        <p:grpSpPr bwMode="auto">
          <a:xfrm>
            <a:off x="1079500" y="1354138"/>
            <a:ext cx="7200900" cy="4395787"/>
            <a:chOff x="744" y="1081"/>
            <a:chExt cx="4536" cy="2769"/>
          </a:xfrm>
        </p:grpSpPr>
        <p:sp>
          <p:nvSpPr>
            <p:cNvPr id="31748" name="Rectangle 4"/>
            <p:cNvSpPr>
              <a:spLocks noChangeArrowheads="1"/>
            </p:cNvSpPr>
            <p:nvPr/>
          </p:nvSpPr>
          <p:spPr bwMode="auto">
            <a:xfrm>
              <a:off x="744" y="1536"/>
              <a:ext cx="4536" cy="1640"/>
            </a:xfrm>
            <a:prstGeom prst="rect">
              <a:avLst/>
            </a:prstGeom>
            <a:noFill/>
            <a:ln w="9525">
              <a:solidFill>
                <a:schemeClr val="tx1"/>
              </a:solidFill>
              <a:miter lim="800000"/>
              <a:headEnd/>
              <a:tailEnd/>
            </a:ln>
          </p:spPr>
          <p:txBody>
            <a:bodyPr wrap="none" anchor="ctr"/>
            <a:lstStyle/>
            <a:p>
              <a:endParaRPr lang="en-US"/>
            </a:p>
          </p:txBody>
        </p:sp>
        <p:sp>
          <p:nvSpPr>
            <p:cNvPr id="31749" name="Text Box 5"/>
            <p:cNvSpPr txBox="1">
              <a:spLocks noChangeArrowheads="1"/>
            </p:cNvSpPr>
            <p:nvPr/>
          </p:nvSpPr>
          <p:spPr bwMode="auto">
            <a:xfrm>
              <a:off x="854" y="1793"/>
              <a:ext cx="4148" cy="256"/>
            </a:xfrm>
            <a:prstGeom prst="rect">
              <a:avLst/>
            </a:prstGeom>
            <a:noFill/>
            <a:ln w="28575">
              <a:solidFill>
                <a:srgbClr val="3399FF"/>
              </a:solidFill>
              <a:miter lim="800000"/>
              <a:headEnd/>
              <a:tailEnd/>
            </a:ln>
          </p:spPr>
          <p:txBody>
            <a:bodyPr>
              <a:spAutoFit/>
            </a:bodyPr>
            <a:lstStyle/>
            <a:p>
              <a:r>
                <a:rPr lang="en-US"/>
                <a:t>                                    </a:t>
              </a:r>
              <a:r>
                <a:rPr lang="en-US">
                  <a:solidFill>
                    <a:schemeClr val="tx1"/>
                  </a:solidFill>
                </a:rPr>
                <a:t>Globus Manager</a:t>
              </a:r>
            </a:p>
          </p:txBody>
        </p:sp>
        <p:sp>
          <p:nvSpPr>
            <p:cNvPr id="31750" name="Text Box 6"/>
            <p:cNvSpPr txBox="1">
              <a:spLocks noChangeArrowheads="1"/>
            </p:cNvSpPr>
            <p:nvPr/>
          </p:nvSpPr>
          <p:spPr bwMode="auto">
            <a:xfrm>
              <a:off x="862" y="2217"/>
              <a:ext cx="4148" cy="256"/>
            </a:xfrm>
            <a:prstGeom prst="rect">
              <a:avLst/>
            </a:prstGeom>
            <a:noFill/>
            <a:ln w="28575">
              <a:solidFill>
                <a:srgbClr val="3399FF"/>
              </a:solidFill>
              <a:miter lim="800000"/>
              <a:headEnd/>
              <a:tailEnd/>
            </a:ln>
          </p:spPr>
          <p:txBody>
            <a:bodyPr>
              <a:spAutoFit/>
            </a:bodyPr>
            <a:lstStyle/>
            <a:p>
              <a:r>
                <a:rPr lang="en-US"/>
                <a:t>                                   </a:t>
              </a:r>
              <a:r>
                <a:rPr lang="en-US">
                  <a:solidFill>
                    <a:schemeClr val="tx1"/>
                  </a:solidFill>
                </a:rPr>
                <a:t>Request Manager</a:t>
              </a:r>
            </a:p>
          </p:txBody>
        </p:sp>
        <p:sp>
          <p:nvSpPr>
            <p:cNvPr id="31751" name="Text Box 7"/>
            <p:cNvSpPr txBox="1">
              <a:spLocks noChangeArrowheads="1"/>
            </p:cNvSpPr>
            <p:nvPr/>
          </p:nvSpPr>
          <p:spPr bwMode="auto">
            <a:xfrm>
              <a:off x="870" y="2641"/>
              <a:ext cx="4148" cy="256"/>
            </a:xfrm>
            <a:prstGeom prst="rect">
              <a:avLst/>
            </a:prstGeom>
            <a:noFill/>
            <a:ln w="28575">
              <a:solidFill>
                <a:srgbClr val="3399FF"/>
              </a:solidFill>
              <a:miter lim="800000"/>
              <a:headEnd/>
              <a:tailEnd/>
            </a:ln>
          </p:spPr>
          <p:txBody>
            <a:bodyPr>
              <a:spAutoFit/>
            </a:bodyPr>
            <a:lstStyle/>
            <a:p>
              <a:r>
                <a:rPr lang="en-US">
                  <a:solidFill>
                    <a:schemeClr val="tx1"/>
                  </a:solidFill>
                </a:rPr>
                <a:t>                                     Enquiry Manager</a:t>
              </a:r>
            </a:p>
          </p:txBody>
        </p:sp>
        <p:sp>
          <p:nvSpPr>
            <p:cNvPr id="31752" name="Text Box 8"/>
            <p:cNvSpPr txBox="1">
              <a:spLocks noChangeArrowheads="1"/>
            </p:cNvSpPr>
            <p:nvPr/>
          </p:nvSpPr>
          <p:spPr bwMode="auto">
            <a:xfrm>
              <a:off x="1542" y="2937"/>
              <a:ext cx="3027" cy="250"/>
            </a:xfrm>
            <a:prstGeom prst="rect">
              <a:avLst/>
            </a:prstGeom>
            <a:noFill/>
            <a:ln w="9525">
              <a:noFill/>
              <a:miter lim="800000"/>
              <a:headEnd/>
              <a:tailEnd/>
            </a:ln>
          </p:spPr>
          <p:txBody>
            <a:bodyPr>
              <a:spAutoFit/>
            </a:bodyPr>
            <a:lstStyle/>
            <a:p>
              <a:r>
                <a:rPr lang="en-US">
                  <a:solidFill>
                    <a:srgbClr val="6DD5FF"/>
                  </a:solidFill>
                </a:rPr>
                <a:t>               </a:t>
              </a:r>
              <a:r>
                <a:rPr lang="en-US">
                  <a:solidFill>
                    <a:schemeClr val="tx1"/>
                  </a:solidFill>
                </a:rPr>
                <a:t>OPEN FINANCIAL SERVICE</a:t>
              </a:r>
            </a:p>
          </p:txBody>
        </p:sp>
        <p:sp>
          <p:nvSpPr>
            <p:cNvPr id="31753" name="Text Box 9"/>
            <p:cNvSpPr txBox="1">
              <a:spLocks noChangeArrowheads="1"/>
            </p:cNvSpPr>
            <p:nvPr/>
          </p:nvSpPr>
          <p:spPr bwMode="auto">
            <a:xfrm>
              <a:off x="808" y="3256"/>
              <a:ext cx="4360" cy="250"/>
            </a:xfrm>
            <a:prstGeom prst="rect">
              <a:avLst/>
            </a:prstGeom>
            <a:noFill/>
            <a:ln w="9525">
              <a:noFill/>
              <a:miter lim="800000"/>
              <a:headEnd/>
              <a:tailEnd/>
            </a:ln>
          </p:spPr>
          <p:txBody>
            <a:bodyPr>
              <a:spAutoFit/>
            </a:bodyPr>
            <a:lstStyle/>
            <a:p>
              <a:pPr>
                <a:spcBef>
                  <a:spcPct val="50000"/>
                </a:spcBef>
              </a:pPr>
              <a:r>
                <a:rPr lang="en-US"/>
                <a:t>                       </a:t>
              </a:r>
              <a:r>
                <a:rPr lang="en-US">
                  <a:solidFill>
                    <a:srgbClr val="6DD5FF"/>
                  </a:solidFill>
                </a:rPr>
                <a:t>   </a:t>
              </a:r>
              <a:r>
                <a:rPr lang="en-US">
                  <a:solidFill>
                    <a:schemeClr val="tx1"/>
                  </a:solidFill>
                </a:rPr>
                <a:t>Applications/versions,Enquires</a:t>
              </a:r>
            </a:p>
          </p:txBody>
        </p:sp>
        <p:sp>
          <p:nvSpPr>
            <p:cNvPr id="31754" name="Text Box 10"/>
            <p:cNvSpPr txBox="1">
              <a:spLocks noChangeArrowheads="1"/>
            </p:cNvSpPr>
            <p:nvPr/>
          </p:nvSpPr>
          <p:spPr bwMode="auto">
            <a:xfrm>
              <a:off x="944" y="3600"/>
              <a:ext cx="4288" cy="250"/>
            </a:xfrm>
            <a:prstGeom prst="rect">
              <a:avLst/>
            </a:prstGeom>
            <a:noFill/>
            <a:ln w="9525">
              <a:noFill/>
              <a:miter lim="800000"/>
              <a:headEnd/>
              <a:tailEnd/>
            </a:ln>
          </p:spPr>
          <p:txBody>
            <a:bodyPr>
              <a:spAutoFit/>
            </a:bodyPr>
            <a:lstStyle/>
            <a:p>
              <a:pPr>
                <a:spcBef>
                  <a:spcPct val="50000"/>
                </a:spcBef>
              </a:pPr>
              <a:r>
                <a:rPr lang="en-US">
                  <a:solidFill>
                    <a:schemeClr val="tx1"/>
                  </a:solidFill>
                </a:rPr>
                <a:t>                                           T24 Database</a:t>
              </a:r>
            </a:p>
          </p:txBody>
        </p:sp>
        <p:sp>
          <p:nvSpPr>
            <p:cNvPr id="31755" name="Text Box 11"/>
            <p:cNvSpPr txBox="1">
              <a:spLocks noChangeArrowheads="1"/>
            </p:cNvSpPr>
            <p:nvPr/>
          </p:nvSpPr>
          <p:spPr bwMode="auto">
            <a:xfrm>
              <a:off x="1374" y="1081"/>
              <a:ext cx="3436" cy="250"/>
            </a:xfrm>
            <a:prstGeom prst="rect">
              <a:avLst/>
            </a:prstGeom>
            <a:noFill/>
            <a:ln w="9525">
              <a:noFill/>
              <a:miter lim="800000"/>
              <a:headEnd/>
              <a:tailEnd/>
            </a:ln>
          </p:spPr>
          <p:txBody>
            <a:bodyPr>
              <a:spAutoFit/>
            </a:bodyPr>
            <a:lstStyle/>
            <a:p>
              <a:r>
                <a:rPr lang="en-US">
                  <a:solidFill>
                    <a:srgbClr val="96D8F3"/>
                  </a:solidFill>
                </a:rPr>
                <a:t>                                   </a:t>
              </a:r>
              <a:r>
                <a:rPr lang="en-US">
                  <a:solidFill>
                    <a:schemeClr val="tx1"/>
                  </a:solidFill>
                </a:rPr>
                <a:t>FILES</a:t>
              </a:r>
            </a:p>
          </p:txBody>
        </p:sp>
        <p:sp>
          <p:nvSpPr>
            <p:cNvPr id="31756" name="Line 12"/>
            <p:cNvSpPr>
              <a:spLocks noChangeShapeType="1"/>
            </p:cNvSpPr>
            <p:nvPr/>
          </p:nvSpPr>
          <p:spPr bwMode="auto">
            <a:xfrm>
              <a:off x="3016" y="1280"/>
              <a:ext cx="0" cy="272"/>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t>BATCH MODE </a:t>
            </a:r>
          </a:p>
        </p:txBody>
      </p:sp>
      <p:sp>
        <p:nvSpPr>
          <p:cNvPr id="32771" name="Rectangle 3"/>
          <p:cNvSpPr>
            <a:spLocks noGrp="1" noChangeArrowheads="1"/>
          </p:cNvSpPr>
          <p:nvPr>
            <p:ph type="body" idx="1"/>
          </p:nvPr>
        </p:nvSpPr>
        <p:spPr>
          <a:xfrm>
            <a:off x="992188" y="1592263"/>
            <a:ext cx="7874000" cy="4337050"/>
          </a:xfrm>
        </p:spPr>
        <p:txBody>
          <a:bodyPr/>
          <a:lstStyle/>
          <a:p>
            <a:pPr eaLnBrk="1" hangingPunct="1"/>
            <a:r>
              <a:rPr lang="en-US" smtClean="0"/>
              <a:t>Files contain Batch of data</a:t>
            </a:r>
          </a:p>
          <a:p>
            <a:pPr eaLnBrk="1" hangingPunct="1"/>
            <a:r>
              <a:rPr lang="en-US" smtClean="0"/>
              <a:t>In case of Offline processing messages are picked up from queue files</a:t>
            </a:r>
          </a:p>
          <a:p>
            <a:pPr eaLnBrk="1" hangingPunct="1"/>
            <a:r>
              <a:rPr lang="en-US" smtClean="0"/>
              <a:t>In OFS Batch mode the OFS Queue manager runs the phantom process</a:t>
            </a:r>
          </a:p>
          <a:p>
            <a:pPr eaLnBrk="1" hangingPunct="1"/>
            <a:r>
              <a:rPr lang="en-US" smtClean="0"/>
              <a:t>Batch mode is controlled by both OFS.SOURCE and EB.PHANTOM</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t>ONLINE MODE</a:t>
            </a:r>
          </a:p>
        </p:txBody>
      </p:sp>
      <p:grpSp>
        <p:nvGrpSpPr>
          <p:cNvPr id="33795" name="Group 14"/>
          <p:cNvGrpSpPr>
            <a:grpSpLocks/>
          </p:cNvGrpSpPr>
          <p:nvPr/>
        </p:nvGrpSpPr>
        <p:grpSpPr bwMode="auto">
          <a:xfrm>
            <a:off x="1182688" y="1397000"/>
            <a:ext cx="7200900" cy="4395788"/>
            <a:chOff x="699" y="880"/>
            <a:chExt cx="4536" cy="2769"/>
          </a:xfrm>
        </p:grpSpPr>
        <p:sp>
          <p:nvSpPr>
            <p:cNvPr id="33796" name="Rectangle 4"/>
            <p:cNvSpPr>
              <a:spLocks noChangeArrowheads="1"/>
            </p:cNvSpPr>
            <p:nvPr/>
          </p:nvSpPr>
          <p:spPr bwMode="auto">
            <a:xfrm>
              <a:off x="699" y="1335"/>
              <a:ext cx="4536" cy="1640"/>
            </a:xfrm>
            <a:prstGeom prst="rect">
              <a:avLst/>
            </a:prstGeom>
            <a:noFill/>
            <a:ln w="9525">
              <a:solidFill>
                <a:schemeClr val="tx1"/>
              </a:solidFill>
              <a:miter lim="800000"/>
              <a:headEnd/>
              <a:tailEnd/>
            </a:ln>
          </p:spPr>
          <p:txBody>
            <a:bodyPr wrap="none" anchor="ctr"/>
            <a:lstStyle/>
            <a:p>
              <a:endParaRPr lang="en-US"/>
            </a:p>
          </p:txBody>
        </p:sp>
        <p:sp>
          <p:nvSpPr>
            <p:cNvPr id="33797" name="Text Box 5"/>
            <p:cNvSpPr txBox="1">
              <a:spLocks noChangeArrowheads="1"/>
            </p:cNvSpPr>
            <p:nvPr/>
          </p:nvSpPr>
          <p:spPr bwMode="auto">
            <a:xfrm>
              <a:off x="809" y="1592"/>
              <a:ext cx="4148" cy="256"/>
            </a:xfrm>
            <a:prstGeom prst="rect">
              <a:avLst/>
            </a:prstGeom>
            <a:noFill/>
            <a:ln w="28575">
              <a:solidFill>
                <a:srgbClr val="3399FF"/>
              </a:solidFill>
              <a:miter lim="800000"/>
              <a:headEnd/>
              <a:tailEnd/>
            </a:ln>
          </p:spPr>
          <p:txBody>
            <a:bodyPr>
              <a:spAutoFit/>
            </a:bodyPr>
            <a:lstStyle/>
            <a:p>
              <a:r>
                <a:rPr lang="en-US">
                  <a:solidFill>
                    <a:schemeClr val="tx1"/>
                  </a:solidFill>
                </a:rPr>
                <a:t>                                    Globus Manager</a:t>
              </a:r>
            </a:p>
          </p:txBody>
        </p:sp>
        <p:sp>
          <p:nvSpPr>
            <p:cNvPr id="33798" name="Text Box 6"/>
            <p:cNvSpPr txBox="1">
              <a:spLocks noChangeArrowheads="1"/>
            </p:cNvSpPr>
            <p:nvPr/>
          </p:nvSpPr>
          <p:spPr bwMode="auto">
            <a:xfrm>
              <a:off x="817" y="2016"/>
              <a:ext cx="4148" cy="256"/>
            </a:xfrm>
            <a:prstGeom prst="rect">
              <a:avLst/>
            </a:prstGeom>
            <a:noFill/>
            <a:ln w="28575">
              <a:solidFill>
                <a:srgbClr val="3399FF"/>
              </a:solidFill>
              <a:miter lim="800000"/>
              <a:headEnd/>
              <a:tailEnd/>
            </a:ln>
          </p:spPr>
          <p:txBody>
            <a:bodyPr>
              <a:spAutoFit/>
            </a:bodyPr>
            <a:lstStyle/>
            <a:p>
              <a:r>
                <a:rPr lang="en-US">
                  <a:solidFill>
                    <a:schemeClr val="tx1"/>
                  </a:solidFill>
                </a:rPr>
                <a:t>                                   Request Manager</a:t>
              </a:r>
            </a:p>
          </p:txBody>
        </p:sp>
        <p:sp>
          <p:nvSpPr>
            <p:cNvPr id="33799" name="Text Box 7"/>
            <p:cNvSpPr txBox="1">
              <a:spLocks noChangeArrowheads="1"/>
            </p:cNvSpPr>
            <p:nvPr/>
          </p:nvSpPr>
          <p:spPr bwMode="auto">
            <a:xfrm>
              <a:off x="825" y="2440"/>
              <a:ext cx="4148" cy="256"/>
            </a:xfrm>
            <a:prstGeom prst="rect">
              <a:avLst/>
            </a:prstGeom>
            <a:noFill/>
            <a:ln w="28575">
              <a:solidFill>
                <a:srgbClr val="3399FF"/>
              </a:solidFill>
              <a:miter lim="800000"/>
              <a:headEnd/>
              <a:tailEnd/>
            </a:ln>
          </p:spPr>
          <p:txBody>
            <a:bodyPr>
              <a:spAutoFit/>
            </a:bodyPr>
            <a:lstStyle/>
            <a:p>
              <a:r>
                <a:rPr lang="en-US"/>
                <a:t>                                     </a:t>
              </a:r>
              <a:r>
                <a:rPr lang="en-US">
                  <a:solidFill>
                    <a:schemeClr val="tx1"/>
                  </a:solidFill>
                </a:rPr>
                <a:t>Enquiry Manager</a:t>
              </a:r>
            </a:p>
          </p:txBody>
        </p:sp>
        <p:sp>
          <p:nvSpPr>
            <p:cNvPr id="33800" name="Text Box 8"/>
            <p:cNvSpPr txBox="1">
              <a:spLocks noChangeArrowheads="1"/>
            </p:cNvSpPr>
            <p:nvPr/>
          </p:nvSpPr>
          <p:spPr bwMode="auto">
            <a:xfrm>
              <a:off x="1497" y="2736"/>
              <a:ext cx="3027" cy="250"/>
            </a:xfrm>
            <a:prstGeom prst="rect">
              <a:avLst/>
            </a:prstGeom>
            <a:noFill/>
            <a:ln w="9525">
              <a:noFill/>
              <a:miter lim="800000"/>
              <a:headEnd/>
              <a:tailEnd/>
            </a:ln>
          </p:spPr>
          <p:txBody>
            <a:bodyPr>
              <a:spAutoFit/>
            </a:bodyPr>
            <a:lstStyle/>
            <a:p>
              <a:r>
                <a:rPr lang="en-US">
                  <a:solidFill>
                    <a:srgbClr val="6DD5FF"/>
                  </a:solidFill>
                </a:rPr>
                <a:t>               </a:t>
              </a:r>
              <a:r>
                <a:rPr lang="en-US">
                  <a:solidFill>
                    <a:schemeClr val="tx1"/>
                  </a:solidFill>
                </a:rPr>
                <a:t>OPEN FINANCIAL SERVICE</a:t>
              </a:r>
            </a:p>
          </p:txBody>
        </p:sp>
        <p:sp>
          <p:nvSpPr>
            <p:cNvPr id="33801" name="Text Box 9"/>
            <p:cNvSpPr txBox="1">
              <a:spLocks noChangeArrowheads="1"/>
            </p:cNvSpPr>
            <p:nvPr/>
          </p:nvSpPr>
          <p:spPr bwMode="auto">
            <a:xfrm>
              <a:off x="763" y="3055"/>
              <a:ext cx="4360" cy="250"/>
            </a:xfrm>
            <a:prstGeom prst="rect">
              <a:avLst/>
            </a:prstGeom>
            <a:noFill/>
            <a:ln w="9525">
              <a:noFill/>
              <a:miter lim="800000"/>
              <a:headEnd/>
              <a:tailEnd/>
            </a:ln>
          </p:spPr>
          <p:txBody>
            <a:bodyPr>
              <a:spAutoFit/>
            </a:bodyPr>
            <a:lstStyle/>
            <a:p>
              <a:pPr>
                <a:spcBef>
                  <a:spcPct val="50000"/>
                </a:spcBef>
              </a:pPr>
              <a:r>
                <a:rPr lang="en-US"/>
                <a:t>                       </a:t>
              </a:r>
              <a:r>
                <a:rPr lang="en-US">
                  <a:solidFill>
                    <a:srgbClr val="6DD5FF"/>
                  </a:solidFill>
                </a:rPr>
                <a:t>   </a:t>
              </a:r>
              <a:r>
                <a:rPr lang="en-US">
                  <a:solidFill>
                    <a:schemeClr val="tx1"/>
                  </a:solidFill>
                </a:rPr>
                <a:t>Applications/versions,Enquires</a:t>
              </a:r>
            </a:p>
          </p:txBody>
        </p:sp>
        <p:sp>
          <p:nvSpPr>
            <p:cNvPr id="33802" name="Text Box 10"/>
            <p:cNvSpPr txBox="1">
              <a:spLocks noChangeArrowheads="1"/>
            </p:cNvSpPr>
            <p:nvPr/>
          </p:nvSpPr>
          <p:spPr bwMode="auto">
            <a:xfrm>
              <a:off x="899" y="3399"/>
              <a:ext cx="4288" cy="250"/>
            </a:xfrm>
            <a:prstGeom prst="rect">
              <a:avLst/>
            </a:prstGeom>
            <a:noFill/>
            <a:ln w="9525">
              <a:noFill/>
              <a:miter lim="800000"/>
              <a:headEnd/>
              <a:tailEnd/>
            </a:ln>
          </p:spPr>
          <p:txBody>
            <a:bodyPr>
              <a:spAutoFit/>
            </a:bodyPr>
            <a:lstStyle/>
            <a:p>
              <a:pPr>
                <a:spcBef>
                  <a:spcPct val="50000"/>
                </a:spcBef>
              </a:pPr>
              <a:r>
                <a:rPr lang="en-US"/>
                <a:t>                                           </a:t>
              </a:r>
              <a:r>
                <a:rPr lang="en-US">
                  <a:solidFill>
                    <a:schemeClr val="tx1"/>
                  </a:solidFill>
                </a:rPr>
                <a:t>T24 Database</a:t>
              </a:r>
            </a:p>
          </p:txBody>
        </p:sp>
        <p:sp>
          <p:nvSpPr>
            <p:cNvPr id="33803" name="Text Box 11"/>
            <p:cNvSpPr txBox="1">
              <a:spLocks noChangeArrowheads="1"/>
            </p:cNvSpPr>
            <p:nvPr/>
          </p:nvSpPr>
          <p:spPr bwMode="auto">
            <a:xfrm>
              <a:off x="1073" y="880"/>
              <a:ext cx="3436" cy="250"/>
            </a:xfrm>
            <a:prstGeom prst="rect">
              <a:avLst/>
            </a:prstGeom>
            <a:noFill/>
            <a:ln w="9525">
              <a:noFill/>
              <a:miter lim="800000"/>
              <a:headEnd/>
              <a:tailEnd/>
            </a:ln>
          </p:spPr>
          <p:txBody>
            <a:bodyPr>
              <a:spAutoFit/>
            </a:bodyPr>
            <a:lstStyle/>
            <a:p>
              <a:r>
                <a:rPr lang="en-US">
                  <a:solidFill>
                    <a:schemeClr val="tx1"/>
                  </a:solidFill>
                </a:rPr>
                <a:t>                                   MESSAGES</a:t>
              </a:r>
            </a:p>
          </p:txBody>
        </p:sp>
        <p:sp>
          <p:nvSpPr>
            <p:cNvPr id="33804" name="Line 12"/>
            <p:cNvSpPr>
              <a:spLocks noChangeShapeType="1"/>
            </p:cNvSpPr>
            <p:nvPr/>
          </p:nvSpPr>
          <p:spPr bwMode="auto">
            <a:xfrm>
              <a:off x="2971" y="1079"/>
              <a:ext cx="0" cy="272"/>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t>ONLINE MODE</a:t>
            </a:r>
          </a:p>
        </p:txBody>
      </p:sp>
      <p:sp>
        <p:nvSpPr>
          <p:cNvPr id="34819" name="Rectangle 3"/>
          <p:cNvSpPr>
            <a:spLocks noGrp="1" noChangeArrowheads="1"/>
          </p:cNvSpPr>
          <p:nvPr>
            <p:ph type="body" idx="1"/>
          </p:nvPr>
        </p:nvSpPr>
        <p:spPr>
          <a:xfrm>
            <a:off x="992188" y="1592263"/>
            <a:ext cx="7874000" cy="4337050"/>
          </a:xfrm>
        </p:spPr>
        <p:txBody>
          <a:bodyPr/>
          <a:lstStyle/>
          <a:p>
            <a:pPr eaLnBrk="1" hangingPunct="1"/>
            <a:r>
              <a:rPr lang="en-US" smtClean="0"/>
              <a:t>OFS online mode allow real time update to Temenos 24 via a live TELNET</a:t>
            </a:r>
          </a:p>
          <a:p>
            <a:pPr eaLnBrk="1" hangingPunct="1"/>
            <a:r>
              <a:rPr lang="en-US" smtClean="0"/>
              <a:t>Messages are accepted and processed individually</a:t>
            </a:r>
          </a:p>
          <a:p>
            <a:pPr eaLnBrk="1" hangingPunct="1"/>
            <a:r>
              <a:rPr lang="en-US" smtClean="0"/>
              <a:t>When OFS is set  to work in online mode, the program EB.AUTO.INIT.PROCESS is executed upon login</a:t>
            </a:r>
          </a:p>
          <a:p>
            <a:pPr eaLnBrk="1" hangingPunct="1"/>
            <a:r>
              <a:rPr lang="en-US" smtClean="0"/>
              <a:t>When EB.AUTO.INIT.PROCESS is launched it looks for a record on the EB.AUTO.PROCESS file with an id equal to the UNIX / Windows login id of  the user logging in.</a:t>
            </a:r>
          </a:p>
          <a:p>
            <a:pPr eaLnBrk="1" hangingPunct="1">
              <a:buFont typeface="Wingdings 3" pitchFamily="18" charset="2"/>
              <a:buNone/>
            </a:pPr>
            <a:endParaRPr lang="en-US"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smtClean="0"/>
              <a:t>GLOBUS MODE</a:t>
            </a:r>
          </a:p>
        </p:txBody>
      </p:sp>
      <p:grpSp>
        <p:nvGrpSpPr>
          <p:cNvPr id="35843" name="Group 13"/>
          <p:cNvGrpSpPr>
            <a:grpSpLocks/>
          </p:cNvGrpSpPr>
          <p:nvPr/>
        </p:nvGrpSpPr>
        <p:grpSpPr bwMode="auto">
          <a:xfrm>
            <a:off x="1166813" y="1487488"/>
            <a:ext cx="7200900" cy="3825875"/>
            <a:chOff x="744" y="1440"/>
            <a:chExt cx="4536" cy="2410"/>
          </a:xfrm>
        </p:grpSpPr>
        <p:sp>
          <p:nvSpPr>
            <p:cNvPr id="35844" name="Rectangle 4"/>
            <p:cNvSpPr>
              <a:spLocks noChangeArrowheads="1"/>
            </p:cNvSpPr>
            <p:nvPr/>
          </p:nvSpPr>
          <p:spPr bwMode="auto">
            <a:xfrm>
              <a:off x="744" y="1440"/>
              <a:ext cx="4536" cy="1736"/>
            </a:xfrm>
            <a:prstGeom prst="rect">
              <a:avLst/>
            </a:prstGeom>
            <a:noFill/>
            <a:ln w="9525">
              <a:solidFill>
                <a:schemeClr val="tx1"/>
              </a:solidFill>
              <a:miter lim="800000"/>
              <a:headEnd/>
              <a:tailEnd/>
            </a:ln>
          </p:spPr>
          <p:txBody>
            <a:bodyPr wrap="none" anchor="ctr"/>
            <a:lstStyle/>
            <a:p>
              <a:endParaRPr lang="en-US"/>
            </a:p>
          </p:txBody>
        </p:sp>
        <p:sp>
          <p:nvSpPr>
            <p:cNvPr id="35845" name="Text Box 5"/>
            <p:cNvSpPr txBox="1">
              <a:spLocks noChangeArrowheads="1"/>
            </p:cNvSpPr>
            <p:nvPr/>
          </p:nvSpPr>
          <p:spPr bwMode="auto">
            <a:xfrm>
              <a:off x="854" y="1793"/>
              <a:ext cx="4148" cy="256"/>
            </a:xfrm>
            <a:prstGeom prst="rect">
              <a:avLst/>
            </a:prstGeom>
            <a:noFill/>
            <a:ln w="28575">
              <a:solidFill>
                <a:srgbClr val="3399FF"/>
              </a:solidFill>
              <a:miter lim="800000"/>
              <a:headEnd/>
              <a:tailEnd/>
            </a:ln>
          </p:spPr>
          <p:txBody>
            <a:bodyPr>
              <a:spAutoFit/>
            </a:bodyPr>
            <a:lstStyle/>
            <a:p>
              <a:r>
                <a:rPr lang="en-US">
                  <a:solidFill>
                    <a:schemeClr val="tx1"/>
                  </a:solidFill>
                </a:rPr>
                <a:t>                                    Globus Manager</a:t>
              </a:r>
            </a:p>
          </p:txBody>
        </p:sp>
        <p:sp>
          <p:nvSpPr>
            <p:cNvPr id="35846" name="Text Box 6"/>
            <p:cNvSpPr txBox="1">
              <a:spLocks noChangeArrowheads="1"/>
            </p:cNvSpPr>
            <p:nvPr/>
          </p:nvSpPr>
          <p:spPr bwMode="auto">
            <a:xfrm>
              <a:off x="862" y="2217"/>
              <a:ext cx="4148" cy="256"/>
            </a:xfrm>
            <a:prstGeom prst="rect">
              <a:avLst/>
            </a:prstGeom>
            <a:noFill/>
            <a:ln w="28575">
              <a:solidFill>
                <a:srgbClr val="3399FF"/>
              </a:solidFill>
              <a:miter lim="800000"/>
              <a:headEnd/>
              <a:tailEnd/>
            </a:ln>
          </p:spPr>
          <p:txBody>
            <a:bodyPr>
              <a:spAutoFit/>
            </a:bodyPr>
            <a:lstStyle/>
            <a:p>
              <a:r>
                <a:rPr lang="en-US">
                  <a:solidFill>
                    <a:schemeClr val="tx1"/>
                  </a:solidFill>
                </a:rPr>
                <a:t>                                   Request Manager</a:t>
              </a:r>
            </a:p>
          </p:txBody>
        </p:sp>
        <p:sp>
          <p:nvSpPr>
            <p:cNvPr id="35847" name="Text Box 7"/>
            <p:cNvSpPr txBox="1">
              <a:spLocks noChangeArrowheads="1"/>
            </p:cNvSpPr>
            <p:nvPr/>
          </p:nvSpPr>
          <p:spPr bwMode="auto">
            <a:xfrm>
              <a:off x="870" y="2641"/>
              <a:ext cx="4148" cy="256"/>
            </a:xfrm>
            <a:prstGeom prst="rect">
              <a:avLst/>
            </a:prstGeom>
            <a:noFill/>
            <a:ln w="28575">
              <a:solidFill>
                <a:srgbClr val="3399FF"/>
              </a:solidFill>
              <a:miter lim="800000"/>
              <a:headEnd/>
              <a:tailEnd/>
            </a:ln>
          </p:spPr>
          <p:txBody>
            <a:bodyPr>
              <a:spAutoFit/>
            </a:bodyPr>
            <a:lstStyle/>
            <a:p>
              <a:r>
                <a:rPr lang="en-US">
                  <a:solidFill>
                    <a:schemeClr val="tx1"/>
                  </a:solidFill>
                </a:rPr>
                <a:t>                                     Enquiry Manager</a:t>
              </a:r>
            </a:p>
          </p:txBody>
        </p:sp>
        <p:sp>
          <p:nvSpPr>
            <p:cNvPr id="35848" name="Text Box 8"/>
            <p:cNvSpPr txBox="1">
              <a:spLocks noChangeArrowheads="1"/>
            </p:cNvSpPr>
            <p:nvPr/>
          </p:nvSpPr>
          <p:spPr bwMode="auto">
            <a:xfrm>
              <a:off x="1542" y="2937"/>
              <a:ext cx="3027" cy="250"/>
            </a:xfrm>
            <a:prstGeom prst="rect">
              <a:avLst/>
            </a:prstGeom>
            <a:noFill/>
            <a:ln w="9525">
              <a:noFill/>
              <a:miter lim="800000"/>
              <a:headEnd/>
              <a:tailEnd/>
            </a:ln>
          </p:spPr>
          <p:txBody>
            <a:bodyPr>
              <a:spAutoFit/>
            </a:bodyPr>
            <a:lstStyle/>
            <a:p>
              <a:r>
                <a:rPr lang="en-US">
                  <a:solidFill>
                    <a:schemeClr val="tx1"/>
                  </a:solidFill>
                </a:rPr>
                <a:t>               OPEN FINANCIAL SERVICE</a:t>
              </a:r>
            </a:p>
          </p:txBody>
        </p:sp>
        <p:sp>
          <p:nvSpPr>
            <p:cNvPr id="35849" name="Text Box 9"/>
            <p:cNvSpPr txBox="1">
              <a:spLocks noChangeArrowheads="1"/>
            </p:cNvSpPr>
            <p:nvPr/>
          </p:nvSpPr>
          <p:spPr bwMode="auto">
            <a:xfrm>
              <a:off x="808" y="3256"/>
              <a:ext cx="4360" cy="250"/>
            </a:xfrm>
            <a:prstGeom prst="rect">
              <a:avLst/>
            </a:prstGeom>
            <a:noFill/>
            <a:ln w="9525">
              <a:noFill/>
              <a:miter lim="800000"/>
              <a:headEnd/>
              <a:tailEnd/>
            </a:ln>
          </p:spPr>
          <p:txBody>
            <a:bodyPr>
              <a:spAutoFit/>
            </a:bodyPr>
            <a:lstStyle/>
            <a:p>
              <a:pPr>
                <a:spcBef>
                  <a:spcPct val="50000"/>
                </a:spcBef>
              </a:pPr>
              <a:r>
                <a:rPr lang="en-US">
                  <a:solidFill>
                    <a:schemeClr val="tx1"/>
                  </a:solidFill>
                </a:rPr>
                <a:t>                          Applications/versions,Enquires</a:t>
              </a:r>
            </a:p>
          </p:txBody>
        </p:sp>
        <p:sp>
          <p:nvSpPr>
            <p:cNvPr id="35850" name="Text Box 10"/>
            <p:cNvSpPr txBox="1">
              <a:spLocks noChangeArrowheads="1"/>
            </p:cNvSpPr>
            <p:nvPr/>
          </p:nvSpPr>
          <p:spPr bwMode="auto">
            <a:xfrm>
              <a:off x="944" y="3600"/>
              <a:ext cx="4288" cy="250"/>
            </a:xfrm>
            <a:prstGeom prst="rect">
              <a:avLst/>
            </a:prstGeom>
            <a:noFill/>
            <a:ln w="9525">
              <a:noFill/>
              <a:miter lim="800000"/>
              <a:headEnd/>
              <a:tailEnd/>
            </a:ln>
          </p:spPr>
          <p:txBody>
            <a:bodyPr>
              <a:spAutoFit/>
            </a:bodyPr>
            <a:lstStyle/>
            <a:p>
              <a:pPr>
                <a:spcBef>
                  <a:spcPct val="50000"/>
                </a:spcBef>
              </a:pPr>
              <a:r>
                <a:rPr lang="en-US">
                  <a:solidFill>
                    <a:schemeClr val="tx1"/>
                  </a:solidFill>
                </a:rPr>
                <a:t>                                           T24 Database</a:t>
              </a:r>
            </a:p>
          </p:txBody>
        </p:sp>
        <p:sp>
          <p:nvSpPr>
            <p:cNvPr id="35851" name="Text Box 11"/>
            <p:cNvSpPr txBox="1">
              <a:spLocks noChangeArrowheads="1"/>
            </p:cNvSpPr>
            <p:nvPr/>
          </p:nvSpPr>
          <p:spPr bwMode="auto">
            <a:xfrm>
              <a:off x="846" y="1505"/>
              <a:ext cx="4276" cy="250"/>
            </a:xfrm>
            <a:prstGeom prst="rect">
              <a:avLst/>
            </a:prstGeom>
            <a:noFill/>
            <a:ln w="9525">
              <a:noFill/>
              <a:miter lim="800000"/>
              <a:headEnd/>
              <a:tailEnd/>
            </a:ln>
          </p:spPr>
          <p:txBody>
            <a:bodyPr>
              <a:spAutoFit/>
            </a:bodyPr>
            <a:lstStyle/>
            <a:p>
              <a:r>
                <a:rPr lang="en-US">
                  <a:solidFill>
                    <a:srgbClr val="96D8F3"/>
                  </a:solidFill>
                </a:rPr>
                <a:t>   </a:t>
              </a:r>
              <a:r>
                <a:rPr lang="en-US">
                  <a:solidFill>
                    <a:schemeClr val="tx1"/>
                  </a:solidFill>
                </a:rPr>
                <a:t>MESSAGES FROM T24 APPLICATION/ROUTINES</a:t>
              </a: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GLOBUS MODE</a:t>
            </a:r>
          </a:p>
        </p:txBody>
      </p:sp>
      <p:sp>
        <p:nvSpPr>
          <p:cNvPr id="36867" name="Rectangle 3"/>
          <p:cNvSpPr>
            <a:spLocks noGrp="1" noChangeArrowheads="1"/>
          </p:cNvSpPr>
          <p:nvPr>
            <p:ph type="body" idx="1"/>
          </p:nvPr>
        </p:nvSpPr>
        <p:spPr>
          <a:xfrm>
            <a:off x="992188" y="1592263"/>
            <a:ext cx="7874000" cy="4337050"/>
          </a:xfrm>
        </p:spPr>
        <p:txBody>
          <a:bodyPr/>
          <a:lstStyle/>
          <a:p>
            <a:pPr eaLnBrk="1" hangingPunct="1"/>
            <a:r>
              <a:rPr lang="en-US" smtClean="0"/>
              <a:t>To setup Globus mode an OFS.SOURCE record has to be created</a:t>
            </a:r>
          </a:p>
          <a:p>
            <a:pPr eaLnBrk="1" hangingPunct="1"/>
            <a:r>
              <a:rPr lang="en-US" smtClean="0"/>
              <a:t>Globus mode does not make use of phantom</a:t>
            </a:r>
          </a:p>
          <a:p>
            <a:pPr eaLnBrk="1" hangingPunct="1"/>
            <a:r>
              <a:rPr lang="en-US" smtClean="0"/>
              <a:t>Request and responses are shared using subroutine call</a:t>
            </a:r>
          </a:p>
          <a:p>
            <a:pPr eaLnBrk="1" hangingPunct="1"/>
            <a:r>
              <a:rPr lang="en-US" smtClean="0"/>
              <a:t>For releases T24 and below, this call can be made from a version/version control subroutine or an application if you are building the application or from a custom-built T24 routine</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smtClean="0"/>
              <a:t>GLOBUS MODE</a:t>
            </a:r>
          </a:p>
        </p:txBody>
      </p:sp>
      <p:sp>
        <p:nvSpPr>
          <p:cNvPr id="37891" name="Rectangle 3"/>
          <p:cNvSpPr>
            <a:spLocks noGrp="1" noChangeArrowheads="1"/>
          </p:cNvSpPr>
          <p:nvPr>
            <p:ph type="body" idx="1"/>
          </p:nvPr>
        </p:nvSpPr>
        <p:spPr>
          <a:xfrm>
            <a:off x="992188" y="1592263"/>
            <a:ext cx="7874000" cy="4337050"/>
          </a:xfrm>
        </p:spPr>
        <p:txBody>
          <a:bodyPr/>
          <a:lstStyle/>
          <a:p>
            <a:pPr eaLnBrk="1" hangingPunct="1"/>
            <a:r>
              <a:rPr lang="en-US" smtClean="0"/>
              <a:t>From TEMENOS T24 R5 release onward, OFS.GLOBUS.MANAGER routine cannot be called from a VERSION / VERSION.CONTROL routine</a:t>
            </a:r>
          </a:p>
          <a:p>
            <a:pPr eaLnBrk="1" hangingPunct="1"/>
            <a:r>
              <a:rPr lang="en-US" smtClean="0"/>
              <a:t>A check has been made in EB.CALL.API to prevent this call, with a view to ensure integrity of the updates</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solidFill>
                  <a:schemeClr val="bg1"/>
                </a:solidFill>
              </a:rPr>
              <a:t>Applications in OFS</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smtClean="0"/>
              <a:t>Applications in OFS</a:t>
            </a:r>
          </a:p>
        </p:txBody>
      </p:sp>
      <p:sp>
        <p:nvSpPr>
          <p:cNvPr id="39939" name="Rectangle 3"/>
          <p:cNvSpPr>
            <a:spLocks noGrp="1" noChangeArrowheads="1"/>
          </p:cNvSpPr>
          <p:nvPr>
            <p:ph type="body" idx="1"/>
          </p:nvPr>
        </p:nvSpPr>
        <p:spPr>
          <a:xfrm>
            <a:off x="992188" y="1592263"/>
            <a:ext cx="7874000" cy="4337050"/>
          </a:xfrm>
        </p:spPr>
        <p:txBody>
          <a:bodyPr/>
          <a:lstStyle/>
          <a:p>
            <a:pPr eaLnBrk="1" hangingPunct="1"/>
            <a:r>
              <a:rPr lang="en-US" smtClean="0"/>
              <a:t>OFS.SOURCE</a:t>
            </a:r>
          </a:p>
          <a:p>
            <a:pPr eaLnBrk="1" hangingPunct="1"/>
            <a:r>
              <a:rPr lang="en-US" smtClean="0"/>
              <a:t>EB.PHANTOM</a:t>
            </a:r>
          </a:p>
          <a:p>
            <a:pPr eaLnBrk="1" hangingPunct="1"/>
            <a:r>
              <a:rPr lang="en-US" smtClean="0"/>
              <a:t>OFS.REQUEST.DETAIL</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smtClean="0"/>
              <a:t>Applications of OFS - OFS.SOURCE</a:t>
            </a:r>
          </a:p>
        </p:txBody>
      </p:sp>
      <p:sp>
        <p:nvSpPr>
          <p:cNvPr id="40963" name="Rectangle 3"/>
          <p:cNvSpPr>
            <a:spLocks noGrp="1" noChangeArrowheads="1"/>
          </p:cNvSpPr>
          <p:nvPr>
            <p:ph type="body" idx="1"/>
          </p:nvPr>
        </p:nvSpPr>
        <p:spPr>
          <a:xfrm>
            <a:off x="992188" y="1592263"/>
            <a:ext cx="7874000" cy="4337050"/>
          </a:xfrm>
        </p:spPr>
        <p:txBody>
          <a:bodyPr/>
          <a:lstStyle/>
          <a:p>
            <a:pPr eaLnBrk="1" hangingPunct="1"/>
            <a:r>
              <a:rPr lang="en-US" smtClean="0"/>
              <a:t>This is required to be set up for OFS processing for TELNET</a:t>
            </a:r>
          </a:p>
          <a:p>
            <a:pPr eaLnBrk="1" hangingPunct="1"/>
            <a:r>
              <a:rPr lang="en-US" smtClean="0"/>
              <a:t>Before passing the message through telnet, we have to ensure whether OFS.SOURCE is set up or not.</a:t>
            </a:r>
          </a:p>
          <a:p>
            <a:pPr eaLnBrk="1" hangingPunct="1"/>
            <a:r>
              <a:rPr lang="en-US" smtClean="0"/>
              <a:t>To set up OFS.SOURCE</a:t>
            </a:r>
          </a:p>
          <a:p>
            <a:pPr lvl="1" eaLnBrk="1" hangingPunct="1"/>
            <a:r>
              <a:rPr lang="en-US" smtClean="0"/>
              <a:t>Open OFS.SOURCE application </a:t>
            </a:r>
          </a:p>
          <a:p>
            <a:pPr lvl="1" eaLnBrk="1" hangingPunct="1"/>
            <a:r>
              <a:rPr lang="en-US" smtClean="0"/>
              <a:t>Create an id in OFS.SOURCE application</a:t>
            </a:r>
          </a:p>
          <a:p>
            <a:pPr lvl="1" eaLnBrk="1" hangingPunct="1"/>
            <a:r>
              <a:rPr lang="en-US" smtClean="0"/>
              <a:t>Fill up all the required fields in the OFS.SOURCE application.</a:t>
            </a:r>
          </a:p>
          <a:p>
            <a:pPr lvl="1" eaLnBrk="1" hangingPunct="1">
              <a:buFont typeface="Trebuchet MS" pitchFamily="34" charset="0"/>
              <a:buNone/>
            </a:pPr>
            <a:endParaRPr lang="en-US" smtClean="0"/>
          </a:p>
          <a:p>
            <a:pPr lvl="1" eaLnBrk="1" hangingPunct="1">
              <a:buFont typeface="Trebuchet MS" pitchFamily="34" charset="0"/>
              <a:buNone/>
            </a:pPr>
            <a:r>
              <a:rPr lang="en-US" smtClean="0"/>
              <a:t>                                                             OFS.SOURCE cont …..</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smtClean="0"/>
              <a:t>OFS.SOURCE – FOR ONLINE</a:t>
            </a:r>
          </a:p>
        </p:txBody>
      </p:sp>
      <p:sp>
        <p:nvSpPr>
          <p:cNvPr id="41987" name="Rectangle 3"/>
          <p:cNvSpPr>
            <a:spLocks noGrp="1" noChangeArrowheads="1"/>
          </p:cNvSpPr>
          <p:nvPr>
            <p:ph type="body" idx="1"/>
          </p:nvPr>
        </p:nvSpPr>
        <p:spPr>
          <a:xfrm>
            <a:off x="992188" y="1592263"/>
            <a:ext cx="7874000" cy="4337050"/>
          </a:xfrm>
        </p:spPr>
        <p:txBody>
          <a:bodyPr/>
          <a:lstStyle/>
          <a:p>
            <a:pPr eaLnBrk="1" hangingPunct="1"/>
            <a:endParaRPr lang="en-US" smtClean="0"/>
          </a:p>
        </p:txBody>
      </p:sp>
      <p:pic>
        <p:nvPicPr>
          <p:cNvPr id="41988" name="Picture 4"/>
          <p:cNvPicPr>
            <a:picLocks noChangeAspect="1" noChangeArrowheads="1"/>
          </p:cNvPicPr>
          <p:nvPr/>
        </p:nvPicPr>
        <p:blipFill>
          <a:blip r:embed="rId3"/>
          <a:srcRect/>
          <a:stretch>
            <a:fillRect/>
          </a:stretch>
        </p:blipFill>
        <p:spPr bwMode="auto">
          <a:xfrm>
            <a:off x="1878013" y="1598613"/>
            <a:ext cx="5864225" cy="4310062"/>
          </a:xfrm>
          <a:prstGeom prst="rect">
            <a:avLst/>
          </a:prstGeom>
          <a:noFill/>
          <a:ln w="19050">
            <a:solidFill>
              <a:schemeClr val="hlink"/>
            </a:solidFill>
            <a:miter lim="800000"/>
            <a:headEnd/>
            <a:tailEnd/>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smtClean="0"/>
              <a:t>OFS.SOURCE – FOR ONLINE</a:t>
            </a:r>
          </a:p>
        </p:txBody>
      </p:sp>
      <p:sp>
        <p:nvSpPr>
          <p:cNvPr id="43011" name="Rectangle 3"/>
          <p:cNvSpPr>
            <a:spLocks noGrp="1" noChangeArrowheads="1"/>
          </p:cNvSpPr>
          <p:nvPr>
            <p:ph type="body" idx="1"/>
          </p:nvPr>
        </p:nvSpPr>
        <p:spPr>
          <a:xfrm>
            <a:off x="992188" y="1592263"/>
            <a:ext cx="7874000" cy="4337050"/>
          </a:xfrm>
        </p:spPr>
        <p:txBody>
          <a:bodyPr/>
          <a:lstStyle/>
          <a:p>
            <a:pPr eaLnBrk="1" hangingPunct="1"/>
            <a:endParaRPr lang="en-US" smtClean="0"/>
          </a:p>
        </p:txBody>
      </p:sp>
      <p:pic>
        <p:nvPicPr>
          <p:cNvPr id="43012" name="Picture 4"/>
          <p:cNvPicPr>
            <a:picLocks noChangeAspect="1" noChangeArrowheads="1"/>
          </p:cNvPicPr>
          <p:nvPr/>
        </p:nvPicPr>
        <p:blipFill>
          <a:blip r:embed="rId2"/>
          <a:srcRect l="2783"/>
          <a:stretch>
            <a:fillRect/>
          </a:stretch>
        </p:blipFill>
        <p:spPr bwMode="auto">
          <a:xfrm>
            <a:off x="1808163" y="1752600"/>
            <a:ext cx="5735637" cy="3975100"/>
          </a:xfrm>
          <a:prstGeom prst="rect">
            <a:avLst/>
          </a:prstGeom>
          <a:noFill/>
          <a:ln w="19050">
            <a:solidFill>
              <a:schemeClr val="hlink"/>
            </a:solidFill>
            <a:miter lim="800000"/>
            <a:headEnd/>
            <a:tailEnd/>
          </a:ln>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smtClean="0"/>
              <a:t>OFS.SOURCE</a:t>
            </a:r>
          </a:p>
        </p:txBody>
      </p:sp>
      <p:sp>
        <p:nvSpPr>
          <p:cNvPr id="44035" name="Rectangle 3"/>
          <p:cNvSpPr>
            <a:spLocks noGrp="1" noChangeArrowheads="1"/>
          </p:cNvSpPr>
          <p:nvPr>
            <p:ph type="body" idx="1"/>
          </p:nvPr>
        </p:nvSpPr>
        <p:spPr>
          <a:xfrm>
            <a:off x="992188" y="1592263"/>
            <a:ext cx="7874000" cy="4337050"/>
          </a:xfrm>
        </p:spPr>
        <p:txBody>
          <a:bodyPr/>
          <a:lstStyle/>
          <a:p>
            <a:pPr eaLnBrk="1" hangingPunct="1">
              <a:lnSpc>
                <a:spcPct val="115000"/>
              </a:lnSpc>
            </a:pPr>
            <a:r>
              <a:rPr lang="en-US" smtClean="0"/>
              <a:t>DESCRIPTION :</a:t>
            </a:r>
          </a:p>
          <a:p>
            <a:pPr lvl="1" eaLnBrk="1" hangingPunct="1">
              <a:lnSpc>
                <a:spcPct val="115000"/>
              </a:lnSpc>
            </a:pPr>
            <a:r>
              <a:rPr lang="en-US" smtClean="0"/>
              <a:t>This is a mandatory input field. </a:t>
            </a:r>
          </a:p>
          <a:p>
            <a:pPr lvl="1" eaLnBrk="1" hangingPunct="1">
              <a:lnSpc>
                <a:spcPct val="115000"/>
              </a:lnSpc>
            </a:pPr>
            <a:r>
              <a:rPr lang="en-US" smtClean="0"/>
              <a:t>Which specifies the description of OFS.SERVICE record defined in this record</a:t>
            </a:r>
          </a:p>
          <a:p>
            <a:pPr eaLnBrk="1" hangingPunct="1">
              <a:lnSpc>
                <a:spcPct val="115000"/>
              </a:lnSpc>
            </a:pPr>
            <a:r>
              <a:rPr lang="en-US" smtClean="0"/>
              <a:t>SOURCE.TYPE : </a:t>
            </a:r>
          </a:p>
          <a:p>
            <a:pPr lvl="1" eaLnBrk="1" hangingPunct="1">
              <a:lnSpc>
                <a:spcPct val="115000"/>
              </a:lnSpc>
            </a:pPr>
            <a:r>
              <a:rPr lang="en-US" smtClean="0"/>
              <a:t>ONLINE/TELNET is another source type</a:t>
            </a:r>
          </a:p>
          <a:p>
            <a:pPr lvl="1" eaLnBrk="1" hangingPunct="1">
              <a:lnSpc>
                <a:spcPct val="115000"/>
              </a:lnSpc>
            </a:pPr>
            <a:r>
              <a:rPr lang="en-US" smtClean="0"/>
              <a:t>This is not most widely used by our consultants</a:t>
            </a:r>
          </a:p>
          <a:p>
            <a:pPr lvl="1" eaLnBrk="1" hangingPunct="1">
              <a:lnSpc>
                <a:spcPct val="115000"/>
              </a:lnSpc>
            </a:pPr>
            <a:r>
              <a:rPr lang="en-US" smtClean="0"/>
              <a:t>Mostly we are using for testing purpose to test the messages that we built is working fine or not</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smtClean="0"/>
              <a:t>OFS.SOURCE - FIELDS</a:t>
            </a:r>
          </a:p>
        </p:txBody>
      </p:sp>
      <p:sp>
        <p:nvSpPr>
          <p:cNvPr id="45059" name="Rectangle 3"/>
          <p:cNvSpPr>
            <a:spLocks noGrp="1" noChangeArrowheads="1"/>
          </p:cNvSpPr>
          <p:nvPr>
            <p:ph type="body" idx="1"/>
          </p:nvPr>
        </p:nvSpPr>
        <p:spPr>
          <a:xfrm>
            <a:off x="992188" y="1592263"/>
            <a:ext cx="7874000" cy="4337050"/>
          </a:xfrm>
        </p:spPr>
        <p:txBody>
          <a:bodyPr/>
          <a:lstStyle/>
          <a:p>
            <a:pPr eaLnBrk="1" hangingPunct="1"/>
            <a:r>
              <a:rPr lang="en-US" smtClean="0"/>
              <a:t>LOGIN ID :  </a:t>
            </a:r>
          </a:p>
          <a:p>
            <a:pPr lvl="1" eaLnBrk="1" hangingPunct="1"/>
            <a:r>
              <a:rPr lang="en-US" smtClean="0"/>
              <a:t>Specifies the UNIX/NT login</a:t>
            </a:r>
          </a:p>
          <a:p>
            <a:pPr lvl="1" eaLnBrk="1" hangingPunct="1"/>
            <a:r>
              <a:rPr lang="en-US" smtClean="0"/>
              <a:t>This is a mandatory input if the SOURCE.TYPE is TELNET</a:t>
            </a:r>
          </a:p>
          <a:p>
            <a:pPr eaLnBrk="1" hangingPunct="1"/>
            <a:r>
              <a:rPr lang="en-US" smtClean="0"/>
              <a:t>EB.PHANTOM : </a:t>
            </a:r>
          </a:p>
          <a:p>
            <a:pPr lvl="1" eaLnBrk="1" hangingPunct="1"/>
            <a:r>
              <a:rPr lang="en-US" smtClean="0"/>
              <a:t>We need to create a Phantom record and attach that id in this field</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smtClean="0"/>
              <a:t>OFS.SOURCE</a:t>
            </a:r>
          </a:p>
        </p:txBody>
      </p:sp>
      <p:sp>
        <p:nvSpPr>
          <p:cNvPr id="46083" name="Rectangle 3"/>
          <p:cNvSpPr>
            <a:spLocks noGrp="1" noChangeArrowheads="1"/>
          </p:cNvSpPr>
          <p:nvPr>
            <p:ph type="body" idx="1"/>
          </p:nvPr>
        </p:nvSpPr>
        <p:spPr>
          <a:xfrm>
            <a:off x="992188" y="1592263"/>
            <a:ext cx="7874000" cy="4337050"/>
          </a:xfrm>
        </p:spPr>
        <p:txBody>
          <a:bodyPr/>
          <a:lstStyle/>
          <a:p>
            <a:pPr eaLnBrk="1" hangingPunct="1"/>
            <a:r>
              <a:rPr lang="en-US" smtClean="0"/>
              <a:t>MAX CONNECTION: </a:t>
            </a:r>
          </a:p>
          <a:p>
            <a:pPr lvl="1" eaLnBrk="1" hangingPunct="1"/>
            <a:r>
              <a:rPr lang="en-US" smtClean="0"/>
              <a:t>Specifies the maximum no of online OFS connections for the specified service which can be active at any one time (min input:1, max input: 99,999)</a:t>
            </a:r>
          </a:p>
          <a:p>
            <a:pPr eaLnBrk="1" hangingPunct="1"/>
            <a:r>
              <a:rPr lang="en-US" smtClean="0"/>
              <a:t>LOG DETAIL LEVEL : </a:t>
            </a:r>
          </a:p>
          <a:p>
            <a:pPr lvl="1" eaLnBrk="1" hangingPunct="1"/>
            <a:r>
              <a:rPr lang="en-US" smtClean="0"/>
              <a:t>FULL means all the log details will stored in the log directory</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smtClean="0"/>
              <a:t>OFS.SOURCE</a:t>
            </a:r>
          </a:p>
        </p:txBody>
      </p:sp>
      <p:sp>
        <p:nvSpPr>
          <p:cNvPr id="47107" name="Rectangle 3"/>
          <p:cNvSpPr>
            <a:spLocks noGrp="1" noChangeArrowheads="1"/>
          </p:cNvSpPr>
          <p:nvPr>
            <p:ph type="body" idx="1"/>
          </p:nvPr>
        </p:nvSpPr>
        <p:spPr>
          <a:xfrm>
            <a:off x="992188" y="1592263"/>
            <a:ext cx="7874000" cy="4337050"/>
          </a:xfrm>
        </p:spPr>
        <p:txBody>
          <a:bodyPr/>
          <a:lstStyle/>
          <a:p>
            <a:pPr eaLnBrk="1" hangingPunct="1"/>
            <a:r>
              <a:rPr lang="en-US" smtClean="0"/>
              <a:t>DET PREFIX : </a:t>
            </a:r>
          </a:p>
          <a:p>
            <a:pPr lvl="1" eaLnBrk="1" hangingPunct="1"/>
            <a:r>
              <a:rPr lang="en-US" smtClean="0"/>
              <a:t>The details will be prefixed with the value given in this field. SAMPLE</a:t>
            </a:r>
          </a:p>
          <a:p>
            <a:pPr lvl="1" eaLnBrk="1" hangingPunct="1"/>
            <a:r>
              <a:rPr lang="en-US" smtClean="0"/>
              <a:t>The details of the record processed will be in OFS.REQUEST.DETAIL with the id prefixed with SAMPLE</a:t>
            </a:r>
          </a:p>
          <a:p>
            <a:pPr eaLnBrk="1" hangingPunct="1"/>
            <a:r>
              <a:rPr lang="en-US" smtClean="0"/>
              <a:t>INQUEUE DIR : </a:t>
            </a:r>
          </a:p>
          <a:p>
            <a:pPr lvl="1" eaLnBrk="1" hangingPunct="1"/>
            <a:r>
              <a:rPr lang="en-US" smtClean="0"/>
              <a:t>The data to be processed will be stored in IN (OFSTEMPIN) directory</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smtClean="0"/>
              <a:t>OFS.SOURCE</a:t>
            </a:r>
          </a:p>
        </p:txBody>
      </p:sp>
      <p:sp>
        <p:nvSpPr>
          <p:cNvPr id="48131" name="Rectangle 3"/>
          <p:cNvSpPr>
            <a:spLocks noGrp="1" noChangeArrowheads="1"/>
          </p:cNvSpPr>
          <p:nvPr>
            <p:ph type="body" idx="1"/>
          </p:nvPr>
        </p:nvSpPr>
        <p:spPr>
          <a:xfrm>
            <a:off x="992188" y="1592263"/>
            <a:ext cx="7874000" cy="4337050"/>
          </a:xfrm>
        </p:spPr>
        <p:txBody>
          <a:bodyPr/>
          <a:lstStyle/>
          <a:p>
            <a:pPr eaLnBrk="1" hangingPunct="1"/>
            <a:r>
              <a:rPr lang="en-US" smtClean="0"/>
              <a:t>OUT.QUEUE.DIR : </a:t>
            </a:r>
          </a:p>
          <a:p>
            <a:pPr lvl="1" eaLnBrk="1" hangingPunct="1"/>
            <a:r>
              <a:rPr lang="en-US" smtClean="0"/>
              <a:t>When u verify the EB.PHANTOM record the record from OFSTEMPIN will be moved to OFSTEMPOUT  and the record will be created in FT File in INAU status</a:t>
            </a:r>
          </a:p>
          <a:p>
            <a:pPr eaLnBrk="1" hangingPunct="1"/>
            <a:r>
              <a:rPr lang="en-US" smtClean="0"/>
              <a:t>SYNTAX TYPE :  OFS</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smtClean="0"/>
              <a:t>PASSING MESSAGE USING ONLINE MODE</a:t>
            </a:r>
          </a:p>
        </p:txBody>
      </p:sp>
      <p:sp>
        <p:nvSpPr>
          <p:cNvPr id="49155" name="Rectangle 3"/>
          <p:cNvSpPr>
            <a:spLocks noGrp="1" noChangeArrowheads="1"/>
          </p:cNvSpPr>
          <p:nvPr>
            <p:ph type="body" idx="1"/>
          </p:nvPr>
        </p:nvSpPr>
        <p:spPr>
          <a:xfrm>
            <a:off x="992188" y="1592263"/>
            <a:ext cx="7874000" cy="4337050"/>
          </a:xfrm>
        </p:spPr>
        <p:txBody>
          <a:bodyPr/>
          <a:lstStyle/>
          <a:p>
            <a:pPr eaLnBrk="1" hangingPunct="1"/>
            <a:r>
              <a:rPr lang="en-US" smtClean="0"/>
              <a:t>After setting up the OFS.SOURCE for online, We have to pass the OFS message from the jshell prompt</a:t>
            </a:r>
          </a:p>
          <a:p>
            <a:pPr eaLnBrk="1" hangingPunct="1"/>
            <a:r>
              <a:rPr lang="en-US" smtClean="0"/>
              <a:t>In the shell prompt pass the below command</a:t>
            </a:r>
          </a:p>
          <a:p>
            <a:pPr eaLnBrk="1" hangingPunct="1"/>
            <a:r>
              <a:rPr lang="en-US" smtClean="0"/>
              <a:t>Then follow the below  OFS message structure to update the application</a:t>
            </a:r>
          </a:p>
        </p:txBody>
      </p:sp>
      <p:pic>
        <p:nvPicPr>
          <p:cNvPr id="49157" name="Picture 5"/>
          <p:cNvPicPr>
            <a:picLocks noChangeAspect="1" noChangeArrowheads="1"/>
          </p:cNvPicPr>
          <p:nvPr/>
        </p:nvPicPr>
        <p:blipFill>
          <a:blip r:embed="rId2"/>
          <a:srcRect/>
          <a:stretch>
            <a:fillRect/>
          </a:stretch>
        </p:blipFill>
        <p:spPr bwMode="auto">
          <a:xfrm>
            <a:off x="1766341" y="4415072"/>
            <a:ext cx="5791200" cy="10858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smtClean="0"/>
              <a:t>Message structure</a:t>
            </a:r>
          </a:p>
        </p:txBody>
      </p:sp>
      <p:sp>
        <p:nvSpPr>
          <p:cNvPr id="50179" name="Rectangle 3"/>
          <p:cNvSpPr>
            <a:spLocks noGrp="1" noChangeArrowheads="1"/>
          </p:cNvSpPr>
          <p:nvPr>
            <p:ph type="body" idx="1"/>
          </p:nvPr>
        </p:nvSpPr>
        <p:spPr>
          <a:xfrm>
            <a:off x="992188" y="1592263"/>
            <a:ext cx="7874000" cy="4337050"/>
          </a:xfrm>
        </p:spPr>
        <p:txBody>
          <a:bodyPr/>
          <a:lstStyle/>
          <a:p>
            <a:pPr eaLnBrk="1" hangingPunct="1"/>
            <a:r>
              <a:rPr lang="en-US" smtClean="0"/>
              <a:t>OFS Message Structure has got 5 parameters each separated by ‘,’</a:t>
            </a:r>
          </a:p>
          <a:p>
            <a:pPr lvl="1" eaLnBrk="1" hangingPunct="1"/>
            <a:r>
              <a:rPr lang="en-US" smtClean="0"/>
              <a:t>Operation</a:t>
            </a:r>
          </a:p>
          <a:p>
            <a:pPr lvl="1" eaLnBrk="1" hangingPunct="1"/>
            <a:r>
              <a:rPr lang="en-US" smtClean="0"/>
              <a:t>Options (VersionName/Functions/Operation)</a:t>
            </a:r>
          </a:p>
          <a:p>
            <a:pPr lvl="1" eaLnBrk="1" hangingPunct="1"/>
            <a:r>
              <a:rPr lang="en-US" smtClean="0"/>
              <a:t>Userid/password</a:t>
            </a:r>
          </a:p>
          <a:p>
            <a:pPr lvl="1" eaLnBrk="1" hangingPunct="1"/>
            <a:r>
              <a:rPr lang="en-US" smtClean="0"/>
              <a:t>Transaction id</a:t>
            </a:r>
          </a:p>
          <a:p>
            <a:pPr lvl="1" eaLnBrk="1" hangingPunct="1"/>
            <a:r>
              <a:rPr lang="en-US" smtClean="0"/>
              <a:t>Message to be passed</a:t>
            </a:r>
          </a:p>
          <a:p>
            <a:pPr lvl="1" eaLnBrk="1" hangingPunct="1">
              <a:buFont typeface="Trebuchet MS" pitchFamily="34" charset="0"/>
              <a:buNone/>
            </a:pPr>
            <a:endParaRPr lang="en-US" smtClean="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mtClean="0"/>
              <a:t>Message structure</a:t>
            </a:r>
          </a:p>
        </p:txBody>
      </p:sp>
      <p:sp>
        <p:nvSpPr>
          <p:cNvPr id="51203" name="Rectangle 3"/>
          <p:cNvSpPr>
            <a:spLocks noGrp="1" noChangeArrowheads="1"/>
          </p:cNvSpPr>
          <p:nvPr>
            <p:ph type="body" idx="1"/>
          </p:nvPr>
        </p:nvSpPr>
        <p:spPr>
          <a:xfrm>
            <a:off x="992188" y="1592263"/>
            <a:ext cx="7874000" cy="4337050"/>
          </a:xfrm>
        </p:spPr>
        <p:txBody>
          <a:bodyPr/>
          <a:lstStyle/>
          <a:p>
            <a:pPr eaLnBrk="1" hangingPunct="1"/>
            <a:r>
              <a:rPr lang="en-US" smtClean="0"/>
              <a:t>OPERATION</a:t>
            </a:r>
          </a:p>
          <a:p>
            <a:pPr lvl="1" eaLnBrk="1" hangingPunct="1"/>
            <a:r>
              <a:rPr lang="en-US" smtClean="0"/>
              <a:t> Operation specifies the Temenos application to be run  by OFS E.g. ACCOUNT,FUNDSTRANSFER</a:t>
            </a:r>
          </a:p>
          <a:p>
            <a:pPr lvl="1" eaLnBrk="1" hangingPunct="1"/>
            <a:r>
              <a:rPr lang="en-US" smtClean="0"/>
              <a:t>OFS transaction cannot be used update live files</a:t>
            </a:r>
          </a:p>
          <a:p>
            <a:pPr eaLnBrk="1" hangingPunct="1"/>
            <a:r>
              <a:rPr lang="en-US" smtClean="0"/>
              <a:t>OPTIONS</a:t>
            </a:r>
          </a:p>
          <a:p>
            <a:pPr lvl="1" eaLnBrk="1" hangingPunct="1"/>
            <a:r>
              <a:rPr lang="en-US" smtClean="0"/>
              <a:t>T24 function to be used with the application (e.g. Input-I/Authorize-A/Delete-D/Reverse-R)</a:t>
            </a:r>
          </a:p>
          <a:p>
            <a:pPr lvl="1" eaLnBrk="1" hangingPunct="1"/>
            <a:r>
              <a:rPr lang="en-US" smtClean="0"/>
              <a:t>If the function is not supplied then it is assumed as input</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smtClean="0"/>
              <a:t>Message structure</a:t>
            </a:r>
          </a:p>
        </p:txBody>
      </p:sp>
      <p:sp>
        <p:nvSpPr>
          <p:cNvPr id="52227" name="Rectangle 3"/>
          <p:cNvSpPr>
            <a:spLocks noGrp="1" noChangeArrowheads="1"/>
          </p:cNvSpPr>
          <p:nvPr>
            <p:ph type="body" idx="1"/>
          </p:nvPr>
        </p:nvSpPr>
        <p:spPr>
          <a:xfrm>
            <a:off x="992188" y="1592263"/>
            <a:ext cx="7874000" cy="4337050"/>
          </a:xfrm>
        </p:spPr>
        <p:txBody>
          <a:bodyPr/>
          <a:lstStyle/>
          <a:p>
            <a:pPr eaLnBrk="1" hangingPunct="1"/>
            <a:r>
              <a:rPr lang="en-US" smtClean="0"/>
              <a:t>USER INFORMATION</a:t>
            </a:r>
          </a:p>
          <a:p>
            <a:pPr lvl="1" eaLnBrk="1" hangingPunct="1"/>
            <a:r>
              <a:rPr lang="en-US" smtClean="0"/>
              <a:t>User sign on name – Valid sign on name available in T24 database</a:t>
            </a:r>
          </a:p>
          <a:p>
            <a:pPr lvl="1" eaLnBrk="1" hangingPunct="1"/>
            <a:r>
              <a:rPr lang="en-US" smtClean="0"/>
              <a:t>Password – Password of the sign name</a:t>
            </a:r>
          </a:p>
          <a:p>
            <a:pPr lvl="1" eaLnBrk="1" hangingPunct="1"/>
            <a:r>
              <a:rPr lang="en-US" smtClean="0"/>
              <a:t>Company – In case of multicompany setup</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smtClean="0"/>
              <a:t>Message structure</a:t>
            </a:r>
          </a:p>
        </p:txBody>
      </p:sp>
      <p:sp>
        <p:nvSpPr>
          <p:cNvPr id="53251" name="Rectangle 3"/>
          <p:cNvSpPr>
            <a:spLocks noGrp="1" noChangeArrowheads="1"/>
          </p:cNvSpPr>
          <p:nvPr>
            <p:ph type="body" idx="1"/>
          </p:nvPr>
        </p:nvSpPr>
        <p:spPr>
          <a:xfrm>
            <a:off x="992188" y="1592263"/>
            <a:ext cx="7874000" cy="4337050"/>
          </a:xfrm>
        </p:spPr>
        <p:txBody>
          <a:bodyPr/>
          <a:lstStyle/>
          <a:p>
            <a:pPr eaLnBrk="1" hangingPunct="1"/>
            <a:r>
              <a:rPr lang="en-US" smtClean="0"/>
              <a:t>TRANSACTION ID</a:t>
            </a:r>
          </a:p>
          <a:p>
            <a:pPr lvl="1" eaLnBrk="1" hangingPunct="1"/>
            <a:r>
              <a:rPr lang="en-US" smtClean="0"/>
              <a:t>The transaction id portion of the message structure contains the transaction number/key for the application that are run</a:t>
            </a:r>
          </a:p>
          <a:p>
            <a:pPr lvl="1" eaLnBrk="1" hangingPunct="1"/>
            <a:r>
              <a:rPr lang="en-US" smtClean="0"/>
              <a:t>The transaction id technically the ID of record in the file  used in the transaction</a:t>
            </a:r>
          </a:p>
          <a:p>
            <a:pPr eaLnBrk="1" hangingPunct="1"/>
            <a:r>
              <a:rPr lang="en-US" smtClean="0"/>
              <a:t>MESSAGE DATA</a:t>
            </a:r>
          </a:p>
          <a:p>
            <a:pPr lvl="1" eaLnBrk="1" hangingPunct="1"/>
            <a:r>
              <a:rPr lang="en-US" smtClean="0"/>
              <a:t>The message data  portion of the message structure contains the data required to create or update the transaction</a:t>
            </a:r>
          </a:p>
          <a:p>
            <a:pPr lvl="1" eaLnBrk="1" hangingPunct="1">
              <a:buFont typeface="Trebuchet MS" pitchFamily="34" charset="0"/>
              <a:buNone/>
            </a:pPr>
            <a:endParaRPr lang="en-US" smtClean="0"/>
          </a:p>
          <a:p>
            <a:pPr lvl="1" eaLnBrk="1" hangingPunct="1"/>
            <a:endParaRPr lang="en-US" smtClean="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smtClean="0"/>
              <a:t>Example of sample OFS Message</a:t>
            </a:r>
          </a:p>
        </p:txBody>
      </p:sp>
      <p:sp>
        <p:nvSpPr>
          <p:cNvPr id="54277" name="Line 4"/>
          <p:cNvSpPr>
            <a:spLocks noChangeShapeType="1"/>
          </p:cNvSpPr>
          <p:nvPr/>
        </p:nvSpPr>
        <p:spPr bwMode="auto">
          <a:xfrm>
            <a:off x="1219200" y="2701925"/>
            <a:ext cx="25400" cy="749300"/>
          </a:xfrm>
          <a:prstGeom prst="line">
            <a:avLst/>
          </a:prstGeom>
          <a:noFill/>
          <a:ln w="9525">
            <a:solidFill>
              <a:schemeClr val="tx1"/>
            </a:solidFill>
            <a:round/>
            <a:headEnd/>
            <a:tailEnd type="triangle" w="med" len="med"/>
          </a:ln>
        </p:spPr>
        <p:txBody>
          <a:bodyPr/>
          <a:lstStyle/>
          <a:p>
            <a:endParaRPr lang="en-US"/>
          </a:p>
        </p:txBody>
      </p:sp>
      <p:sp>
        <p:nvSpPr>
          <p:cNvPr id="54278" name="Line 5"/>
          <p:cNvSpPr>
            <a:spLocks noChangeShapeType="1"/>
          </p:cNvSpPr>
          <p:nvPr/>
        </p:nvSpPr>
        <p:spPr bwMode="auto">
          <a:xfrm>
            <a:off x="1917700" y="2727325"/>
            <a:ext cx="330200" cy="914400"/>
          </a:xfrm>
          <a:prstGeom prst="line">
            <a:avLst/>
          </a:prstGeom>
          <a:noFill/>
          <a:ln w="9525">
            <a:solidFill>
              <a:schemeClr val="tx1"/>
            </a:solidFill>
            <a:round/>
            <a:headEnd/>
            <a:tailEnd type="triangle" w="med" len="med"/>
          </a:ln>
        </p:spPr>
        <p:txBody>
          <a:bodyPr/>
          <a:lstStyle/>
          <a:p>
            <a:endParaRPr lang="en-US"/>
          </a:p>
        </p:txBody>
      </p:sp>
      <p:sp>
        <p:nvSpPr>
          <p:cNvPr id="54279" name="Line 7"/>
          <p:cNvSpPr>
            <a:spLocks noChangeShapeType="1"/>
          </p:cNvSpPr>
          <p:nvPr/>
        </p:nvSpPr>
        <p:spPr bwMode="auto">
          <a:xfrm>
            <a:off x="4686300" y="2676525"/>
            <a:ext cx="1168400" cy="1625600"/>
          </a:xfrm>
          <a:prstGeom prst="line">
            <a:avLst/>
          </a:prstGeom>
          <a:noFill/>
          <a:ln w="9525">
            <a:solidFill>
              <a:schemeClr val="tx1"/>
            </a:solidFill>
            <a:round/>
            <a:headEnd/>
            <a:tailEnd type="triangle" w="med" len="med"/>
          </a:ln>
        </p:spPr>
        <p:txBody>
          <a:bodyPr/>
          <a:lstStyle/>
          <a:p>
            <a:endParaRPr lang="en-US"/>
          </a:p>
        </p:txBody>
      </p:sp>
      <p:sp>
        <p:nvSpPr>
          <p:cNvPr id="54280" name="Text Box 9"/>
          <p:cNvSpPr txBox="1">
            <a:spLocks noChangeArrowheads="1"/>
          </p:cNvSpPr>
          <p:nvPr/>
        </p:nvSpPr>
        <p:spPr bwMode="auto">
          <a:xfrm>
            <a:off x="419100" y="3552825"/>
            <a:ext cx="1511300" cy="701675"/>
          </a:xfrm>
          <a:prstGeom prst="rect">
            <a:avLst/>
          </a:prstGeom>
          <a:noFill/>
          <a:ln w="9525">
            <a:noFill/>
            <a:miter lim="800000"/>
            <a:headEnd/>
            <a:tailEnd/>
          </a:ln>
        </p:spPr>
        <p:txBody>
          <a:bodyPr>
            <a:spAutoFit/>
          </a:bodyPr>
          <a:lstStyle/>
          <a:p>
            <a:pPr>
              <a:spcBef>
                <a:spcPct val="50000"/>
              </a:spcBef>
            </a:pPr>
            <a:r>
              <a:rPr lang="en-US">
                <a:solidFill>
                  <a:schemeClr val="tx1"/>
                </a:solidFill>
              </a:rPr>
              <a:t>Application name</a:t>
            </a:r>
          </a:p>
        </p:txBody>
      </p:sp>
      <p:sp>
        <p:nvSpPr>
          <p:cNvPr id="54281" name="Text Box 10"/>
          <p:cNvSpPr txBox="1">
            <a:spLocks noChangeArrowheads="1"/>
          </p:cNvSpPr>
          <p:nvPr/>
        </p:nvSpPr>
        <p:spPr bwMode="auto">
          <a:xfrm>
            <a:off x="1955800" y="3705225"/>
            <a:ext cx="1447800" cy="701675"/>
          </a:xfrm>
          <a:prstGeom prst="rect">
            <a:avLst/>
          </a:prstGeom>
          <a:noFill/>
          <a:ln w="9525">
            <a:noFill/>
            <a:miter lim="800000"/>
            <a:headEnd/>
            <a:tailEnd/>
          </a:ln>
        </p:spPr>
        <p:txBody>
          <a:bodyPr>
            <a:spAutoFit/>
          </a:bodyPr>
          <a:lstStyle/>
          <a:p>
            <a:pPr>
              <a:spcBef>
                <a:spcPct val="50000"/>
              </a:spcBef>
            </a:pPr>
            <a:r>
              <a:rPr lang="en-US">
                <a:solidFill>
                  <a:schemeClr val="tx1"/>
                </a:solidFill>
              </a:rPr>
              <a:t>Version Name</a:t>
            </a:r>
          </a:p>
        </p:txBody>
      </p:sp>
      <p:sp>
        <p:nvSpPr>
          <p:cNvPr id="54282" name="Line 11"/>
          <p:cNvSpPr>
            <a:spLocks noChangeShapeType="1"/>
          </p:cNvSpPr>
          <p:nvPr/>
        </p:nvSpPr>
        <p:spPr bwMode="auto">
          <a:xfrm>
            <a:off x="2857500" y="2676525"/>
            <a:ext cx="1308100" cy="2171700"/>
          </a:xfrm>
          <a:prstGeom prst="line">
            <a:avLst/>
          </a:prstGeom>
          <a:noFill/>
          <a:ln w="9525">
            <a:solidFill>
              <a:schemeClr val="tx1"/>
            </a:solidFill>
            <a:round/>
            <a:headEnd/>
            <a:tailEnd type="triangle" w="med" len="med"/>
          </a:ln>
        </p:spPr>
        <p:txBody>
          <a:bodyPr/>
          <a:lstStyle/>
          <a:p>
            <a:endParaRPr lang="en-US"/>
          </a:p>
        </p:txBody>
      </p:sp>
      <p:sp>
        <p:nvSpPr>
          <p:cNvPr id="54283" name="Text Box 12"/>
          <p:cNvSpPr txBox="1">
            <a:spLocks noChangeArrowheads="1"/>
          </p:cNvSpPr>
          <p:nvPr/>
        </p:nvSpPr>
        <p:spPr bwMode="auto">
          <a:xfrm>
            <a:off x="3225800" y="4949825"/>
            <a:ext cx="2298700" cy="396875"/>
          </a:xfrm>
          <a:prstGeom prst="rect">
            <a:avLst/>
          </a:prstGeom>
          <a:noFill/>
          <a:ln w="9525">
            <a:noFill/>
            <a:miter lim="800000"/>
            <a:headEnd/>
            <a:tailEnd/>
          </a:ln>
        </p:spPr>
        <p:txBody>
          <a:bodyPr>
            <a:spAutoFit/>
          </a:bodyPr>
          <a:lstStyle/>
          <a:p>
            <a:pPr>
              <a:spcBef>
                <a:spcPct val="50000"/>
              </a:spcBef>
            </a:pPr>
            <a:r>
              <a:rPr lang="en-US">
                <a:solidFill>
                  <a:schemeClr val="tx1"/>
                </a:solidFill>
              </a:rPr>
              <a:t>Username/password</a:t>
            </a:r>
          </a:p>
        </p:txBody>
      </p:sp>
      <p:sp>
        <p:nvSpPr>
          <p:cNvPr id="54284" name="Text Box 14"/>
          <p:cNvSpPr txBox="1">
            <a:spLocks noChangeArrowheads="1"/>
          </p:cNvSpPr>
          <p:nvPr/>
        </p:nvSpPr>
        <p:spPr bwMode="auto">
          <a:xfrm>
            <a:off x="5461000" y="4467225"/>
            <a:ext cx="2400300" cy="396875"/>
          </a:xfrm>
          <a:prstGeom prst="rect">
            <a:avLst/>
          </a:prstGeom>
          <a:noFill/>
          <a:ln w="9525">
            <a:noFill/>
            <a:miter lim="800000"/>
            <a:headEnd/>
            <a:tailEnd/>
          </a:ln>
        </p:spPr>
        <p:txBody>
          <a:bodyPr>
            <a:spAutoFit/>
          </a:bodyPr>
          <a:lstStyle/>
          <a:p>
            <a:pPr>
              <a:spcBef>
                <a:spcPct val="50000"/>
              </a:spcBef>
            </a:pPr>
            <a:r>
              <a:rPr lang="en-US">
                <a:solidFill>
                  <a:schemeClr val="tx1"/>
                </a:solidFill>
              </a:rPr>
              <a:t>Message to be passed</a:t>
            </a:r>
          </a:p>
        </p:txBody>
      </p:sp>
      <p:pic>
        <p:nvPicPr>
          <p:cNvPr id="54286" name="Picture 14"/>
          <p:cNvPicPr>
            <a:picLocks noChangeAspect="1" noChangeArrowheads="1"/>
          </p:cNvPicPr>
          <p:nvPr/>
        </p:nvPicPr>
        <p:blipFill>
          <a:blip r:embed="rId3"/>
          <a:srcRect/>
          <a:stretch>
            <a:fillRect/>
          </a:stretch>
        </p:blipFill>
        <p:spPr bwMode="auto">
          <a:xfrm>
            <a:off x="872552" y="1773290"/>
            <a:ext cx="7848600" cy="942975"/>
          </a:xfrm>
          <a:prstGeom prst="rect">
            <a:avLst/>
          </a:prstGeom>
          <a:noFill/>
          <a:ln w="19050">
            <a:solidFill>
              <a:srgbClr val="0000FF"/>
            </a:solidFill>
            <a:miter lim="800000"/>
            <a:headEnd/>
            <a:tailEnd/>
          </a:ln>
          <a:effectLst/>
        </p:spPr>
      </p:pic>
      <p:pic>
        <p:nvPicPr>
          <p:cNvPr id="7170" name="Picture 2"/>
          <p:cNvPicPr>
            <a:picLocks noChangeAspect="1" noChangeArrowheads="1"/>
          </p:cNvPicPr>
          <p:nvPr/>
        </p:nvPicPr>
        <p:blipFill>
          <a:blip r:embed="rId4"/>
          <a:srcRect/>
          <a:stretch>
            <a:fillRect/>
          </a:stretch>
        </p:blipFill>
        <p:spPr bwMode="auto">
          <a:xfrm>
            <a:off x="861153" y="1816387"/>
            <a:ext cx="2255965" cy="342197"/>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smtClean="0"/>
              <a:t>Return message</a:t>
            </a:r>
          </a:p>
        </p:txBody>
      </p:sp>
      <p:sp>
        <p:nvSpPr>
          <p:cNvPr id="55299" name="Rectangle 3"/>
          <p:cNvSpPr>
            <a:spLocks noGrp="1" noChangeArrowheads="1"/>
          </p:cNvSpPr>
          <p:nvPr>
            <p:ph type="body" idx="1"/>
          </p:nvPr>
        </p:nvSpPr>
        <p:spPr>
          <a:xfrm>
            <a:off x="992188" y="1592263"/>
            <a:ext cx="7874000" cy="4337050"/>
          </a:xfrm>
        </p:spPr>
        <p:txBody>
          <a:bodyPr/>
          <a:lstStyle/>
          <a:p>
            <a:pPr eaLnBrk="1" hangingPunct="1"/>
            <a:r>
              <a:rPr lang="en-US" smtClean="0"/>
              <a:t>Message is passed in OFS Format, the response is returned back to user to acknowledge the message</a:t>
            </a:r>
          </a:p>
          <a:p>
            <a:pPr eaLnBrk="1" hangingPunct="1"/>
            <a:r>
              <a:rPr lang="en-US" smtClean="0"/>
              <a:t>The Return message consists of two return  codes</a:t>
            </a:r>
          </a:p>
          <a:p>
            <a:pPr lvl="1" eaLnBrk="1" hangingPunct="1">
              <a:buFont typeface="Trebuchet MS" pitchFamily="34" charset="0"/>
              <a:buNone/>
            </a:pPr>
            <a:r>
              <a:rPr lang="en-US" smtClean="0"/>
              <a:t>1 – Success </a:t>
            </a:r>
          </a:p>
          <a:p>
            <a:pPr lvl="1" eaLnBrk="1" hangingPunct="1">
              <a:buFont typeface="Trebuchet MS" pitchFamily="34" charset="0"/>
              <a:buNone/>
            </a:pPr>
            <a:r>
              <a:rPr lang="en-US" smtClean="0"/>
              <a:t>-1 – Failure</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smtClean="0"/>
              <a:t>Sample return message</a:t>
            </a:r>
          </a:p>
        </p:txBody>
      </p:sp>
      <p:sp>
        <p:nvSpPr>
          <p:cNvPr id="56323" name="Rectangle 3"/>
          <p:cNvSpPr>
            <a:spLocks noGrp="1" noChangeArrowheads="1"/>
          </p:cNvSpPr>
          <p:nvPr>
            <p:ph type="body" idx="1"/>
          </p:nvPr>
        </p:nvSpPr>
        <p:spPr>
          <a:xfrm>
            <a:off x="992188" y="1592263"/>
            <a:ext cx="7874000" cy="4337050"/>
          </a:xfrm>
        </p:spPr>
        <p:txBody>
          <a:bodyPr/>
          <a:lstStyle/>
          <a:p>
            <a:pPr eaLnBrk="1" hangingPunct="1"/>
            <a:r>
              <a:rPr lang="en-US" smtClean="0"/>
              <a:t>SUCCESS</a:t>
            </a:r>
          </a:p>
          <a:p>
            <a:pPr eaLnBrk="1" hangingPunct="1"/>
            <a:endParaRPr lang="en-US" smtClean="0"/>
          </a:p>
          <a:p>
            <a:pPr eaLnBrk="1" hangingPunct="1"/>
            <a:endParaRPr lang="en-US" smtClean="0"/>
          </a:p>
          <a:p>
            <a:pPr eaLnBrk="1" hangingPunct="1"/>
            <a:endParaRPr lang="en-US" smtClean="0"/>
          </a:p>
          <a:p>
            <a:pPr eaLnBrk="1" hangingPunct="1"/>
            <a:endParaRPr lang="en-US" smtClean="0"/>
          </a:p>
          <a:p>
            <a:pPr eaLnBrk="1" hangingPunct="1"/>
            <a:r>
              <a:rPr lang="en-US" smtClean="0"/>
              <a:t>FAILURE</a:t>
            </a:r>
          </a:p>
        </p:txBody>
      </p:sp>
      <p:pic>
        <p:nvPicPr>
          <p:cNvPr id="56325" name="Picture 5"/>
          <p:cNvPicPr>
            <a:picLocks noChangeAspect="1" noChangeArrowheads="1"/>
          </p:cNvPicPr>
          <p:nvPr/>
        </p:nvPicPr>
        <p:blipFill>
          <a:blip r:embed="rId2"/>
          <a:srcRect/>
          <a:stretch>
            <a:fillRect/>
          </a:stretch>
        </p:blipFill>
        <p:spPr bwMode="auto">
          <a:xfrm>
            <a:off x="1465263" y="2079625"/>
            <a:ext cx="6673999" cy="1601257"/>
          </a:xfrm>
          <a:prstGeom prst="rect">
            <a:avLst/>
          </a:prstGeom>
          <a:noFill/>
          <a:ln w="9525">
            <a:solidFill>
              <a:srgbClr val="0000FF"/>
            </a:solidFill>
            <a:miter lim="800000"/>
            <a:headEnd/>
            <a:tailEnd/>
          </a:ln>
        </p:spPr>
      </p:pic>
      <p:sp>
        <p:nvSpPr>
          <p:cNvPr id="56326" name="Line 6"/>
          <p:cNvSpPr>
            <a:spLocks noChangeShapeType="1"/>
          </p:cNvSpPr>
          <p:nvPr/>
        </p:nvSpPr>
        <p:spPr bwMode="auto">
          <a:xfrm>
            <a:off x="7557908" y="3132303"/>
            <a:ext cx="37009" cy="819499"/>
          </a:xfrm>
          <a:prstGeom prst="line">
            <a:avLst/>
          </a:prstGeom>
          <a:noFill/>
          <a:ln w="19050">
            <a:solidFill>
              <a:srgbClr val="FF0000"/>
            </a:solidFill>
            <a:round/>
            <a:headEnd/>
            <a:tailEnd type="triangle" w="med" len="med"/>
          </a:ln>
        </p:spPr>
        <p:txBody>
          <a:bodyPr/>
          <a:lstStyle/>
          <a:p>
            <a:endParaRPr lang="en-US"/>
          </a:p>
        </p:txBody>
      </p:sp>
      <p:sp>
        <p:nvSpPr>
          <p:cNvPr id="56327" name="Text Box 7"/>
          <p:cNvSpPr txBox="1">
            <a:spLocks noChangeArrowheads="1"/>
          </p:cNvSpPr>
          <p:nvPr/>
        </p:nvSpPr>
        <p:spPr bwMode="auto">
          <a:xfrm>
            <a:off x="7015106" y="3941019"/>
            <a:ext cx="1344669" cy="397619"/>
          </a:xfrm>
          <a:prstGeom prst="rect">
            <a:avLst/>
          </a:prstGeom>
          <a:noFill/>
          <a:ln w="19050">
            <a:solidFill>
              <a:srgbClr val="FF0000"/>
            </a:solidFill>
            <a:miter lim="800000"/>
            <a:headEnd/>
            <a:tailEnd/>
          </a:ln>
        </p:spPr>
        <p:txBody>
          <a:bodyPr>
            <a:spAutoFit/>
          </a:bodyPr>
          <a:lstStyle/>
          <a:p>
            <a:pPr>
              <a:spcBef>
                <a:spcPct val="50000"/>
              </a:spcBef>
            </a:pPr>
            <a:r>
              <a:rPr lang="en-US">
                <a:solidFill>
                  <a:schemeClr val="tx1"/>
                </a:solidFill>
              </a:rPr>
              <a:t>success</a:t>
            </a:r>
          </a:p>
        </p:txBody>
      </p:sp>
      <p:sp>
        <p:nvSpPr>
          <p:cNvPr id="56329" name="Line 10"/>
          <p:cNvSpPr>
            <a:spLocks noChangeShapeType="1"/>
          </p:cNvSpPr>
          <p:nvPr/>
        </p:nvSpPr>
        <p:spPr bwMode="auto">
          <a:xfrm>
            <a:off x="2622550" y="5729288"/>
            <a:ext cx="50800" cy="406400"/>
          </a:xfrm>
          <a:prstGeom prst="line">
            <a:avLst/>
          </a:prstGeom>
          <a:noFill/>
          <a:ln w="19050">
            <a:solidFill>
              <a:srgbClr val="FF0000"/>
            </a:solidFill>
            <a:round/>
            <a:headEnd/>
            <a:tailEnd type="triangle" w="med" len="med"/>
          </a:ln>
        </p:spPr>
        <p:txBody>
          <a:bodyPr/>
          <a:lstStyle/>
          <a:p>
            <a:endParaRPr lang="en-US"/>
          </a:p>
        </p:txBody>
      </p:sp>
      <p:sp>
        <p:nvSpPr>
          <p:cNvPr id="56330" name="Text Box 11"/>
          <p:cNvSpPr txBox="1">
            <a:spLocks noChangeArrowheads="1"/>
          </p:cNvSpPr>
          <p:nvPr/>
        </p:nvSpPr>
        <p:spPr bwMode="auto">
          <a:xfrm>
            <a:off x="2355850" y="6275388"/>
            <a:ext cx="1295400" cy="396875"/>
          </a:xfrm>
          <a:prstGeom prst="rect">
            <a:avLst/>
          </a:prstGeom>
          <a:noFill/>
          <a:ln w="19050">
            <a:solidFill>
              <a:srgbClr val="FF0000"/>
            </a:solidFill>
            <a:miter lim="800000"/>
            <a:headEnd/>
            <a:tailEnd/>
          </a:ln>
        </p:spPr>
        <p:txBody>
          <a:bodyPr>
            <a:spAutoFit/>
          </a:bodyPr>
          <a:lstStyle/>
          <a:p>
            <a:pPr>
              <a:spcBef>
                <a:spcPct val="50000"/>
              </a:spcBef>
            </a:pPr>
            <a:r>
              <a:rPr lang="en-US">
                <a:solidFill>
                  <a:schemeClr val="tx1"/>
                </a:solidFill>
              </a:rPr>
              <a:t>failure</a:t>
            </a:r>
          </a:p>
        </p:txBody>
      </p:sp>
      <p:pic>
        <p:nvPicPr>
          <p:cNvPr id="56331" name="Picture 11"/>
          <p:cNvPicPr>
            <a:picLocks noChangeAspect="1" noChangeArrowheads="1"/>
          </p:cNvPicPr>
          <p:nvPr/>
        </p:nvPicPr>
        <p:blipFill>
          <a:blip r:embed="rId3"/>
          <a:srcRect/>
          <a:stretch>
            <a:fillRect/>
          </a:stretch>
        </p:blipFill>
        <p:spPr bwMode="auto">
          <a:xfrm>
            <a:off x="1490039" y="4533041"/>
            <a:ext cx="7153275" cy="1209675"/>
          </a:xfrm>
          <a:prstGeom prst="rect">
            <a:avLst/>
          </a:prstGeom>
          <a:noFill/>
          <a:ln w="9525">
            <a:solidFill>
              <a:srgbClr val="0000FF"/>
            </a:solidFill>
            <a:miter lim="800000"/>
            <a:headEnd/>
            <a:tailEnd/>
          </a:ln>
          <a:effectLst/>
        </p:spPr>
      </p:pic>
      <p:pic>
        <p:nvPicPr>
          <p:cNvPr id="8194" name="Picture 2"/>
          <p:cNvPicPr>
            <a:picLocks noChangeAspect="1" noChangeArrowheads="1"/>
          </p:cNvPicPr>
          <p:nvPr/>
        </p:nvPicPr>
        <p:blipFill>
          <a:blip r:embed="rId4"/>
          <a:srcRect/>
          <a:stretch>
            <a:fillRect/>
          </a:stretch>
        </p:blipFill>
        <p:spPr bwMode="auto">
          <a:xfrm>
            <a:off x="1520721" y="4544596"/>
            <a:ext cx="1695450" cy="2571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smtClean="0"/>
              <a:t>Workshop - I</a:t>
            </a:r>
          </a:p>
        </p:txBody>
      </p:sp>
      <p:sp>
        <p:nvSpPr>
          <p:cNvPr id="57347" name="Rectangle 3"/>
          <p:cNvSpPr>
            <a:spLocks noGrp="1" noChangeArrowheads="1"/>
          </p:cNvSpPr>
          <p:nvPr>
            <p:ph type="body" idx="1"/>
          </p:nvPr>
        </p:nvSpPr>
        <p:spPr>
          <a:xfrm>
            <a:off x="992188" y="1592263"/>
            <a:ext cx="7874000" cy="4337050"/>
          </a:xfrm>
        </p:spPr>
        <p:txBody>
          <a:bodyPr/>
          <a:lstStyle/>
          <a:p>
            <a:pPr eaLnBrk="1" hangingPunct="1"/>
            <a:r>
              <a:rPr lang="en-US" smtClean="0"/>
              <a:t>Set up an OFS for ONLINE mode</a:t>
            </a:r>
          </a:p>
          <a:p>
            <a:pPr eaLnBrk="1" hangingPunct="1"/>
            <a:r>
              <a:rPr lang="en-US" smtClean="0"/>
              <a:t>Create a OFS.SOURCE record</a:t>
            </a:r>
          </a:p>
          <a:p>
            <a:pPr eaLnBrk="1" hangingPunct="1"/>
            <a:r>
              <a:rPr lang="en-US" smtClean="0"/>
              <a:t>Create a version for SECTOR</a:t>
            </a:r>
          </a:p>
          <a:p>
            <a:pPr eaLnBrk="1" hangingPunct="1"/>
            <a:r>
              <a:rPr lang="en-US" smtClean="0"/>
              <a:t>Update the DESCRIPTION field of the SECTOR through OFS</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1006475" y="333375"/>
            <a:ext cx="7589838" cy="923925"/>
          </a:xfrm>
        </p:spPr>
        <p:txBody>
          <a:bodyPr/>
          <a:lstStyle/>
          <a:p>
            <a:r>
              <a:rPr lang="en-US" smtClean="0"/>
              <a:t>Solution – Step 1 : OFS ONLINE SETUP</a:t>
            </a:r>
          </a:p>
        </p:txBody>
      </p:sp>
      <p:pic>
        <p:nvPicPr>
          <p:cNvPr id="58371" name="Picture 4"/>
          <p:cNvPicPr>
            <a:picLocks noGrp="1" noChangeAspect="1" noChangeArrowheads="1"/>
          </p:cNvPicPr>
          <p:nvPr>
            <p:ph idx="1"/>
          </p:nvPr>
        </p:nvPicPr>
        <p:blipFill>
          <a:blip r:embed="rId2"/>
          <a:srcRect r="37846"/>
          <a:stretch>
            <a:fillRect/>
          </a:stretch>
        </p:blipFill>
        <p:spPr>
          <a:xfrm>
            <a:off x="460375" y="1590675"/>
            <a:ext cx="4010025" cy="4381500"/>
          </a:xfrm>
          <a:solidFill>
            <a:schemeClr val="tx2"/>
          </a:solidFill>
          <a:ln w="19050">
            <a:solidFill>
              <a:srgbClr val="0000FF"/>
            </a:solidFill>
          </a:ln>
        </p:spPr>
      </p:pic>
      <p:pic>
        <p:nvPicPr>
          <p:cNvPr id="58372" name="Picture 5"/>
          <p:cNvPicPr>
            <a:picLocks noChangeAspect="1" noChangeArrowheads="1"/>
          </p:cNvPicPr>
          <p:nvPr/>
        </p:nvPicPr>
        <p:blipFill>
          <a:blip r:embed="rId3"/>
          <a:srcRect r="35268"/>
          <a:stretch>
            <a:fillRect/>
          </a:stretch>
        </p:blipFill>
        <p:spPr bwMode="auto">
          <a:xfrm>
            <a:off x="4760913" y="1566863"/>
            <a:ext cx="4125912" cy="4441825"/>
          </a:xfrm>
          <a:prstGeom prst="rect">
            <a:avLst/>
          </a:prstGeom>
          <a:noFill/>
          <a:ln w="19050">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smtClean="0"/>
              <a:t>Solution – Step 2 : SECTOR-VERSION</a:t>
            </a:r>
          </a:p>
        </p:txBody>
      </p:sp>
      <p:pic>
        <p:nvPicPr>
          <p:cNvPr id="13314" name="Picture 2"/>
          <p:cNvPicPr>
            <a:picLocks noGrp="1" noChangeAspect="1" noChangeArrowheads="1"/>
          </p:cNvPicPr>
          <p:nvPr>
            <p:ph idx="1"/>
          </p:nvPr>
        </p:nvPicPr>
        <p:blipFill>
          <a:blip r:embed="rId2"/>
          <a:srcRect/>
          <a:stretch>
            <a:fillRect/>
          </a:stretch>
        </p:blipFill>
        <p:spPr bwMode="auto">
          <a:xfrm>
            <a:off x="1671286" y="1530350"/>
            <a:ext cx="4842578" cy="4046538"/>
          </a:xfrm>
          <a:prstGeom prst="rect">
            <a:avLst/>
          </a:prstGeom>
          <a:noFill/>
          <a:ln w="9525">
            <a:solidFill>
              <a:srgbClr val="0000FF"/>
            </a:solidFill>
            <a:miter lim="800000"/>
            <a:headEnd/>
            <a:tailEnd/>
          </a:ln>
          <a:effec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smtClean="0"/>
              <a:t>Solution – Step 3 : OFS.CONNECTION.MANAGER</a:t>
            </a:r>
          </a:p>
        </p:txBody>
      </p:sp>
      <p:sp>
        <p:nvSpPr>
          <p:cNvPr id="60419" name="Content Placeholder 2"/>
          <p:cNvSpPr>
            <a:spLocks noGrp="1"/>
          </p:cNvSpPr>
          <p:nvPr>
            <p:ph idx="1"/>
          </p:nvPr>
        </p:nvSpPr>
        <p:spPr>
          <a:xfrm>
            <a:off x="992188" y="1592263"/>
            <a:ext cx="7874000" cy="4638675"/>
          </a:xfrm>
        </p:spPr>
        <p:txBody>
          <a:bodyPr/>
          <a:lstStyle/>
          <a:p>
            <a:r>
              <a:rPr lang="en-US" smtClean="0"/>
              <a:t>After setting up ‘OFS.SOURCE’ for Online updates, Initiate ‘OFS.CONNECTION.MANAGER’ from jsh prompt.</a:t>
            </a:r>
          </a:p>
          <a:p>
            <a:r>
              <a:rPr lang="en-US" smtClean="0"/>
              <a:t>Syntax : OFS.CONNECTION.MANAGER &lt;source name&gt;</a:t>
            </a:r>
          </a:p>
          <a:p>
            <a:r>
              <a:rPr lang="en-US" smtClean="0"/>
              <a:t>System prompts to enter OFS message</a:t>
            </a:r>
          </a:p>
          <a:p>
            <a:r>
              <a:rPr lang="en-US" smtClean="0"/>
              <a:t>Enter OFS messages to be processed.</a:t>
            </a:r>
          </a:p>
          <a:p>
            <a:pPr>
              <a:buFont typeface="Wingdings 3" pitchFamily="18" charset="2"/>
              <a:buNone/>
            </a:pPr>
            <a:endParaRPr lang="en-US" smtClean="0"/>
          </a:p>
        </p:txBody>
      </p:sp>
      <p:pic>
        <p:nvPicPr>
          <p:cNvPr id="60420" name="Picture 4"/>
          <p:cNvPicPr>
            <a:picLocks noChangeAspect="1" noChangeArrowheads="1"/>
          </p:cNvPicPr>
          <p:nvPr/>
        </p:nvPicPr>
        <p:blipFill>
          <a:blip r:embed="rId2"/>
          <a:srcRect/>
          <a:stretch>
            <a:fillRect/>
          </a:stretch>
        </p:blipFill>
        <p:spPr bwMode="auto">
          <a:xfrm>
            <a:off x="987425" y="4224338"/>
            <a:ext cx="7696200" cy="866775"/>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smtClean="0"/>
              <a:t>Solution - Return Message</a:t>
            </a:r>
          </a:p>
        </p:txBody>
      </p:sp>
      <p:sp>
        <p:nvSpPr>
          <p:cNvPr id="61443" name="Content Placeholder 2"/>
          <p:cNvSpPr>
            <a:spLocks noGrp="1"/>
          </p:cNvSpPr>
          <p:nvPr>
            <p:ph idx="1"/>
          </p:nvPr>
        </p:nvSpPr>
        <p:spPr>
          <a:xfrm>
            <a:off x="668338" y="1592263"/>
            <a:ext cx="8197850" cy="4638675"/>
          </a:xfrm>
        </p:spPr>
        <p:txBody>
          <a:bodyPr/>
          <a:lstStyle/>
          <a:p>
            <a:r>
              <a:rPr lang="en-US" smtClean="0"/>
              <a:t>After processing message , system will return a message from which we can identify that updates are successful or not.</a:t>
            </a:r>
          </a:p>
          <a:p>
            <a:r>
              <a:rPr lang="en-US" smtClean="0"/>
              <a:t>In the above message, Transaction is updated successfully and Transaction details also returned.</a:t>
            </a:r>
          </a:p>
          <a:p>
            <a:endParaRPr lang="en-US" smtClean="0"/>
          </a:p>
          <a:p>
            <a:pPr>
              <a:buFont typeface="Wingdings 3" pitchFamily="18" charset="2"/>
              <a:buNone/>
            </a:pPr>
            <a:endParaRPr lang="en-US" smtClean="0"/>
          </a:p>
        </p:txBody>
      </p:sp>
      <p:pic>
        <p:nvPicPr>
          <p:cNvPr id="61444" name="Picture 4"/>
          <p:cNvPicPr>
            <a:picLocks noChangeAspect="1" noChangeArrowheads="1"/>
          </p:cNvPicPr>
          <p:nvPr/>
        </p:nvPicPr>
        <p:blipFill>
          <a:blip r:embed="rId2"/>
          <a:srcRect/>
          <a:stretch>
            <a:fillRect/>
          </a:stretch>
        </p:blipFill>
        <p:spPr bwMode="auto">
          <a:xfrm>
            <a:off x="806450" y="3878263"/>
            <a:ext cx="7959725" cy="609600"/>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smtClean="0"/>
              <a:t>EB.PHANTOM	- FOR BATCH MODE</a:t>
            </a:r>
          </a:p>
        </p:txBody>
      </p:sp>
      <p:sp>
        <p:nvSpPr>
          <p:cNvPr id="62467" name="Rectangle 3"/>
          <p:cNvSpPr>
            <a:spLocks noGrp="1" noChangeArrowheads="1"/>
          </p:cNvSpPr>
          <p:nvPr>
            <p:ph type="body" idx="1"/>
          </p:nvPr>
        </p:nvSpPr>
        <p:spPr>
          <a:xfrm>
            <a:off x="992188" y="1592263"/>
            <a:ext cx="7874000" cy="4337050"/>
          </a:xfrm>
        </p:spPr>
        <p:txBody>
          <a:bodyPr/>
          <a:lstStyle/>
          <a:p>
            <a:pPr eaLnBrk="1" hangingPunct="1"/>
            <a:r>
              <a:rPr lang="en-US" smtClean="0"/>
              <a:t>EB.PHANTOM to be set up when the OFS messages are to be processed using Batch mode</a:t>
            </a:r>
          </a:p>
          <a:p>
            <a:pPr eaLnBrk="1" hangingPunct="1"/>
            <a:r>
              <a:rPr lang="en-US" smtClean="0"/>
              <a:t>For OFS processing OFS.SOURCE and EB.PHANTOM has to be set up</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smtClean="0"/>
              <a:t>OFS.SOURCE – FOR BATCH MODE</a:t>
            </a:r>
          </a:p>
        </p:txBody>
      </p:sp>
      <p:pic>
        <p:nvPicPr>
          <p:cNvPr id="63492" name="Picture 4"/>
          <p:cNvPicPr>
            <a:picLocks noChangeAspect="1" noChangeArrowheads="1"/>
          </p:cNvPicPr>
          <p:nvPr/>
        </p:nvPicPr>
        <p:blipFill>
          <a:blip r:embed="rId2"/>
          <a:srcRect l="4401"/>
          <a:stretch>
            <a:fillRect/>
          </a:stretch>
        </p:blipFill>
        <p:spPr bwMode="auto">
          <a:xfrm>
            <a:off x="1806575" y="1590675"/>
            <a:ext cx="5886450" cy="4221163"/>
          </a:xfrm>
          <a:prstGeom prst="rect">
            <a:avLst/>
          </a:prstGeom>
          <a:noFill/>
          <a:ln w="19050">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smtClean="0"/>
              <a:t> OFS.SOURCE – FOR BATCH MODE</a:t>
            </a:r>
          </a:p>
        </p:txBody>
      </p:sp>
      <p:pic>
        <p:nvPicPr>
          <p:cNvPr id="64516" name="Picture 5"/>
          <p:cNvPicPr>
            <a:picLocks noChangeAspect="1" noChangeArrowheads="1"/>
          </p:cNvPicPr>
          <p:nvPr/>
        </p:nvPicPr>
        <p:blipFill>
          <a:blip r:embed="rId3"/>
          <a:srcRect l="3323"/>
          <a:stretch>
            <a:fillRect/>
          </a:stretch>
        </p:blipFill>
        <p:spPr bwMode="auto">
          <a:xfrm>
            <a:off x="1214932" y="1499147"/>
            <a:ext cx="5467350" cy="4295775"/>
          </a:xfrm>
          <a:prstGeom prst="rect">
            <a:avLst/>
          </a:prstGeom>
          <a:noFill/>
          <a:ln w="19050">
            <a:solidFill>
              <a:schemeClr val="hlink"/>
            </a:solidFill>
            <a:miter lim="800000"/>
            <a:headEnd/>
            <a:tailEnd/>
          </a:ln>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smtClean="0"/>
              <a:t>EB.PHANTOM – FOR BATCH MODE</a:t>
            </a:r>
          </a:p>
        </p:txBody>
      </p:sp>
      <p:pic>
        <p:nvPicPr>
          <p:cNvPr id="65540" name="Picture 4"/>
          <p:cNvPicPr>
            <a:picLocks noChangeAspect="1" noChangeArrowheads="1"/>
          </p:cNvPicPr>
          <p:nvPr/>
        </p:nvPicPr>
        <p:blipFill>
          <a:blip r:embed="rId3"/>
          <a:srcRect/>
          <a:stretch>
            <a:fillRect/>
          </a:stretch>
        </p:blipFill>
        <p:spPr bwMode="auto">
          <a:xfrm>
            <a:off x="1039344" y="1546590"/>
            <a:ext cx="7221537" cy="4337050"/>
          </a:xfrm>
          <a:prstGeom prst="rect">
            <a:avLst/>
          </a:prstGeom>
          <a:noFill/>
          <a:ln w="19050">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smtClean="0"/>
              <a:t>EB.PHANTOM – FOR BATCH MODE</a:t>
            </a:r>
          </a:p>
        </p:txBody>
      </p:sp>
      <p:pic>
        <p:nvPicPr>
          <p:cNvPr id="66564" name="Picture 4"/>
          <p:cNvPicPr>
            <a:picLocks noChangeAspect="1" noChangeArrowheads="1"/>
          </p:cNvPicPr>
          <p:nvPr/>
        </p:nvPicPr>
        <p:blipFill>
          <a:blip r:embed="rId2"/>
          <a:srcRect/>
          <a:stretch>
            <a:fillRect/>
          </a:stretch>
        </p:blipFill>
        <p:spPr bwMode="auto">
          <a:xfrm>
            <a:off x="977796" y="1517312"/>
            <a:ext cx="7308850" cy="4337050"/>
          </a:xfrm>
          <a:prstGeom prst="rect">
            <a:avLst/>
          </a:prstGeom>
          <a:noFill/>
          <a:ln w="19050">
            <a:solidFill>
              <a:schemeClr val="hlink"/>
            </a:solidFill>
            <a:miter lim="800000"/>
            <a:headEnd/>
            <a:tailEnd/>
          </a:ln>
        </p:spPr>
      </p:pic>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smtClean="0"/>
              <a:t>BATCH RUNNING PROCESS	</a:t>
            </a:r>
          </a:p>
        </p:txBody>
      </p:sp>
      <p:sp>
        <p:nvSpPr>
          <p:cNvPr id="67587" name="Rectangle 3"/>
          <p:cNvSpPr>
            <a:spLocks noGrp="1" noChangeArrowheads="1"/>
          </p:cNvSpPr>
          <p:nvPr>
            <p:ph type="body" idx="1"/>
          </p:nvPr>
        </p:nvSpPr>
        <p:spPr>
          <a:xfrm>
            <a:off x="992188" y="1592263"/>
            <a:ext cx="7874000" cy="4337050"/>
          </a:xfrm>
        </p:spPr>
        <p:txBody>
          <a:bodyPr/>
          <a:lstStyle/>
          <a:p>
            <a:pPr eaLnBrk="1" hangingPunct="1"/>
            <a:r>
              <a:rPr lang="en-US" dirty="0" smtClean="0"/>
              <a:t>After setting up OFS.SOURCE and EB.PHANTOM for Batch</a:t>
            </a:r>
          </a:p>
          <a:p>
            <a:pPr eaLnBrk="1" hangingPunct="1"/>
            <a:r>
              <a:rPr lang="en-US" dirty="0" smtClean="0"/>
              <a:t>Input message is passed in INQUEUE dir of OFS.SOURCE</a:t>
            </a:r>
          </a:p>
          <a:p>
            <a:pPr eaLnBrk="1" hangingPunct="1"/>
            <a:r>
              <a:rPr lang="en-US" dirty="0" smtClean="0"/>
              <a:t>From shell prompt type</a:t>
            </a:r>
          </a:p>
          <a:p>
            <a:pPr lvl="1" eaLnBrk="1" hangingPunct="1">
              <a:buFont typeface="Trebuchet MS" pitchFamily="34" charset="0"/>
              <a:buNone/>
            </a:pPr>
            <a:r>
              <a:rPr lang="en-US" dirty="0" err="1" smtClean="0"/>
              <a:t>jsh</a:t>
            </a:r>
            <a:r>
              <a:rPr lang="en-US" dirty="0" smtClean="0"/>
              <a:t>&gt;JED OFS.IN MSG1</a:t>
            </a:r>
          </a:p>
        </p:txBody>
      </p:sp>
      <p:pic>
        <p:nvPicPr>
          <p:cNvPr id="67588" name="Picture 8"/>
          <p:cNvPicPr>
            <a:picLocks noChangeAspect="1" noChangeArrowheads="1"/>
          </p:cNvPicPr>
          <p:nvPr/>
        </p:nvPicPr>
        <p:blipFill>
          <a:blip r:embed="rId2"/>
          <a:srcRect/>
          <a:stretch>
            <a:fillRect/>
          </a:stretch>
        </p:blipFill>
        <p:spPr bwMode="auto">
          <a:xfrm>
            <a:off x="1000125" y="3711575"/>
            <a:ext cx="7737475" cy="323850"/>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smtClean="0"/>
              <a:t>EB.PHANTOM</a:t>
            </a:r>
          </a:p>
        </p:txBody>
      </p:sp>
      <p:sp>
        <p:nvSpPr>
          <p:cNvPr id="68611" name="Rectangle 3"/>
          <p:cNvSpPr>
            <a:spLocks noGrp="1" noChangeArrowheads="1"/>
          </p:cNvSpPr>
          <p:nvPr>
            <p:ph type="body" idx="1"/>
          </p:nvPr>
        </p:nvSpPr>
        <p:spPr>
          <a:xfrm>
            <a:off x="992188" y="1592263"/>
            <a:ext cx="7874000" cy="4337050"/>
          </a:xfrm>
        </p:spPr>
        <p:txBody>
          <a:bodyPr/>
          <a:lstStyle/>
          <a:p>
            <a:pPr eaLnBrk="1" hangingPunct="1"/>
            <a:r>
              <a:rPr lang="en-US" smtClean="0"/>
              <a:t>Enter into Globus</a:t>
            </a:r>
          </a:p>
          <a:p>
            <a:pPr eaLnBrk="1" hangingPunct="1"/>
            <a:r>
              <a:rPr lang="en-US" smtClean="0"/>
              <a:t>Verify EB.PHANTOM Record</a:t>
            </a:r>
          </a:p>
          <a:p>
            <a:pPr eaLnBrk="1" hangingPunct="1">
              <a:buFont typeface="Wingdings 3" pitchFamily="18" charset="2"/>
              <a:buNone/>
            </a:pPr>
            <a:r>
              <a:rPr lang="en-US" smtClean="0"/>
              <a:t>				EB.PHANTOM V BATCH.PHANTOM</a:t>
            </a:r>
          </a:p>
          <a:p>
            <a:pPr eaLnBrk="1" hangingPunct="1"/>
            <a:r>
              <a:rPr lang="en-US" smtClean="0"/>
              <a:t>Check the out Queue Dir using      </a:t>
            </a:r>
          </a:p>
          <a:p>
            <a:pPr eaLnBrk="1" hangingPunct="1">
              <a:buFont typeface="Wingdings 3" pitchFamily="18" charset="2"/>
              <a:buNone/>
            </a:pPr>
            <a:endParaRPr lang="en-US" smtClean="0"/>
          </a:p>
        </p:txBody>
      </p:sp>
      <p:pic>
        <p:nvPicPr>
          <p:cNvPr id="68612" name="Picture 6"/>
          <p:cNvPicPr>
            <a:picLocks noChangeAspect="1" noChangeArrowheads="1"/>
          </p:cNvPicPr>
          <p:nvPr/>
        </p:nvPicPr>
        <p:blipFill>
          <a:blip r:embed="rId2"/>
          <a:srcRect/>
          <a:stretch>
            <a:fillRect/>
          </a:stretch>
        </p:blipFill>
        <p:spPr bwMode="auto">
          <a:xfrm>
            <a:off x="957263" y="3870325"/>
            <a:ext cx="7954962" cy="295275"/>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smtClean="0"/>
              <a:t>OFS.REQUEST.DETAIL</a:t>
            </a:r>
          </a:p>
        </p:txBody>
      </p:sp>
      <p:sp>
        <p:nvSpPr>
          <p:cNvPr id="69635" name="Rectangle 3"/>
          <p:cNvSpPr>
            <a:spLocks noGrp="1" noChangeArrowheads="1"/>
          </p:cNvSpPr>
          <p:nvPr>
            <p:ph type="body" idx="1"/>
          </p:nvPr>
        </p:nvSpPr>
        <p:spPr>
          <a:xfrm>
            <a:off x="992188" y="1592263"/>
            <a:ext cx="7874000" cy="4337050"/>
          </a:xfrm>
        </p:spPr>
        <p:txBody>
          <a:bodyPr/>
          <a:lstStyle/>
          <a:p>
            <a:pPr eaLnBrk="1" hangingPunct="1"/>
            <a:r>
              <a:rPr lang="en-US" smtClean="0"/>
              <a:t>OFS.REQUEST.DETAIL</a:t>
            </a:r>
          </a:p>
          <a:p>
            <a:pPr lvl="1" eaLnBrk="1" hangingPunct="1"/>
            <a:r>
              <a:rPr lang="en-US" smtClean="0"/>
              <a:t>Is an application where all the details of the record will be stored</a:t>
            </a:r>
          </a:p>
          <a:p>
            <a:pPr lvl="1" eaLnBrk="1" hangingPunct="1"/>
            <a:r>
              <a:rPr lang="en-US" smtClean="0"/>
              <a:t>The message key will be prefixed with the id which we have given in DET.PREFIX = BAT</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smtClean="0"/>
              <a:t>OFS.REQUEST.DETAIL</a:t>
            </a:r>
          </a:p>
        </p:txBody>
      </p:sp>
      <p:pic>
        <p:nvPicPr>
          <p:cNvPr id="70661" name="Picture 5"/>
          <p:cNvPicPr>
            <a:picLocks noChangeAspect="1" noChangeArrowheads="1"/>
          </p:cNvPicPr>
          <p:nvPr/>
        </p:nvPicPr>
        <p:blipFill>
          <a:blip r:embed="rId2"/>
          <a:srcRect/>
          <a:stretch>
            <a:fillRect/>
          </a:stretch>
        </p:blipFill>
        <p:spPr bwMode="auto">
          <a:xfrm>
            <a:off x="990756" y="1326083"/>
            <a:ext cx="7372350" cy="42957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smtClean="0"/>
              <a:t>Workshop - II</a:t>
            </a:r>
          </a:p>
        </p:txBody>
      </p:sp>
      <p:sp>
        <p:nvSpPr>
          <p:cNvPr id="71683" name="Rectangle 3"/>
          <p:cNvSpPr>
            <a:spLocks noGrp="1" noChangeArrowheads="1"/>
          </p:cNvSpPr>
          <p:nvPr>
            <p:ph type="body" idx="1"/>
          </p:nvPr>
        </p:nvSpPr>
        <p:spPr>
          <a:xfrm>
            <a:off x="992188" y="1592263"/>
            <a:ext cx="7874000" cy="4337050"/>
          </a:xfrm>
        </p:spPr>
        <p:txBody>
          <a:bodyPr/>
          <a:lstStyle/>
          <a:p>
            <a:pPr eaLnBrk="1" hangingPunct="1"/>
            <a:r>
              <a:rPr lang="en-US" smtClean="0"/>
              <a:t>Set up OFS for Batch</a:t>
            </a:r>
          </a:p>
          <a:p>
            <a:pPr eaLnBrk="1" hangingPunct="1"/>
            <a:r>
              <a:rPr lang="en-US" smtClean="0"/>
              <a:t>Create EB.PHANTOM</a:t>
            </a:r>
          </a:p>
          <a:p>
            <a:pPr eaLnBrk="1" hangingPunct="1"/>
            <a:r>
              <a:rPr lang="en-US" smtClean="0"/>
              <a:t>Pass the OFS message in the INFILE for updating a sector version</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smtClean="0"/>
              <a:t>Solution – Step 1: Setup BATCH</a:t>
            </a:r>
          </a:p>
        </p:txBody>
      </p:sp>
      <p:pic>
        <p:nvPicPr>
          <p:cNvPr id="72707" name="Picture 4"/>
          <p:cNvPicPr>
            <a:picLocks noGrp="1" noChangeAspect="1" noChangeArrowheads="1"/>
          </p:cNvPicPr>
          <p:nvPr>
            <p:ph idx="1"/>
          </p:nvPr>
        </p:nvPicPr>
        <p:blipFill>
          <a:blip r:embed="rId2"/>
          <a:srcRect/>
          <a:stretch>
            <a:fillRect/>
          </a:stretch>
        </p:blipFill>
        <p:spPr>
          <a:xfrm>
            <a:off x="863600" y="1527175"/>
            <a:ext cx="3897313" cy="4419600"/>
          </a:xfrm>
          <a:noFill/>
          <a:ln>
            <a:solidFill>
              <a:srgbClr val="0000FF"/>
            </a:solidFill>
          </a:ln>
        </p:spPr>
      </p:pic>
      <p:pic>
        <p:nvPicPr>
          <p:cNvPr id="72708" name="Picture 5"/>
          <p:cNvPicPr>
            <a:picLocks noChangeAspect="1" noChangeArrowheads="1"/>
          </p:cNvPicPr>
          <p:nvPr/>
        </p:nvPicPr>
        <p:blipFill>
          <a:blip r:embed="rId3"/>
          <a:srcRect/>
          <a:stretch>
            <a:fillRect/>
          </a:stretch>
        </p:blipFill>
        <p:spPr bwMode="auto">
          <a:xfrm>
            <a:off x="4862513" y="1495425"/>
            <a:ext cx="3835400" cy="4438650"/>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smtClean="0"/>
              <a:t>Solution – Step 2 : EB.PHANTOM</a:t>
            </a:r>
          </a:p>
        </p:txBody>
      </p:sp>
      <p:pic>
        <p:nvPicPr>
          <p:cNvPr id="73731" name="Picture 4"/>
          <p:cNvPicPr>
            <a:picLocks noGrp="1" noChangeAspect="1" noChangeArrowheads="1"/>
          </p:cNvPicPr>
          <p:nvPr>
            <p:ph idx="1"/>
          </p:nvPr>
        </p:nvPicPr>
        <p:blipFill>
          <a:blip r:embed="rId2"/>
          <a:srcRect r="4602"/>
          <a:stretch>
            <a:fillRect/>
          </a:stretch>
        </p:blipFill>
        <p:spPr>
          <a:xfrm>
            <a:off x="246063" y="1536700"/>
            <a:ext cx="4343400" cy="4400550"/>
          </a:xfrm>
          <a:noFill/>
          <a:ln>
            <a:solidFill>
              <a:srgbClr val="0000FF"/>
            </a:solidFill>
          </a:ln>
        </p:spPr>
      </p:pic>
      <p:pic>
        <p:nvPicPr>
          <p:cNvPr id="73732" name="Picture 5"/>
          <p:cNvPicPr>
            <a:picLocks noChangeAspect="1" noChangeArrowheads="1"/>
          </p:cNvPicPr>
          <p:nvPr/>
        </p:nvPicPr>
        <p:blipFill>
          <a:blip r:embed="rId3"/>
          <a:srcRect r="4068"/>
          <a:stretch>
            <a:fillRect/>
          </a:stretch>
        </p:blipFill>
        <p:spPr bwMode="auto">
          <a:xfrm>
            <a:off x="4645025" y="1520825"/>
            <a:ext cx="4267200" cy="4429125"/>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smtClean="0"/>
              <a:t>Solution – Step 3: Create a Record</a:t>
            </a:r>
          </a:p>
        </p:txBody>
      </p:sp>
      <p:sp>
        <p:nvSpPr>
          <p:cNvPr id="74755" name="Content Placeholder 2"/>
          <p:cNvSpPr>
            <a:spLocks noGrp="1"/>
          </p:cNvSpPr>
          <p:nvPr>
            <p:ph idx="1"/>
          </p:nvPr>
        </p:nvSpPr>
        <p:spPr>
          <a:xfrm>
            <a:off x="420688" y="1592263"/>
            <a:ext cx="8723312" cy="4638675"/>
          </a:xfrm>
        </p:spPr>
        <p:txBody>
          <a:bodyPr/>
          <a:lstStyle/>
          <a:p>
            <a:r>
              <a:rPr lang="en-US" smtClean="0"/>
              <a:t>After setting OFS.SOURCE and EB.PHANTOM for Batch then pass the OFS  message to be processed through the In Queue Directory specified in your OFS.SOURCE record.</a:t>
            </a:r>
          </a:p>
          <a:p>
            <a:r>
              <a:rPr lang="en-US" smtClean="0"/>
              <a:t>Here In Queue Dir is OFS.IN</a:t>
            </a:r>
          </a:p>
          <a:p>
            <a:r>
              <a:rPr lang="en-US" smtClean="0"/>
              <a:t>From the jbase prompt : JED OFS.IN &lt;record&gt;</a:t>
            </a:r>
          </a:p>
          <a:p>
            <a:r>
              <a:rPr lang="en-US" smtClean="0"/>
              <a:t>Save the record</a:t>
            </a:r>
          </a:p>
          <a:p>
            <a:endParaRPr lang="en-US" smtClean="0"/>
          </a:p>
          <a:p>
            <a:endParaRPr lang="en-US" smtClean="0"/>
          </a:p>
          <a:p>
            <a:pPr>
              <a:buFont typeface="Wingdings 3" pitchFamily="18" charset="2"/>
              <a:buNone/>
            </a:pPr>
            <a:endParaRPr lang="en-US" smtClean="0"/>
          </a:p>
        </p:txBody>
      </p:sp>
      <p:pic>
        <p:nvPicPr>
          <p:cNvPr id="74756" name="Picture 4"/>
          <p:cNvPicPr>
            <a:picLocks noChangeAspect="1" noChangeArrowheads="1"/>
          </p:cNvPicPr>
          <p:nvPr/>
        </p:nvPicPr>
        <p:blipFill>
          <a:blip r:embed="rId2"/>
          <a:srcRect/>
          <a:stretch>
            <a:fillRect/>
          </a:stretch>
        </p:blipFill>
        <p:spPr bwMode="auto">
          <a:xfrm>
            <a:off x="460375" y="4484688"/>
            <a:ext cx="8399463" cy="952500"/>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US" smtClean="0"/>
              <a:t>Solution – Step 4: Verify EB.PHANTOM</a:t>
            </a:r>
          </a:p>
        </p:txBody>
      </p:sp>
      <p:sp>
        <p:nvSpPr>
          <p:cNvPr id="75779" name="Content Placeholder 2"/>
          <p:cNvSpPr>
            <a:spLocks noGrp="1"/>
          </p:cNvSpPr>
          <p:nvPr>
            <p:ph idx="1"/>
          </p:nvPr>
        </p:nvSpPr>
        <p:spPr>
          <a:xfrm>
            <a:off x="827088" y="1606550"/>
            <a:ext cx="8039100" cy="4638675"/>
          </a:xfrm>
        </p:spPr>
        <p:txBody>
          <a:bodyPr/>
          <a:lstStyle/>
          <a:p>
            <a:r>
              <a:rPr lang="en-US" smtClean="0"/>
              <a:t>Enter INTO GLOBUS/T24</a:t>
            </a:r>
          </a:p>
          <a:p>
            <a:r>
              <a:rPr lang="en-US" smtClean="0"/>
              <a:t>From the Globus Application using ‘COMMITT’ the created EB.PHANTOM record (BATCH.PHANTOM) with Function </a:t>
            </a:r>
            <a:r>
              <a:rPr lang="en-US" b="1" smtClean="0"/>
              <a:t>“V”</a:t>
            </a:r>
          </a:p>
          <a:p>
            <a:r>
              <a:rPr lang="en-US" smtClean="0"/>
              <a:t>Example : </a:t>
            </a:r>
            <a:r>
              <a:rPr lang="en-US" smtClean="0">
                <a:solidFill>
                  <a:schemeClr val="tx1"/>
                </a:solidFill>
              </a:rPr>
              <a:t>EB.PHANTOM V BATCH.PHANTOM</a:t>
            </a:r>
          </a:p>
          <a:p>
            <a:r>
              <a:rPr lang="en-US" smtClean="0"/>
              <a:t>Check the Out Queue Dir using JED OFS.OUT MSG1</a:t>
            </a:r>
          </a:p>
          <a:p>
            <a:pPr>
              <a:buFont typeface="Wingdings 3" pitchFamily="18" charset="2"/>
              <a:buNone/>
            </a:pPr>
            <a:endParaRPr lang="en-US" smtClean="0"/>
          </a:p>
          <a:p>
            <a:pPr>
              <a:buFont typeface="Wingdings 3" pitchFamily="18" charset="2"/>
              <a:buNone/>
            </a:pPr>
            <a:endParaRPr lang="en-US" smtClean="0"/>
          </a:p>
        </p:txBody>
      </p:sp>
      <p:pic>
        <p:nvPicPr>
          <p:cNvPr id="75780" name="Picture 4"/>
          <p:cNvPicPr>
            <a:picLocks noChangeAspect="1" noChangeArrowheads="1"/>
          </p:cNvPicPr>
          <p:nvPr/>
        </p:nvPicPr>
        <p:blipFill>
          <a:blip r:embed="rId2"/>
          <a:srcRect/>
          <a:stretch>
            <a:fillRect/>
          </a:stretch>
        </p:blipFill>
        <p:spPr bwMode="auto">
          <a:xfrm>
            <a:off x="898525" y="4645025"/>
            <a:ext cx="7726363" cy="762000"/>
          </a:xfrm>
          <a:prstGeom prst="rect">
            <a:avLst/>
          </a:prstGeom>
          <a:noFill/>
          <a:ln w="9525">
            <a:solidFill>
              <a:srgbClr val="0000FF"/>
            </a:solidFill>
            <a:miter lim="800000"/>
            <a:headEnd/>
            <a:tailEnd/>
          </a:ln>
        </p:spPr>
      </p:pic>
      <p:cxnSp>
        <p:nvCxnSpPr>
          <p:cNvPr id="75781" name="Straight Arrow Connector 5"/>
          <p:cNvCxnSpPr>
            <a:cxnSpLocks noChangeShapeType="1"/>
          </p:cNvCxnSpPr>
          <p:nvPr/>
        </p:nvCxnSpPr>
        <p:spPr bwMode="auto">
          <a:xfrm rot="5400000" flipH="1" flipV="1">
            <a:off x="8105775" y="5551488"/>
            <a:ext cx="508000" cy="203200"/>
          </a:xfrm>
          <a:prstGeom prst="straightConnector1">
            <a:avLst/>
          </a:prstGeom>
          <a:noFill/>
          <a:ln w="19050" algn="ctr">
            <a:solidFill>
              <a:srgbClr val="FF0000"/>
            </a:solidFill>
            <a:round/>
            <a:headEnd/>
            <a:tailEnd type="arrow" w="med" len="med"/>
          </a:ln>
        </p:spPr>
      </p:cxnSp>
      <p:sp>
        <p:nvSpPr>
          <p:cNvPr id="75782" name="Rectangle 6"/>
          <p:cNvSpPr>
            <a:spLocks noChangeArrowheads="1"/>
          </p:cNvSpPr>
          <p:nvPr/>
        </p:nvSpPr>
        <p:spPr bwMode="auto">
          <a:xfrm>
            <a:off x="6488113" y="5805488"/>
            <a:ext cx="2119312" cy="363537"/>
          </a:xfrm>
          <a:prstGeom prst="rect">
            <a:avLst/>
          </a:prstGeom>
          <a:solidFill>
            <a:schemeClr val="bg1"/>
          </a:solidFill>
          <a:ln w="9525" algn="ctr">
            <a:solidFill>
              <a:schemeClr val="tx1"/>
            </a:solidFill>
            <a:round/>
            <a:headEnd/>
            <a:tailEnd/>
          </a:ln>
        </p:spPr>
        <p:txBody>
          <a:bodyPr/>
          <a:lstStyle/>
          <a:p>
            <a:pPr eaLnBrk="0" hangingPunct="0"/>
            <a:r>
              <a:rPr lang="en-US">
                <a:solidFill>
                  <a:schemeClr val="tx1"/>
                </a:solidFill>
              </a:rPr>
              <a:t>Indicates  success</a:t>
            </a: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solidFill>
                  <a:schemeClr val="bg1"/>
                </a:solidFill>
              </a:rPr>
              <a:t>ENQUIRY using OFS</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smtClean="0"/>
              <a:t>ENQUIRY – USING OFS</a:t>
            </a:r>
          </a:p>
        </p:txBody>
      </p:sp>
      <p:sp>
        <p:nvSpPr>
          <p:cNvPr id="77827" name="Rectangle 3"/>
          <p:cNvSpPr>
            <a:spLocks noGrp="1" noChangeArrowheads="1"/>
          </p:cNvSpPr>
          <p:nvPr>
            <p:ph type="body" idx="1"/>
          </p:nvPr>
        </p:nvSpPr>
        <p:spPr>
          <a:xfrm>
            <a:off x="992188" y="1592263"/>
            <a:ext cx="7874000" cy="4337050"/>
          </a:xfrm>
        </p:spPr>
        <p:txBody>
          <a:bodyPr/>
          <a:lstStyle/>
          <a:p>
            <a:pPr eaLnBrk="1" hangingPunct="1"/>
            <a:r>
              <a:rPr lang="en-US" smtClean="0"/>
              <a:t>ENQUIRY CAN BE DONE USING OFS MESSAGE STRUCTURE</a:t>
            </a:r>
          </a:p>
          <a:p>
            <a:pPr eaLnBrk="1" hangingPunct="1"/>
            <a:r>
              <a:rPr lang="en-US" smtClean="0"/>
              <a:t>OPERATIONS should always be ENQUIRY.SELECT</a:t>
            </a:r>
          </a:p>
          <a:p>
            <a:pPr eaLnBrk="1" hangingPunct="1"/>
            <a:r>
              <a:rPr lang="en-US" smtClean="0"/>
              <a:t>TRANSACTION – ID SHOULD BE NAME OF THE ENQUIRY</a:t>
            </a:r>
          </a:p>
          <a:p>
            <a:pPr eaLnBrk="1" hangingPunct="1"/>
            <a:r>
              <a:rPr lang="en-US" smtClean="0"/>
              <a:t>MESSAGE DATA CAN BE SPECIFIED BY SELECTION FIELD</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smtClean="0"/>
              <a:t>ENQUIRY - OFS</a:t>
            </a:r>
          </a:p>
        </p:txBody>
      </p:sp>
      <p:sp>
        <p:nvSpPr>
          <p:cNvPr id="78851" name="Rectangle 3"/>
          <p:cNvSpPr>
            <a:spLocks noGrp="1" noChangeArrowheads="1"/>
          </p:cNvSpPr>
          <p:nvPr>
            <p:ph type="body" idx="1"/>
          </p:nvPr>
        </p:nvSpPr>
        <p:spPr>
          <a:xfrm>
            <a:off x="992188" y="1592263"/>
            <a:ext cx="7874000" cy="4337050"/>
          </a:xfrm>
        </p:spPr>
        <p:txBody>
          <a:bodyPr/>
          <a:lstStyle/>
          <a:p>
            <a:pPr eaLnBrk="1" hangingPunct="1"/>
            <a:r>
              <a:rPr lang="en-US" smtClean="0"/>
              <a:t>Enquiry can either be passed through online or Batch</a:t>
            </a:r>
          </a:p>
          <a:p>
            <a:pPr eaLnBrk="1" hangingPunct="1"/>
            <a:r>
              <a:rPr lang="en-US" smtClean="0"/>
              <a:t>Steps to be followed are the same as that of Transaction</a:t>
            </a:r>
          </a:p>
          <a:p>
            <a:pPr eaLnBrk="1" hangingPunct="1"/>
            <a:r>
              <a:rPr lang="en-US" smtClean="0"/>
              <a:t>Message structure of Enquiry</a:t>
            </a:r>
          </a:p>
          <a:p>
            <a:pPr lvl="1" eaLnBrk="1" hangingPunct="1">
              <a:buFont typeface="Trebuchet MS" pitchFamily="34" charset="0"/>
              <a:buNone/>
            </a:pPr>
            <a:r>
              <a:rPr lang="en-US" sz="1600" smtClean="0"/>
              <a:t>ENQUIRY.SELECT,,USERINFORMATION,ENQUIRYNAME,MESSAGEDATA</a:t>
            </a:r>
          </a:p>
          <a:p>
            <a:pPr eaLnBrk="1" hangingPunct="1"/>
            <a:endParaRPr lang="en-US" sz="1600" smtClean="0"/>
          </a:p>
          <a:p>
            <a:pPr eaLnBrk="1" hangingPunct="1"/>
            <a:endParaRPr lang="en-US" smtClean="0"/>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smtClean="0"/>
              <a:t>ENQUIRY - OFS</a:t>
            </a:r>
          </a:p>
        </p:txBody>
      </p:sp>
      <p:sp>
        <p:nvSpPr>
          <p:cNvPr id="79875" name="Rectangle 3"/>
          <p:cNvSpPr>
            <a:spLocks noGrp="1" noChangeArrowheads="1"/>
          </p:cNvSpPr>
          <p:nvPr>
            <p:ph type="body" idx="1"/>
          </p:nvPr>
        </p:nvSpPr>
        <p:spPr>
          <a:xfrm>
            <a:off x="992188" y="1592263"/>
            <a:ext cx="7874000" cy="4337050"/>
          </a:xfrm>
        </p:spPr>
        <p:txBody>
          <a:bodyPr/>
          <a:lstStyle/>
          <a:p>
            <a:pPr eaLnBrk="1" hangingPunct="1"/>
            <a:r>
              <a:rPr lang="en-US" smtClean="0"/>
              <a:t>ENQUIRY.SELECT</a:t>
            </a:r>
          </a:p>
          <a:p>
            <a:pPr lvl="1" eaLnBrk="1" hangingPunct="1"/>
            <a:r>
              <a:rPr lang="en-US" smtClean="0"/>
              <a:t>The ENQUIRY.SELECT is actually a TEMENOS T24 application that is used to run queries and return the data</a:t>
            </a:r>
          </a:p>
          <a:p>
            <a:pPr lvl="1" eaLnBrk="1" hangingPunct="1"/>
            <a:r>
              <a:rPr lang="en-US" smtClean="0"/>
              <a:t>The first portion of an enquiry type request must always be ENQUIRY.SELECT</a:t>
            </a:r>
          </a:p>
          <a:p>
            <a:pPr eaLnBrk="1" hangingPunct="1"/>
            <a:r>
              <a:rPr lang="en-US" smtClean="0"/>
              <a:t>USER INFORMATION</a:t>
            </a:r>
          </a:p>
          <a:p>
            <a:pPr lvl="1" eaLnBrk="1" hangingPunct="1"/>
            <a:r>
              <a:rPr lang="en-US" smtClean="0"/>
              <a:t>The user information portion of the message structure is same as that in the transaction type request</a:t>
            </a: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smtClean="0"/>
              <a:t>ENQUIRY - OFS</a:t>
            </a:r>
          </a:p>
        </p:txBody>
      </p:sp>
      <p:sp>
        <p:nvSpPr>
          <p:cNvPr id="80899" name="Rectangle 3"/>
          <p:cNvSpPr>
            <a:spLocks noGrp="1" noChangeArrowheads="1"/>
          </p:cNvSpPr>
          <p:nvPr>
            <p:ph type="body" idx="1"/>
          </p:nvPr>
        </p:nvSpPr>
        <p:spPr>
          <a:xfrm>
            <a:off x="992188" y="1592263"/>
            <a:ext cx="7874000" cy="4337050"/>
          </a:xfrm>
        </p:spPr>
        <p:txBody>
          <a:bodyPr/>
          <a:lstStyle/>
          <a:p>
            <a:pPr eaLnBrk="1" hangingPunct="1"/>
            <a:r>
              <a:rPr lang="en-US" smtClean="0"/>
              <a:t>ENQUIRY.NAME</a:t>
            </a:r>
          </a:p>
          <a:p>
            <a:pPr lvl="1" eaLnBrk="1" hangingPunct="1"/>
            <a:r>
              <a:rPr lang="en-US" smtClean="0"/>
              <a:t>The enquiry name portion of the message structure must contain the name of the TEMENOS T24 Enquiry that will be run</a:t>
            </a:r>
          </a:p>
          <a:p>
            <a:pPr lvl="1" eaLnBrk="1" hangingPunct="1"/>
            <a:r>
              <a:rPr lang="en-US" smtClean="0"/>
              <a:t>The Enquiry name supplied here must be a valid TEMENOS T24 enquiry</a:t>
            </a:r>
          </a:p>
          <a:p>
            <a:pPr eaLnBrk="1" hangingPunct="1"/>
            <a:r>
              <a:rPr lang="en-US" smtClean="0"/>
              <a:t>ENQUIRY.DATA</a:t>
            </a:r>
          </a:p>
          <a:p>
            <a:pPr lvl="1" eaLnBrk="1" hangingPunct="1"/>
            <a:r>
              <a:rPr lang="en-US" smtClean="0"/>
              <a:t>The message data portion of the enquiry message structure contains the selection criteria passed to the enquiry</a:t>
            </a:r>
          </a:p>
          <a:p>
            <a:pPr lvl="1" eaLnBrk="1" hangingPunct="1">
              <a:buFont typeface="Trebuchet MS" pitchFamily="34" charset="0"/>
              <a:buNone/>
            </a:pPr>
            <a:endParaRPr lang="en-US" smtClean="0"/>
          </a:p>
          <a:p>
            <a:pPr lvl="1" eaLnBrk="1" hangingPunct="1">
              <a:buFont typeface="Trebuchet MS" pitchFamily="34" charset="0"/>
              <a:buNone/>
            </a:pPr>
            <a:endParaRPr lang="en-US" smtClean="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smtClean="0"/>
              <a:t>ENQUIRY – OFS (SYNTAX)</a:t>
            </a:r>
          </a:p>
        </p:txBody>
      </p:sp>
      <p:sp>
        <p:nvSpPr>
          <p:cNvPr id="81923" name="Rectangle 3"/>
          <p:cNvSpPr>
            <a:spLocks noGrp="1" noChangeArrowheads="1"/>
          </p:cNvSpPr>
          <p:nvPr>
            <p:ph type="body" idx="1"/>
          </p:nvPr>
        </p:nvSpPr>
        <p:spPr>
          <a:xfrm>
            <a:off x="992188" y="1592263"/>
            <a:ext cx="7874000" cy="4337050"/>
          </a:xfrm>
        </p:spPr>
        <p:txBody>
          <a:bodyPr/>
          <a:lstStyle/>
          <a:p>
            <a:pPr eaLnBrk="1" hangingPunct="1"/>
            <a:r>
              <a:rPr lang="en-US" smtClean="0"/>
              <a:t>Type the following command in shell prompt</a:t>
            </a:r>
          </a:p>
          <a:p>
            <a:pPr eaLnBrk="1" hangingPunct="1"/>
            <a:endParaRPr lang="en-US" smtClean="0"/>
          </a:p>
        </p:txBody>
      </p:sp>
      <p:pic>
        <p:nvPicPr>
          <p:cNvPr id="81924" name="Picture 5"/>
          <p:cNvPicPr>
            <a:picLocks noChangeAspect="1" noChangeArrowheads="1"/>
          </p:cNvPicPr>
          <p:nvPr/>
        </p:nvPicPr>
        <p:blipFill>
          <a:blip r:embed="rId2"/>
          <a:srcRect/>
          <a:stretch>
            <a:fillRect/>
          </a:stretch>
        </p:blipFill>
        <p:spPr bwMode="auto">
          <a:xfrm>
            <a:off x="1383078" y="2280197"/>
            <a:ext cx="7077075" cy="442912"/>
          </a:xfrm>
          <a:prstGeom prst="rect">
            <a:avLst/>
          </a:prstGeom>
          <a:noFill/>
          <a:ln w="19050">
            <a:solidFill>
              <a:srgbClr val="0000FF"/>
            </a:solidFill>
            <a:miter lim="800000"/>
            <a:headEnd/>
            <a:tailEnd/>
          </a:ln>
        </p:spPr>
      </p:pic>
      <p:pic>
        <p:nvPicPr>
          <p:cNvPr id="81925" name="Picture 6"/>
          <p:cNvPicPr>
            <a:picLocks noChangeAspect="1" noChangeArrowheads="1"/>
          </p:cNvPicPr>
          <p:nvPr/>
        </p:nvPicPr>
        <p:blipFill>
          <a:blip r:embed="rId3"/>
          <a:srcRect/>
          <a:stretch>
            <a:fillRect/>
          </a:stretch>
        </p:blipFill>
        <p:spPr bwMode="auto">
          <a:xfrm>
            <a:off x="1356090" y="3032489"/>
            <a:ext cx="7102475" cy="2783694"/>
          </a:xfrm>
          <a:prstGeom prst="rect">
            <a:avLst/>
          </a:prstGeom>
          <a:noFill/>
          <a:ln w="19050">
            <a:solidFill>
              <a:srgbClr val="0000FF"/>
            </a:solidFill>
            <a:miter lim="800000"/>
            <a:headEnd/>
            <a:tailEnd/>
          </a:ln>
        </p:spPr>
      </p:pic>
      <p:pic>
        <p:nvPicPr>
          <p:cNvPr id="12290" name="Picture 2"/>
          <p:cNvPicPr>
            <a:picLocks noChangeAspect="1" noChangeArrowheads="1"/>
          </p:cNvPicPr>
          <p:nvPr/>
        </p:nvPicPr>
        <p:blipFill>
          <a:blip r:embed="rId4"/>
          <a:srcRect/>
          <a:stretch>
            <a:fillRect/>
          </a:stretch>
        </p:blipFill>
        <p:spPr bwMode="auto">
          <a:xfrm>
            <a:off x="1400799" y="2266093"/>
            <a:ext cx="1552263" cy="23545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smtClean="0"/>
              <a:t>Workshop - III</a:t>
            </a:r>
          </a:p>
        </p:txBody>
      </p:sp>
      <p:sp>
        <p:nvSpPr>
          <p:cNvPr id="82947" name="Rectangle 3"/>
          <p:cNvSpPr>
            <a:spLocks noGrp="1" noChangeArrowheads="1"/>
          </p:cNvSpPr>
          <p:nvPr>
            <p:ph type="body" idx="1"/>
          </p:nvPr>
        </p:nvSpPr>
        <p:spPr>
          <a:xfrm>
            <a:off x="992188" y="1592263"/>
            <a:ext cx="7874000" cy="4337050"/>
          </a:xfrm>
        </p:spPr>
        <p:txBody>
          <a:bodyPr/>
          <a:lstStyle/>
          <a:p>
            <a:pPr eaLnBrk="1" hangingPunct="1"/>
            <a:r>
              <a:rPr lang="en-US" smtClean="0"/>
              <a:t>Create a enquiry type request to find the list of SECTOR found in T24</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smtClean="0"/>
              <a:t>Solution – Step 1 : Enquiry for sector</a:t>
            </a:r>
          </a:p>
        </p:txBody>
      </p:sp>
      <p:sp>
        <p:nvSpPr>
          <p:cNvPr id="83971" name="Content Placeholder 2"/>
          <p:cNvSpPr>
            <a:spLocks noGrp="1"/>
          </p:cNvSpPr>
          <p:nvPr>
            <p:ph idx="1"/>
          </p:nvPr>
        </p:nvSpPr>
        <p:spPr>
          <a:xfrm>
            <a:off x="992188" y="1592263"/>
            <a:ext cx="7874000" cy="4638675"/>
          </a:xfrm>
        </p:spPr>
        <p:txBody>
          <a:bodyPr/>
          <a:lstStyle/>
          <a:p>
            <a:r>
              <a:rPr lang="en-US" smtClean="0"/>
              <a:t>Enquiry for sector contains the following fields</a:t>
            </a:r>
          </a:p>
        </p:txBody>
      </p:sp>
      <p:pic>
        <p:nvPicPr>
          <p:cNvPr id="1026" name="Picture 2"/>
          <p:cNvPicPr>
            <a:picLocks noChangeAspect="1" noChangeArrowheads="1"/>
          </p:cNvPicPr>
          <p:nvPr/>
        </p:nvPicPr>
        <p:blipFill>
          <a:blip r:embed="rId2"/>
          <a:srcRect/>
          <a:stretch>
            <a:fillRect/>
          </a:stretch>
        </p:blipFill>
        <p:spPr bwMode="auto">
          <a:xfrm>
            <a:off x="1384092" y="2074967"/>
            <a:ext cx="4791856" cy="4250882"/>
          </a:xfrm>
          <a:prstGeom prst="rect">
            <a:avLst/>
          </a:prstGeom>
          <a:noFill/>
          <a:ln w="9525">
            <a:solidFill>
              <a:srgbClr val="0000FF"/>
            </a:solidFill>
            <a:miter lim="800000"/>
            <a:headEnd/>
            <a:tailEnd/>
          </a:ln>
          <a:effectLst/>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smtClean="0"/>
              <a:t>Solution – Step 2 : OFS MESSAGE</a:t>
            </a:r>
          </a:p>
        </p:txBody>
      </p:sp>
      <p:pic>
        <p:nvPicPr>
          <p:cNvPr id="84995" name="Picture 2"/>
          <p:cNvPicPr>
            <a:picLocks noGrp="1" noChangeAspect="1" noChangeArrowheads="1"/>
          </p:cNvPicPr>
          <p:nvPr>
            <p:ph idx="1"/>
          </p:nvPr>
        </p:nvPicPr>
        <p:blipFill>
          <a:blip r:embed="rId2"/>
          <a:srcRect/>
          <a:stretch>
            <a:fillRect/>
          </a:stretch>
        </p:blipFill>
        <p:spPr>
          <a:xfrm>
            <a:off x="992188" y="1582738"/>
            <a:ext cx="7874000" cy="4310062"/>
          </a:xfrm>
          <a:noFill/>
          <a:ln>
            <a:solidFill>
              <a:srgbClr val="0000FF"/>
            </a:solidFill>
          </a:ln>
        </p:spPr>
      </p:pic>
      <p:pic>
        <p:nvPicPr>
          <p:cNvPr id="9218" name="Picture 2"/>
          <p:cNvPicPr>
            <a:picLocks noChangeAspect="1" noChangeArrowheads="1"/>
          </p:cNvPicPr>
          <p:nvPr/>
        </p:nvPicPr>
        <p:blipFill>
          <a:blip r:embed="rId3"/>
          <a:srcRect/>
          <a:stretch>
            <a:fillRect/>
          </a:stretch>
        </p:blipFill>
        <p:spPr bwMode="auto">
          <a:xfrm>
            <a:off x="966085" y="1576544"/>
            <a:ext cx="1695450" cy="2571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smtClean="0"/>
              <a:t>Workshop IV</a:t>
            </a:r>
          </a:p>
        </p:txBody>
      </p:sp>
      <p:sp>
        <p:nvSpPr>
          <p:cNvPr id="86019" name="Content Placeholder 2"/>
          <p:cNvSpPr>
            <a:spLocks noGrp="1"/>
          </p:cNvSpPr>
          <p:nvPr>
            <p:ph idx="1"/>
          </p:nvPr>
        </p:nvSpPr>
        <p:spPr>
          <a:xfrm>
            <a:off x="992188" y="1592263"/>
            <a:ext cx="7874000" cy="4638675"/>
          </a:xfrm>
        </p:spPr>
        <p:txBody>
          <a:bodyPr/>
          <a:lstStyle/>
          <a:p>
            <a:r>
              <a:rPr lang="en-US" smtClean="0"/>
              <a:t>Create a enquiry type request to find the Customer whose WORKING.BALANCE &gt; 10000</a:t>
            </a:r>
          </a:p>
          <a:p>
            <a:endParaRPr lang="en-US" smtClean="0"/>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smtClean="0"/>
              <a:t>Solution – Step 1 : Enquiry for Account</a:t>
            </a:r>
          </a:p>
        </p:txBody>
      </p:sp>
      <p:sp>
        <p:nvSpPr>
          <p:cNvPr id="87043" name="Content Placeholder 2"/>
          <p:cNvSpPr>
            <a:spLocks noGrp="1"/>
          </p:cNvSpPr>
          <p:nvPr>
            <p:ph idx="1"/>
          </p:nvPr>
        </p:nvSpPr>
        <p:spPr>
          <a:xfrm>
            <a:off x="992188" y="1592263"/>
            <a:ext cx="7874000" cy="4638675"/>
          </a:xfrm>
        </p:spPr>
        <p:txBody>
          <a:bodyPr/>
          <a:lstStyle/>
          <a:p>
            <a:r>
              <a:rPr lang="en-US" dirty="0" smtClean="0"/>
              <a:t>The enquiry Account-list contains the following fields for display.</a:t>
            </a:r>
          </a:p>
        </p:txBody>
      </p:sp>
      <p:pic>
        <p:nvPicPr>
          <p:cNvPr id="2050" name="Picture 2"/>
          <p:cNvPicPr>
            <a:picLocks noChangeAspect="1" noChangeArrowheads="1"/>
          </p:cNvPicPr>
          <p:nvPr/>
        </p:nvPicPr>
        <p:blipFill>
          <a:blip r:embed="rId2"/>
          <a:srcRect/>
          <a:stretch>
            <a:fillRect/>
          </a:stretch>
        </p:blipFill>
        <p:spPr bwMode="auto">
          <a:xfrm>
            <a:off x="2182630" y="2428406"/>
            <a:ext cx="4838700" cy="3889948"/>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947738" y="273050"/>
            <a:ext cx="7589837" cy="984250"/>
          </a:xfrm>
        </p:spPr>
        <p:txBody>
          <a:bodyPr/>
          <a:lstStyle/>
          <a:p>
            <a:r>
              <a:rPr lang="en-US" smtClean="0"/>
              <a:t>Solution – Step 2 : OFS MESSAGE</a:t>
            </a:r>
          </a:p>
        </p:txBody>
      </p:sp>
      <p:pic>
        <p:nvPicPr>
          <p:cNvPr id="88068" name="Picture 3"/>
          <p:cNvPicPr>
            <a:picLocks noChangeAspect="1" noChangeArrowheads="1"/>
          </p:cNvPicPr>
          <p:nvPr/>
        </p:nvPicPr>
        <p:blipFill>
          <a:blip r:embed="rId2"/>
          <a:srcRect/>
          <a:stretch>
            <a:fillRect/>
          </a:stretch>
        </p:blipFill>
        <p:spPr bwMode="auto">
          <a:xfrm>
            <a:off x="1684338" y="2994025"/>
            <a:ext cx="6502400" cy="2608263"/>
          </a:xfrm>
          <a:prstGeom prst="rect">
            <a:avLst/>
          </a:prstGeom>
          <a:noFill/>
          <a:ln w="9525">
            <a:solidFill>
              <a:srgbClr val="0000FF"/>
            </a:solidFill>
            <a:miter lim="800000"/>
            <a:headEnd/>
            <a:tailEnd/>
          </a:ln>
        </p:spPr>
      </p:pic>
      <p:pic>
        <p:nvPicPr>
          <p:cNvPr id="88070" name="Picture 6"/>
          <p:cNvPicPr>
            <a:picLocks noChangeAspect="1" noChangeArrowheads="1"/>
          </p:cNvPicPr>
          <p:nvPr/>
        </p:nvPicPr>
        <p:blipFill>
          <a:blip r:embed="rId3"/>
          <a:srcRect/>
          <a:stretch>
            <a:fillRect/>
          </a:stretch>
        </p:blipFill>
        <p:spPr bwMode="auto">
          <a:xfrm>
            <a:off x="687908" y="1811936"/>
            <a:ext cx="7858125" cy="685800"/>
          </a:xfrm>
          <a:prstGeom prst="rect">
            <a:avLst/>
          </a:prstGeom>
          <a:noFill/>
          <a:ln w="9525">
            <a:noFill/>
            <a:miter lim="800000"/>
            <a:headEnd/>
            <a:tailEnd/>
          </a:ln>
          <a:effectLst/>
        </p:spPr>
      </p:pic>
      <p:pic>
        <p:nvPicPr>
          <p:cNvPr id="10242" name="Picture 2"/>
          <p:cNvPicPr>
            <a:picLocks noChangeAspect="1" noChangeArrowheads="1"/>
          </p:cNvPicPr>
          <p:nvPr/>
        </p:nvPicPr>
        <p:blipFill>
          <a:blip r:embed="rId4"/>
          <a:srcRect/>
          <a:stretch>
            <a:fillRect/>
          </a:stretch>
        </p:blipFill>
        <p:spPr bwMode="auto">
          <a:xfrm>
            <a:off x="726242" y="1831377"/>
            <a:ext cx="1822086" cy="19229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smtClean="0"/>
              <a:t>ROUTINE REQUEST – OFS</a:t>
            </a:r>
          </a:p>
        </p:txBody>
      </p:sp>
      <p:sp>
        <p:nvSpPr>
          <p:cNvPr id="89091" name="Rectangle 3"/>
          <p:cNvSpPr>
            <a:spLocks noGrp="1" noChangeArrowheads="1"/>
          </p:cNvSpPr>
          <p:nvPr>
            <p:ph type="body" idx="1"/>
          </p:nvPr>
        </p:nvSpPr>
        <p:spPr>
          <a:xfrm>
            <a:off x="992188" y="1592263"/>
            <a:ext cx="7874000" cy="4337050"/>
          </a:xfrm>
        </p:spPr>
        <p:txBody>
          <a:bodyPr/>
          <a:lstStyle/>
          <a:p>
            <a:pPr eaLnBrk="1" hangingPunct="1"/>
            <a:r>
              <a:rPr lang="en-US" smtClean="0"/>
              <a:t>OFS messages can be passed to the routine</a:t>
            </a:r>
          </a:p>
          <a:p>
            <a:pPr eaLnBrk="1" hangingPunct="1"/>
            <a:r>
              <a:rPr lang="en-US" smtClean="0"/>
              <a:t>Data received from OFS can be formatted according to the user requirement and the value can be returned</a:t>
            </a:r>
          </a:p>
          <a:p>
            <a:pPr eaLnBrk="1" hangingPunct="1"/>
            <a:endParaRPr lang="en-US" smtClean="0"/>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smtClean="0"/>
              <a:t>Message format for calling ROUTINE</a:t>
            </a:r>
          </a:p>
        </p:txBody>
      </p:sp>
      <p:sp>
        <p:nvSpPr>
          <p:cNvPr id="90115" name="Rectangle 6"/>
          <p:cNvSpPr>
            <a:spLocks noChangeArrowheads="1"/>
          </p:cNvSpPr>
          <p:nvPr/>
        </p:nvSpPr>
        <p:spPr bwMode="auto">
          <a:xfrm>
            <a:off x="1963738" y="2982913"/>
            <a:ext cx="1123950" cy="1035050"/>
          </a:xfrm>
          <a:prstGeom prst="rect">
            <a:avLst/>
          </a:prstGeom>
          <a:noFill/>
          <a:ln w="9525" algn="ctr">
            <a:solidFill>
              <a:srgbClr val="0000FF"/>
            </a:solidFill>
            <a:round/>
            <a:headEnd/>
            <a:tailEnd/>
          </a:ln>
        </p:spPr>
        <p:txBody>
          <a:bodyPr/>
          <a:lstStyle/>
          <a:p>
            <a:pPr eaLnBrk="0" hangingPunct="0"/>
            <a:r>
              <a:rPr lang="en-US" sz="1600">
                <a:solidFill>
                  <a:schemeClr val="tx1"/>
                </a:solidFill>
              </a:rPr>
              <a:t>Custom Routine Name</a:t>
            </a:r>
          </a:p>
        </p:txBody>
      </p:sp>
      <p:sp>
        <p:nvSpPr>
          <p:cNvPr id="90116" name="Rectangle 9"/>
          <p:cNvSpPr>
            <a:spLocks noChangeArrowheads="1"/>
          </p:cNvSpPr>
          <p:nvPr/>
        </p:nvSpPr>
        <p:spPr bwMode="auto">
          <a:xfrm>
            <a:off x="4305300" y="3000375"/>
            <a:ext cx="1123950" cy="1035050"/>
          </a:xfrm>
          <a:prstGeom prst="rect">
            <a:avLst/>
          </a:prstGeom>
          <a:noFill/>
          <a:ln w="9525" algn="ctr">
            <a:solidFill>
              <a:srgbClr val="0000FF"/>
            </a:solidFill>
            <a:round/>
            <a:headEnd/>
            <a:tailEnd/>
          </a:ln>
        </p:spPr>
        <p:txBody>
          <a:bodyPr/>
          <a:lstStyle/>
          <a:p>
            <a:pPr eaLnBrk="0" hangingPunct="0"/>
            <a:r>
              <a:rPr lang="en-US" sz="1600">
                <a:solidFill>
                  <a:schemeClr val="tx1"/>
                </a:solidFill>
              </a:rPr>
              <a:t>User Input</a:t>
            </a:r>
          </a:p>
          <a:p>
            <a:pPr eaLnBrk="0" hangingPunct="0"/>
            <a:r>
              <a:rPr lang="en-US" sz="1600">
                <a:solidFill>
                  <a:schemeClr val="tx1"/>
                </a:solidFill>
              </a:rPr>
              <a:t>Routine</a:t>
            </a:r>
          </a:p>
        </p:txBody>
      </p:sp>
      <p:sp>
        <p:nvSpPr>
          <p:cNvPr id="90117" name="Rectangle 10"/>
          <p:cNvSpPr>
            <a:spLocks noChangeArrowheads="1"/>
          </p:cNvSpPr>
          <p:nvPr/>
        </p:nvSpPr>
        <p:spPr bwMode="auto">
          <a:xfrm>
            <a:off x="6673850" y="3090863"/>
            <a:ext cx="1123950" cy="1033462"/>
          </a:xfrm>
          <a:prstGeom prst="rect">
            <a:avLst/>
          </a:prstGeom>
          <a:noFill/>
          <a:ln w="9525" algn="ctr">
            <a:solidFill>
              <a:srgbClr val="0000FF"/>
            </a:solidFill>
            <a:round/>
            <a:headEnd/>
            <a:tailEnd/>
          </a:ln>
        </p:spPr>
        <p:txBody>
          <a:bodyPr/>
          <a:lstStyle/>
          <a:p>
            <a:pPr eaLnBrk="0" hangingPunct="0"/>
            <a:r>
              <a:rPr lang="en-US" sz="1600">
                <a:solidFill>
                  <a:schemeClr val="tx1"/>
                </a:solidFill>
              </a:rPr>
              <a:t>Custom Build  Routine</a:t>
            </a:r>
          </a:p>
        </p:txBody>
      </p:sp>
      <p:cxnSp>
        <p:nvCxnSpPr>
          <p:cNvPr id="90118" name="Straight Connector 12"/>
          <p:cNvCxnSpPr>
            <a:cxnSpLocks noChangeShapeType="1"/>
          </p:cNvCxnSpPr>
          <p:nvPr/>
        </p:nvCxnSpPr>
        <p:spPr bwMode="auto">
          <a:xfrm>
            <a:off x="3103563" y="3567113"/>
            <a:ext cx="149225" cy="1587"/>
          </a:xfrm>
          <a:prstGeom prst="line">
            <a:avLst/>
          </a:prstGeom>
          <a:noFill/>
          <a:ln w="9525" algn="ctr">
            <a:solidFill>
              <a:srgbClr val="FF0000"/>
            </a:solidFill>
            <a:round/>
            <a:headEnd/>
            <a:tailEnd/>
          </a:ln>
        </p:spPr>
      </p:cxnSp>
      <p:sp>
        <p:nvSpPr>
          <p:cNvPr id="90119" name="Oval 13"/>
          <p:cNvSpPr>
            <a:spLocks noChangeArrowheads="1"/>
          </p:cNvSpPr>
          <p:nvPr/>
        </p:nvSpPr>
        <p:spPr bwMode="auto">
          <a:xfrm>
            <a:off x="3267075" y="3057525"/>
            <a:ext cx="300038" cy="960438"/>
          </a:xfrm>
          <a:prstGeom prst="ellipse">
            <a:avLst/>
          </a:prstGeom>
          <a:noFill/>
          <a:ln w="9525" algn="ctr">
            <a:solidFill>
              <a:srgbClr val="0000FF"/>
            </a:solidFill>
            <a:round/>
            <a:headEnd/>
            <a:tailEnd/>
          </a:ln>
        </p:spPr>
        <p:txBody>
          <a:bodyPr/>
          <a:lstStyle/>
          <a:p>
            <a:pPr eaLnBrk="0" hangingPunct="0"/>
            <a:endParaRPr lang="en-US">
              <a:solidFill>
                <a:schemeClr val="tx1"/>
              </a:solidFill>
            </a:endParaRPr>
          </a:p>
          <a:p>
            <a:pPr eaLnBrk="0" hangingPunct="0"/>
            <a:r>
              <a:rPr lang="en-US">
                <a:solidFill>
                  <a:schemeClr val="tx1"/>
                </a:solidFill>
              </a:rPr>
              <a:t>,</a:t>
            </a:r>
          </a:p>
        </p:txBody>
      </p:sp>
      <p:sp>
        <p:nvSpPr>
          <p:cNvPr id="90120" name="Oval 15"/>
          <p:cNvSpPr>
            <a:spLocks noChangeArrowheads="1"/>
          </p:cNvSpPr>
          <p:nvPr/>
        </p:nvSpPr>
        <p:spPr bwMode="auto">
          <a:xfrm>
            <a:off x="5624513" y="3121025"/>
            <a:ext cx="298450" cy="958850"/>
          </a:xfrm>
          <a:prstGeom prst="ellipse">
            <a:avLst/>
          </a:prstGeom>
          <a:noFill/>
          <a:ln w="9525" algn="ctr">
            <a:solidFill>
              <a:srgbClr val="0000FF"/>
            </a:solidFill>
            <a:round/>
            <a:headEnd/>
            <a:tailEnd/>
          </a:ln>
        </p:spPr>
        <p:txBody>
          <a:bodyPr/>
          <a:lstStyle/>
          <a:p>
            <a:pPr eaLnBrk="0" hangingPunct="0"/>
            <a:endParaRPr lang="en-US">
              <a:solidFill>
                <a:schemeClr val="tx1"/>
              </a:solidFill>
            </a:endParaRPr>
          </a:p>
          <a:p>
            <a:pPr eaLnBrk="0" hangingPunct="0"/>
            <a:r>
              <a:rPr lang="en-US">
                <a:solidFill>
                  <a:schemeClr val="tx1"/>
                </a:solidFill>
              </a:rPr>
              <a:t>,</a:t>
            </a:r>
          </a:p>
        </p:txBody>
      </p:sp>
      <p:sp>
        <p:nvSpPr>
          <p:cNvPr id="90121" name="Oval 16"/>
          <p:cNvSpPr>
            <a:spLocks noChangeArrowheads="1"/>
          </p:cNvSpPr>
          <p:nvPr/>
        </p:nvSpPr>
        <p:spPr bwMode="auto">
          <a:xfrm>
            <a:off x="6148388" y="3151188"/>
            <a:ext cx="300037" cy="958850"/>
          </a:xfrm>
          <a:prstGeom prst="ellipse">
            <a:avLst/>
          </a:prstGeom>
          <a:noFill/>
          <a:ln w="9525" algn="ctr">
            <a:solidFill>
              <a:srgbClr val="0000FF"/>
            </a:solidFill>
            <a:round/>
            <a:headEnd/>
            <a:tailEnd/>
          </a:ln>
        </p:spPr>
        <p:txBody>
          <a:bodyPr/>
          <a:lstStyle/>
          <a:p>
            <a:pPr eaLnBrk="0" hangingPunct="0"/>
            <a:endParaRPr lang="en-US">
              <a:solidFill>
                <a:schemeClr val="tx1"/>
              </a:solidFill>
            </a:endParaRPr>
          </a:p>
          <a:p>
            <a:pPr eaLnBrk="0" hangingPunct="0"/>
            <a:r>
              <a:rPr lang="en-US">
                <a:solidFill>
                  <a:schemeClr val="tx1"/>
                </a:solidFill>
              </a:rPr>
              <a:t>,</a:t>
            </a:r>
          </a:p>
        </p:txBody>
      </p:sp>
      <p:sp>
        <p:nvSpPr>
          <p:cNvPr id="90122" name="Oval 17"/>
          <p:cNvSpPr>
            <a:spLocks noChangeArrowheads="1"/>
          </p:cNvSpPr>
          <p:nvPr/>
        </p:nvSpPr>
        <p:spPr bwMode="auto">
          <a:xfrm>
            <a:off x="3779838" y="3074988"/>
            <a:ext cx="300037" cy="960437"/>
          </a:xfrm>
          <a:prstGeom prst="ellipse">
            <a:avLst/>
          </a:prstGeom>
          <a:noFill/>
          <a:ln w="9525" algn="ctr">
            <a:solidFill>
              <a:srgbClr val="0000FF"/>
            </a:solidFill>
            <a:round/>
            <a:headEnd/>
            <a:tailEnd/>
          </a:ln>
        </p:spPr>
        <p:txBody>
          <a:bodyPr/>
          <a:lstStyle/>
          <a:p>
            <a:pPr eaLnBrk="0" hangingPunct="0"/>
            <a:endParaRPr lang="en-US">
              <a:solidFill>
                <a:schemeClr val="tx1"/>
              </a:solidFill>
            </a:endParaRPr>
          </a:p>
          <a:p>
            <a:pPr eaLnBrk="0" hangingPunct="0"/>
            <a:r>
              <a:rPr lang="en-US">
                <a:solidFill>
                  <a:schemeClr val="tx1"/>
                </a:solidFill>
              </a:rPr>
              <a:t>,</a:t>
            </a:r>
          </a:p>
        </p:txBody>
      </p:sp>
      <p:cxnSp>
        <p:nvCxnSpPr>
          <p:cNvPr id="90123" name="Straight Connector 25"/>
          <p:cNvCxnSpPr>
            <a:cxnSpLocks noChangeShapeType="1"/>
          </p:cNvCxnSpPr>
          <p:nvPr/>
        </p:nvCxnSpPr>
        <p:spPr bwMode="auto">
          <a:xfrm>
            <a:off x="3567113" y="3582988"/>
            <a:ext cx="212725" cy="1587"/>
          </a:xfrm>
          <a:prstGeom prst="line">
            <a:avLst/>
          </a:prstGeom>
          <a:noFill/>
          <a:ln w="9525" algn="ctr">
            <a:solidFill>
              <a:srgbClr val="FF0000"/>
            </a:solidFill>
            <a:round/>
            <a:headEnd/>
            <a:tailEnd/>
          </a:ln>
        </p:spPr>
      </p:cxnSp>
      <p:cxnSp>
        <p:nvCxnSpPr>
          <p:cNvPr id="90124" name="Straight Connector 26"/>
          <p:cNvCxnSpPr>
            <a:cxnSpLocks noChangeShapeType="1"/>
          </p:cNvCxnSpPr>
          <p:nvPr/>
        </p:nvCxnSpPr>
        <p:spPr bwMode="auto">
          <a:xfrm>
            <a:off x="5413375" y="3630613"/>
            <a:ext cx="212725" cy="1587"/>
          </a:xfrm>
          <a:prstGeom prst="line">
            <a:avLst/>
          </a:prstGeom>
          <a:noFill/>
          <a:ln w="9525" algn="ctr">
            <a:solidFill>
              <a:srgbClr val="FF0000"/>
            </a:solidFill>
            <a:round/>
            <a:headEnd/>
            <a:tailEnd/>
          </a:ln>
        </p:spPr>
      </p:cxnSp>
      <p:cxnSp>
        <p:nvCxnSpPr>
          <p:cNvPr id="90125" name="Straight Connector 27"/>
          <p:cNvCxnSpPr>
            <a:cxnSpLocks noChangeShapeType="1"/>
          </p:cNvCxnSpPr>
          <p:nvPr/>
        </p:nvCxnSpPr>
        <p:spPr bwMode="auto">
          <a:xfrm>
            <a:off x="6450013" y="3662363"/>
            <a:ext cx="212725" cy="3175"/>
          </a:xfrm>
          <a:prstGeom prst="line">
            <a:avLst/>
          </a:prstGeom>
          <a:noFill/>
          <a:ln w="9525" algn="ctr">
            <a:solidFill>
              <a:srgbClr val="FF0000"/>
            </a:solidFill>
            <a:round/>
            <a:headEnd/>
            <a:tailEnd/>
          </a:ln>
        </p:spPr>
      </p:cxnSp>
      <p:cxnSp>
        <p:nvCxnSpPr>
          <p:cNvPr id="90126" name="Straight Connector 37"/>
          <p:cNvCxnSpPr>
            <a:cxnSpLocks noChangeShapeType="1"/>
          </p:cNvCxnSpPr>
          <p:nvPr/>
        </p:nvCxnSpPr>
        <p:spPr bwMode="auto">
          <a:xfrm>
            <a:off x="4065588" y="3600450"/>
            <a:ext cx="211137" cy="1588"/>
          </a:xfrm>
          <a:prstGeom prst="line">
            <a:avLst/>
          </a:prstGeom>
          <a:noFill/>
          <a:ln w="9525" algn="ctr">
            <a:solidFill>
              <a:srgbClr val="FF0000"/>
            </a:solidFill>
            <a:round/>
            <a:headEnd/>
            <a:tailEnd/>
          </a:ln>
        </p:spPr>
      </p:cxnSp>
      <p:cxnSp>
        <p:nvCxnSpPr>
          <p:cNvPr id="90127" name="Straight Connector 40"/>
          <p:cNvCxnSpPr>
            <a:cxnSpLocks noChangeShapeType="1"/>
          </p:cNvCxnSpPr>
          <p:nvPr/>
        </p:nvCxnSpPr>
        <p:spPr bwMode="auto">
          <a:xfrm>
            <a:off x="5926138" y="3632200"/>
            <a:ext cx="212725" cy="3175"/>
          </a:xfrm>
          <a:prstGeom prst="line">
            <a:avLst/>
          </a:prstGeom>
          <a:noFill/>
          <a:ln w="9525" algn="ctr">
            <a:solidFill>
              <a:srgbClr val="FF0000"/>
            </a:solidFill>
            <a:round/>
            <a:headEnd/>
            <a:tailEnd/>
          </a:ln>
        </p:spPr>
      </p:cxn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smtClean="0"/>
              <a:t>Message format for calling ROUTINE</a:t>
            </a:r>
          </a:p>
        </p:txBody>
      </p:sp>
      <p:sp>
        <p:nvSpPr>
          <p:cNvPr id="91139" name="Rectangle 3"/>
          <p:cNvSpPr>
            <a:spLocks noGrp="1" noChangeArrowheads="1"/>
          </p:cNvSpPr>
          <p:nvPr>
            <p:ph type="body" idx="1"/>
          </p:nvPr>
        </p:nvSpPr>
        <p:spPr>
          <a:xfrm>
            <a:off x="992188" y="1592263"/>
            <a:ext cx="7874000" cy="4337050"/>
          </a:xfrm>
        </p:spPr>
        <p:txBody>
          <a:bodyPr/>
          <a:lstStyle/>
          <a:p>
            <a:pPr eaLnBrk="1" hangingPunct="1"/>
            <a:r>
              <a:rPr lang="en-US" smtClean="0"/>
              <a:t>CUSTOM ROUTINE NAME</a:t>
            </a:r>
          </a:p>
          <a:p>
            <a:pPr lvl="1" eaLnBrk="1" hangingPunct="1"/>
            <a:r>
              <a:rPr lang="en-US" smtClean="0"/>
              <a:t>Name of the routine to be called by OFS</a:t>
            </a:r>
          </a:p>
          <a:p>
            <a:pPr lvl="1" eaLnBrk="1" hangingPunct="1"/>
            <a:r>
              <a:rPr lang="en-US" smtClean="0"/>
              <a:t>Should be a valid subroutine</a:t>
            </a:r>
          </a:p>
          <a:p>
            <a:pPr lvl="1" eaLnBrk="1" hangingPunct="1"/>
            <a:r>
              <a:rPr lang="en-US" smtClean="0"/>
              <a:t>Routine name should have a PGM.FILE entry</a:t>
            </a:r>
          </a:p>
          <a:p>
            <a:pPr eaLnBrk="1" hangingPunct="1"/>
            <a:r>
              <a:rPr lang="en-US" smtClean="0"/>
              <a:t>USER INFORMATION</a:t>
            </a:r>
          </a:p>
          <a:p>
            <a:pPr lvl="1" eaLnBrk="1" hangingPunct="1"/>
            <a:r>
              <a:rPr lang="en-US" smtClean="0"/>
              <a:t>Valid User name and password</a:t>
            </a:r>
          </a:p>
          <a:p>
            <a:pPr eaLnBrk="1" hangingPunct="1"/>
            <a:r>
              <a:rPr lang="en-US" smtClean="0"/>
              <a:t>CUSTOM DATA</a:t>
            </a:r>
          </a:p>
          <a:p>
            <a:pPr lvl="1" eaLnBrk="1" hangingPunct="1"/>
            <a:r>
              <a:rPr lang="en-US" smtClean="0"/>
              <a:t>String that is to be passed to the routine</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smtClean="0"/>
              <a:t>Program</a:t>
            </a:r>
          </a:p>
        </p:txBody>
      </p:sp>
      <p:sp>
        <p:nvSpPr>
          <p:cNvPr id="92163" name="Content Placeholder 2"/>
          <p:cNvSpPr>
            <a:spLocks noGrp="1"/>
          </p:cNvSpPr>
          <p:nvPr>
            <p:ph idx="1"/>
          </p:nvPr>
        </p:nvSpPr>
        <p:spPr>
          <a:xfrm>
            <a:off x="992188" y="1592263"/>
            <a:ext cx="7874000" cy="4638675"/>
          </a:xfrm>
        </p:spPr>
        <p:txBody>
          <a:bodyPr/>
          <a:lstStyle/>
          <a:p>
            <a:r>
              <a:rPr lang="en-US" smtClean="0"/>
              <a:t>The  program will pass the OFS format message to T24. If the message is successfully passed then it will return a message as VALID ACCOUNT</a:t>
            </a: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smtClean="0"/>
              <a:t>SAMPLE PROGRAM FOR OFS ROUTINE CALL</a:t>
            </a:r>
          </a:p>
        </p:txBody>
      </p:sp>
      <p:sp>
        <p:nvSpPr>
          <p:cNvPr id="93187" name="Rectangle 3"/>
          <p:cNvSpPr>
            <a:spLocks noGrp="1" noChangeArrowheads="1"/>
          </p:cNvSpPr>
          <p:nvPr>
            <p:ph type="body" idx="1"/>
          </p:nvPr>
        </p:nvSpPr>
        <p:spPr>
          <a:xfrm>
            <a:off x="992188" y="1592263"/>
            <a:ext cx="7874000" cy="4337050"/>
          </a:xfrm>
        </p:spPr>
        <p:txBody>
          <a:bodyPr/>
          <a:lstStyle/>
          <a:p>
            <a:pPr eaLnBrk="1" hangingPunct="1">
              <a:lnSpc>
                <a:spcPct val="115000"/>
              </a:lnSpc>
            </a:pPr>
            <a:endParaRPr lang="en-US" smtClean="0"/>
          </a:p>
        </p:txBody>
      </p:sp>
      <p:pic>
        <p:nvPicPr>
          <p:cNvPr id="93188" name="Picture 5"/>
          <p:cNvPicPr>
            <a:picLocks noChangeAspect="1" noChangeArrowheads="1"/>
          </p:cNvPicPr>
          <p:nvPr/>
        </p:nvPicPr>
        <p:blipFill>
          <a:blip r:embed="rId3"/>
          <a:srcRect/>
          <a:stretch>
            <a:fillRect/>
          </a:stretch>
        </p:blipFill>
        <p:spPr bwMode="auto">
          <a:xfrm>
            <a:off x="973138" y="1609725"/>
            <a:ext cx="7939087" cy="4675188"/>
          </a:xfrm>
          <a:prstGeom prst="rect">
            <a:avLst/>
          </a:prstGeom>
          <a:noFill/>
          <a:ln w="19050">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smtClean="0"/>
              <a:t>PGM.FILE</a:t>
            </a:r>
          </a:p>
        </p:txBody>
      </p:sp>
      <p:pic>
        <p:nvPicPr>
          <p:cNvPr id="94212" name="Picture 4"/>
          <p:cNvPicPr>
            <a:picLocks noChangeAspect="1" noChangeArrowheads="1"/>
          </p:cNvPicPr>
          <p:nvPr/>
        </p:nvPicPr>
        <p:blipFill>
          <a:blip r:embed="rId2"/>
          <a:srcRect/>
          <a:stretch>
            <a:fillRect/>
          </a:stretch>
        </p:blipFill>
        <p:spPr bwMode="auto">
          <a:xfrm>
            <a:off x="1909763" y="2333625"/>
            <a:ext cx="5324475" cy="2190750"/>
          </a:xfrm>
          <a:prstGeom prst="rect">
            <a:avLst/>
          </a:prstGeom>
          <a:noFill/>
          <a:ln w="19050">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smtClean="0"/>
              <a:t>Steps for execution</a:t>
            </a:r>
          </a:p>
        </p:txBody>
      </p:sp>
      <p:sp>
        <p:nvSpPr>
          <p:cNvPr id="95235" name="Rectangle 3"/>
          <p:cNvSpPr>
            <a:spLocks noGrp="1" noChangeArrowheads="1"/>
          </p:cNvSpPr>
          <p:nvPr>
            <p:ph type="body" idx="1"/>
          </p:nvPr>
        </p:nvSpPr>
        <p:spPr>
          <a:xfrm>
            <a:off x="992188" y="1592263"/>
            <a:ext cx="7874000" cy="4337050"/>
          </a:xfrm>
        </p:spPr>
        <p:txBody>
          <a:bodyPr/>
          <a:lstStyle/>
          <a:p>
            <a:pPr eaLnBrk="1" hangingPunct="1"/>
            <a:r>
              <a:rPr lang="en-US" smtClean="0"/>
              <a:t>Compile the subroutine SUBPROG</a:t>
            </a:r>
          </a:p>
          <a:p>
            <a:pPr eaLnBrk="1" hangingPunct="1"/>
            <a:r>
              <a:rPr lang="en-US" smtClean="0"/>
              <a:t>Create a OFS.SOURCE </a:t>
            </a:r>
          </a:p>
          <a:p>
            <a:pPr eaLnBrk="1" hangingPunct="1"/>
            <a:r>
              <a:rPr lang="en-US" smtClean="0"/>
              <a:t>Specify the name of the compiled subroutine in the IN.MSG.RTN</a:t>
            </a:r>
          </a:p>
          <a:p>
            <a:pPr eaLnBrk="1" hangingPunct="1"/>
            <a:endParaRPr lang="en-US" smtClean="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62" name="Picture 6"/>
          <p:cNvPicPr>
            <a:picLocks noChangeAspect="1" noChangeArrowheads="1"/>
          </p:cNvPicPr>
          <p:nvPr/>
        </p:nvPicPr>
        <p:blipFill>
          <a:blip r:embed="rId2"/>
          <a:srcRect/>
          <a:stretch>
            <a:fillRect/>
          </a:stretch>
        </p:blipFill>
        <p:spPr bwMode="auto">
          <a:xfrm>
            <a:off x="995284" y="1375348"/>
            <a:ext cx="7639050" cy="4343400"/>
          </a:xfrm>
          <a:prstGeom prst="rect">
            <a:avLst/>
          </a:prstGeom>
          <a:noFill/>
          <a:ln w="19050">
            <a:solidFill>
              <a:srgbClr val="0000FF"/>
            </a:solidFill>
            <a:miter lim="800000"/>
            <a:headEnd/>
            <a:tailEnd/>
          </a:ln>
          <a:effectLst/>
        </p:spPr>
      </p:pic>
      <p:sp>
        <p:nvSpPr>
          <p:cNvPr id="96258" name="Rectangle 2"/>
          <p:cNvSpPr>
            <a:spLocks noGrp="1" noChangeArrowheads="1"/>
          </p:cNvSpPr>
          <p:nvPr>
            <p:ph type="title"/>
          </p:nvPr>
        </p:nvSpPr>
        <p:spPr/>
        <p:txBody>
          <a:bodyPr/>
          <a:lstStyle/>
          <a:p>
            <a:pPr eaLnBrk="1" hangingPunct="1"/>
            <a:r>
              <a:rPr lang="en-US" smtClean="0"/>
              <a:t>OFS.SOURCE FOR SUBROUTINE CALL</a:t>
            </a:r>
          </a:p>
        </p:txBody>
      </p:sp>
      <p:cxnSp>
        <p:nvCxnSpPr>
          <p:cNvPr id="96260" name="Straight Arrow Connector 5"/>
          <p:cNvCxnSpPr>
            <a:cxnSpLocks noChangeShapeType="1"/>
          </p:cNvCxnSpPr>
          <p:nvPr/>
        </p:nvCxnSpPr>
        <p:spPr bwMode="auto">
          <a:xfrm rot="5400000" flipH="1" flipV="1">
            <a:off x="5306219" y="4377532"/>
            <a:ext cx="390525" cy="1587"/>
          </a:xfrm>
          <a:prstGeom prst="straightConnector1">
            <a:avLst/>
          </a:prstGeom>
          <a:noFill/>
          <a:ln w="19050" algn="ctr">
            <a:solidFill>
              <a:srgbClr val="FF0000"/>
            </a:solidFill>
            <a:round/>
            <a:headEnd/>
            <a:tailEnd type="arrow" w="med" len="med"/>
          </a:ln>
        </p:spPr>
      </p:cxnSp>
      <p:sp>
        <p:nvSpPr>
          <p:cNvPr id="96261" name="TextBox 6"/>
          <p:cNvSpPr txBox="1">
            <a:spLocks noChangeArrowheads="1"/>
          </p:cNvSpPr>
          <p:nvPr/>
        </p:nvSpPr>
        <p:spPr bwMode="auto">
          <a:xfrm>
            <a:off x="5172075" y="4557713"/>
            <a:ext cx="1512888" cy="522287"/>
          </a:xfrm>
          <a:prstGeom prst="rect">
            <a:avLst/>
          </a:prstGeom>
          <a:noFill/>
          <a:ln w="9525">
            <a:noFill/>
            <a:miter lim="800000"/>
            <a:headEnd/>
            <a:tailEnd/>
          </a:ln>
        </p:spPr>
        <p:txBody>
          <a:bodyPr anchor="ctr">
            <a:spAutoFit/>
          </a:bodyPr>
          <a:lstStyle/>
          <a:p>
            <a:r>
              <a:rPr lang="en-US" sz="1400" b="1"/>
              <a:t>Sub Routine Attached</a:t>
            </a: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smtClean="0"/>
              <a:t>SAMPLE SCREEN OF OFS MESSAGE</a:t>
            </a:r>
          </a:p>
        </p:txBody>
      </p:sp>
      <p:sp>
        <p:nvSpPr>
          <p:cNvPr id="97283" name="Rectangle 3"/>
          <p:cNvSpPr>
            <a:spLocks noGrp="1" noChangeArrowheads="1"/>
          </p:cNvSpPr>
          <p:nvPr>
            <p:ph type="body" idx="1"/>
          </p:nvPr>
        </p:nvSpPr>
        <p:spPr>
          <a:xfrm>
            <a:off x="992188" y="1592263"/>
            <a:ext cx="7874000" cy="4337050"/>
          </a:xfrm>
        </p:spPr>
        <p:txBody>
          <a:bodyPr/>
          <a:lstStyle/>
          <a:p>
            <a:pPr eaLnBrk="1" hangingPunct="1"/>
            <a:r>
              <a:rPr lang="en-US" smtClean="0"/>
              <a:t>After setting up the OFS</a:t>
            </a:r>
          </a:p>
          <a:p>
            <a:pPr eaLnBrk="1" hangingPunct="1"/>
            <a:r>
              <a:rPr lang="en-US" smtClean="0"/>
              <a:t>Pass the a/c no through OFS message</a:t>
            </a:r>
          </a:p>
        </p:txBody>
      </p:sp>
      <p:pic>
        <p:nvPicPr>
          <p:cNvPr id="97285" name="Picture 5"/>
          <p:cNvPicPr>
            <a:picLocks noChangeAspect="1" noChangeArrowheads="1"/>
          </p:cNvPicPr>
          <p:nvPr/>
        </p:nvPicPr>
        <p:blipFill>
          <a:blip r:embed="rId2"/>
          <a:srcRect/>
          <a:stretch>
            <a:fillRect/>
          </a:stretch>
        </p:blipFill>
        <p:spPr bwMode="auto">
          <a:xfrm>
            <a:off x="1508125" y="3929063"/>
            <a:ext cx="6607175" cy="1427162"/>
          </a:xfrm>
          <a:prstGeom prst="rect">
            <a:avLst/>
          </a:prstGeom>
          <a:noFill/>
          <a:ln w="19050">
            <a:solidFill>
              <a:srgbClr val="0000FF"/>
            </a:solidFill>
            <a:miter lim="800000"/>
            <a:headEnd/>
            <a:tailEnd/>
          </a:ln>
        </p:spPr>
      </p:pic>
      <p:pic>
        <p:nvPicPr>
          <p:cNvPr id="97286" name="Picture 6"/>
          <p:cNvPicPr>
            <a:picLocks noChangeAspect="1" noChangeArrowheads="1"/>
          </p:cNvPicPr>
          <p:nvPr/>
        </p:nvPicPr>
        <p:blipFill>
          <a:blip r:embed="rId3"/>
          <a:srcRect/>
          <a:stretch>
            <a:fillRect/>
          </a:stretch>
        </p:blipFill>
        <p:spPr bwMode="auto">
          <a:xfrm>
            <a:off x="1525015" y="2791060"/>
            <a:ext cx="6543675" cy="676275"/>
          </a:xfrm>
          <a:prstGeom prst="rect">
            <a:avLst/>
          </a:prstGeom>
          <a:noFill/>
          <a:ln w="9525">
            <a:noFill/>
            <a:miter lim="800000"/>
            <a:headEnd/>
            <a:tailEnd/>
          </a:ln>
          <a:effectLst/>
        </p:spPr>
      </p:pic>
      <p:pic>
        <p:nvPicPr>
          <p:cNvPr id="11266" name="Picture 2"/>
          <p:cNvPicPr>
            <a:picLocks noChangeAspect="1" noChangeArrowheads="1"/>
          </p:cNvPicPr>
          <p:nvPr/>
        </p:nvPicPr>
        <p:blipFill>
          <a:blip r:embed="rId4"/>
          <a:srcRect/>
          <a:stretch>
            <a:fillRect/>
          </a:stretch>
        </p:blipFill>
        <p:spPr bwMode="auto">
          <a:xfrm>
            <a:off x="1535711" y="2790748"/>
            <a:ext cx="1695450" cy="2571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smtClean="0"/>
              <a:t>Workshop - V</a:t>
            </a:r>
          </a:p>
        </p:txBody>
      </p:sp>
      <p:sp>
        <p:nvSpPr>
          <p:cNvPr id="98307" name="Rectangle 3"/>
          <p:cNvSpPr>
            <a:spLocks noGrp="1" noChangeArrowheads="1"/>
          </p:cNvSpPr>
          <p:nvPr>
            <p:ph type="body" idx="1"/>
          </p:nvPr>
        </p:nvSpPr>
        <p:spPr>
          <a:xfrm>
            <a:off x="992188" y="1592263"/>
            <a:ext cx="7874000" cy="4337050"/>
          </a:xfrm>
        </p:spPr>
        <p:txBody>
          <a:bodyPr/>
          <a:lstStyle/>
          <a:p>
            <a:pPr eaLnBrk="1" hangingPunct="1"/>
            <a:r>
              <a:rPr lang="en-US" smtClean="0"/>
              <a:t>Write a Subroutine to count the number of characters received in the input string and return back a string “The length of Request message is:” followed by the actual count characters in the request message. If the request message is empty then a string “The length of Request message is: EMPTY” must be returned..</a:t>
            </a: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en-US" smtClean="0"/>
              <a:t>Workshop - V</a:t>
            </a:r>
          </a:p>
        </p:txBody>
      </p:sp>
      <p:sp>
        <p:nvSpPr>
          <p:cNvPr id="99331" name="Rectangle 3"/>
          <p:cNvSpPr>
            <a:spLocks noGrp="1" noChangeArrowheads="1"/>
          </p:cNvSpPr>
          <p:nvPr>
            <p:ph type="body" idx="1"/>
          </p:nvPr>
        </p:nvSpPr>
        <p:spPr>
          <a:xfrm>
            <a:off x="992188" y="1592263"/>
            <a:ext cx="7874000" cy="4337050"/>
          </a:xfrm>
        </p:spPr>
        <p:txBody>
          <a:bodyPr/>
          <a:lstStyle/>
          <a:p>
            <a:pPr eaLnBrk="1" hangingPunct="1">
              <a:buFont typeface="Wingdings 3" pitchFamily="18" charset="2"/>
              <a:buNone/>
            </a:pPr>
            <a:r>
              <a:rPr lang="en-US" smtClean="0"/>
              <a:t>    Now, use the OFS Online mode you created in the previous workshop to upload your transaction type messages and see the results. If you were to receive any errors, check the request message to see if everything is correct about the syntax. Also check if the setup is correct</a:t>
            </a: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US" smtClean="0"/>
              <a:t>Solution – Step 1 : Write the Routine</a:t>
            </a:r>
          </a:p>
        </p:txBody>
      </p:sp>
      <p:sp>
        <p:nvSpPr>
          <p:cNvPr id="100355" name="Content Placeholder 3"/>
          <p:cNvSpPr>
            <a:spLocks noGrp="1"/>
          </p:cNvSpPr>
          <p:nvPr>
            <p:ph idx="1"/>
          </p:nvPr>
        </p:nvSpPr>
        <p:spPr>
          <a:xfrm>
            <a:off x="992188" y="1592263"/>
            <a:ext cx="7874000" cy="4638675"/>
          </a:xfrm>
        </p:spPr>
        <p:txBody>
          <a:bodyPr/>
          <a:lstStyle/>
          <a:p>
            <a:endParaRPr lang="en-US" smtClean="0"/>
          </a:p>
        </p:txBody>
      </p:sp>
      <p:pic>
        <p:nvPicPr>
          <p:cNvPr id="100356" name="Picture 4"/>
          <p:cNvPicPr>
            <a:picLocks noChangeAspect="1" noChangeArrowheads="1"/>
          </p:cNvPicPr>
          <p:nvPr/>
        </p:nvPicPr>
        <p:blipFill>
          <a:blip r:embed="rId2"/>
          <a:srcRect/>
          <a:stretch>
            <a:fillRect/>
          </a:stretch>
        </p:blipFill>
        <p:spPr bwMode="auto">
          <a:xfrm>
            <a:off x="1228725" y="1919288"/>
            <a:ext cx="7600950" cy="42719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p:txBody>
          <a:bodyPr/>
          <a:lstStyle/>
          <a:p>
            <a:r>
              <a:rPr lang="en-US" smtClean="0"/>
              <a:t>Solution – Step 2 : PGM.FILE</a:t>
            </a:r>
          </a:p>
        </p:txBody>
      </p:sp>
      <p:pic>
        <p:nvPicPr>
          <p:cNvPr id="101380" name="Picture 4"/>
          <p:cNvPicPr>
            <a:picLocks noGrp="1" noChangeAspect="1" noChangeArrowheads="1"/>
          </p:cNvPicPr>
          <p:nvPr>
            <p:ph idx="1"/>
          </p:nvPr>
        </p:nvPicPr>
        <p:blipFill>
          <a:blip r:embed="rId2"/>
          <a:srcRect/>
          <a:stretch>
            <a:fillRect/>
          </a:stretch>
        </p:blipFill>
        <p:spPr bwMode="auto">
          <a:xfrm>
            <a:off x="1681553" y="1683141"/>
            <a:ext cx="6105525" cy="40671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p:txBody>
          <a:bodyPr/>
          <a:lstStyle/>
          <a:p>
            <a:r>
              <a:rPr lang="en-US" smtClean="0"/>
              <a:t>Solution – Step 3 : Output </a:t>
            </a:r>
          </a:p>
        </p:txBody>
      </p:sp>
      <p:pic>
        <p:nvPicPr>
          <p:cNvPr id="102405" name="Picture 5"/>
          <p:cNvPicPr>
            <a:picLocks noGrp="1" noChangeAspect="1" noChangeArrowheads="1"/>
          </p:cNvPicPr>
          <p:nvPr>
            <p:ph idx="1"/>
          </p:nvPr>
        </p:nvPicPr>
        <p:blipFill>
          <a:blip r:embed="rId2"/>
          <a:srcRect/>
          <a:stretch>
            <a:fillRect/>
          </a:stretch>
        </p:blipFill>
        <p:spPr bwMode="auto">
          <a:xfrm>
            <a:off x="994478" y="1476972"/>
            <a:ext cx="7781925" cy="1581150"/>
          </a:xfrm>
          <a:prstGeom prst="rect">
            <a:avLst/>
          </a:prstGeom>
          <a:noFill/>
          <a:ln w="9525">
            <a:noFill/>
            <a:miter lim="800000"/>
            <a:headEnd/>
            <a:tailEnd/>
          </a:ln>
          <a:effectLst/>
        </p:spPr>
      </p:pic>
      <p:pic>
        <p:nvPicPr>
          <p:cNvPr id="102406" name="Picture 6"/>
          <p:cNvPicPr>
            <a:picLocks noChangeAspect="1" noChangeArrowheads="1"/>
          </p:cNvPicPr>
          <p:nvPr/>
        </p:nvPicPr>
        <p:blipFill>
          <a:blip r:embed="rId3"/>
          <a:srcRect/>
          <a:stretch>
            <a:fillRect/>
          </a:stretch>
        </p:blipFill>
        <p:spPr bwMode="auto">
          <a:xfrm>
            <a:off x="966553" y="3650886"/>
            <a:ext cx="7810500" cy="1504950"/>
          </a:xfrm>
          <a:prstGeom prst="rect">
            <a:avLst/>
          </a:prstGeom>
          <a:noFill/>
          <a:ln w="19050">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en-US" smtClean="0"/>
              <a:t>I_GTS.COMMON – OFS Common variables</a:t>
            </a:r>
          </a:p>
        </p:txBody>
      </p:sp>
      <p:sp>
        <p:nvSpPr>
          <p:cNvPr id="103427" name="Rectangle 3"/>
          <p:cNvSpPr>
            <a:spLocks noGrp="1" noChangeArrowheads="1"/>
          </p:cNvSpPr>
          <p:nvPr>
            <p:ph type="body" idx="1"/>
          </p:nvPr>
        </p:nvSpPr>
        <p:spPr>
          <a:xfrm>
            <a:off x="992188" y="1592263"/>
            <a:ext cx="7874000" cy="4337050"/>
          </a:xfrm>
        </p:spPr>
        <p:txBody>
          <a:bodyPr/>
          <a:lstStyle/>
          <a:p>
            <a:pPr eaLnBrk="1" hangingPunct="1"/>
            <a:r>
              <a:rPr lang="en-US" smtClean="0"/>
              <a:t>The I_GTS.COMMON contains the common variables of the OFS module</a:t>
            </a:r>
          </a:p>
          <a:p>
            <a:pPr eaLnBrk="1" hangingPunct="1"/>
            <a:r>
              <a:rPr lang="en-US" smtClean="0"/>
              <a:t> Inserting this in the programs makes them available for use during the OFS processing</a:t>
            </a:r>
          </a:p>
          <a:p>
            <a:pPr eaLnBrk="1" hangingPunct="1"/>
            <a:r>
              <a:rPr lang="en-US" smtClean="0"/>
              <a:t>A subroutine attached in MSG.PRE.RTN field of OFS.SOURCE can make use of the common variables of the OFS module by inserting the I_GTS.COMMON file</a:t>
            </a:r>
          </a:p>
          <a:p>
            <a:pPr eaLnBrk="1" hangingPunct="1"/>
            <a:endParaRPr lang="en-US" smtClean="0"/>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smtClean="0"/>
              <a:t>OFS Common variables</a:t>
            </a:r>
          </a:p>
        </p:txBody>
      </p:sp>
      <p:graphicFrame>
        <p:nvGraphicFramePr>
          <p:cNvPr id="186447" name="Group 79"/>
          <p:cNvGraphicFramePr>
            <a:graphicFrameLocks noGrp="1"/>
          </p:cNvGraphicFramePr>
          <p:nvPr>
            <p:ph type="tbl" idx="1"/>
          </p:nvPr>
        </p:nvGraphicFramePr>
        <p:xfrm>
          <a:off x="992188" y="1592263"/>
          <a:ext cx="7874000" cy="4327526"/>
        </p:xfrm>
        <a:graphic>
          <a:graphicData uri="http://schemas.openxmlformats.org/drawingml/2006/table">
            <a:tbl>
              <a:tblPr/>
              <a:tblGrid>
                <a:gridCol w="3390900"/>
                <a:gridCol w="4483100"/>
              </a:tblGrid>
              <a:tr h="919163">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1" i="0" u="none" strike="noStrike" cap="none" normalizeH="0" baseline="0" dirty="0" smtClean="0">
                          <a:ln>
                            <a:noFill/>
                          </a:ln>
                          <a:solidFill>
                            <a:srgbClr val="3C3C41"/>
                          </a:solidFill>
                          <a:effectLst/>
                          <a:latin typeface="Arial" charset="0"/>
                          <a:cs typeface="Lucida Sans Unicode" pitchFamily="34" charset="0"/>
                        </a:rPr>
                        <a:t>GTSACTIVE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0" i="0" u="none" strike="noStrike" cap="none" normalizeH="0" baseline="0" smtClean="0">
                          <a:ln>
                            <a:noFill/>
                          </a:ln>
                          <a:solidFill>
                            <a:srgbClr val="3C3C41"/>
                          </a:solidFill>
                          <a:effectLst/>
                          <a:latin typeface="Arial" charset="0"/>
                          <a:cs typeface="Lucida Sans Unicode" pitchFamily="34" charset="0"/>
                        </a:rPr>
                        <a:t>Flag to indicate if OFS is used for the message being processed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5825">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1" i="0" u="none" strike="noStrike" cap="none" normalizeH="0" baseline="0" smtClean="0">
                          <a:ln>
                            <a:noFill/>
                          </a:ln>
                          <a:solidFill>
                            <a:srgbClr val="3C3C41"/>
                          </a:solidFill>
                          <a:effectLst/>
                          <a:latin typeface="Arial" charset="0"/>
                          <a:cs typeface="Lucida Sans Unicode" pitchFamily="34" charset="0"/>
                        </a:rPr>
                        <a:t>OFS$SOURCE.ID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0" i="0" u="none" strike="noStrike" cap="none" normalizeH="0" baseline="0" smtClean="0">
                          <a:ln>
                            <a:noFill/>
                          </a:ln>
                          <a:solidFill>
                            <a:srgbClr val="3C3C41"/>
                          </a:solidFill>
                          <a:effectLst/>
                          <a:latin typeface="Arial" charset="0"/>
                          <a:cs typeface="Lucida Sans Unicode" pitchFamily="34" charset="0"/>
                        </a:rPr>
                        <a:t>ID of the OFS.SOURCE record that is currently being used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47775">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1" i="0" u="none" strike="noStrike" cap="none" normalizeH="0" baseline="0" smtClean="0">
                          <a:ln>
                            <a:noFill/>
                          </a:ln>
                          <a:solidFill>
                            <a:srgbClr val="3C3C41"/>
                          </a:solidFill>
                          <a:effectLst/>
                          <a:latin typeface="Arial" charset="0"/>
                          <a:cs typeface="Lucida Sans Unicode" pitchFamily="34" charset="0"/>
                        </a:rPr>
                        <a:t>OFS$SOURCE.REC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0" i="0" u="none" strike="noStrike" cap="none" normalizeH="0" baseline="0" dirty="0" smtClean="0">
                          <a:ln>
                            <a:noFill/>
                          </a:ln>
                          <a:solidFill>
                            <a:srgbClr val="3C3C41"/>
                          </a:solidFill>
                          <a:effectLst/>
                          <a:latin typeface="Arial" charset="0"/>
                          <a:cs typeface="Lucida Sans Unicode" pitchFamily="34" charset="0"/>
                        </a:rPr>
                        <a:t>Dynamic array containing the OFS.SOURCE record that is currently being used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74763">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1" i="0" u="none" strike="noStrike" cap="none" normalizeH="0" baseline="0" smtClean="0">
                          <a:ln>
                            <a:noFill/>
                          </a:ln>
                          <a:solidFill>
                            <a:srgbClr val="3C3C41"/>
                          </a:solidFill>
                          <a:effectLst/>
                          <a:latin typeface="Arial" charset="0"/>
                          <a:cs typeface="Lucida Sans Unicode" pitchFamily="34" charset="0"/>
                        </a:rPr>
                        <a:t>OFS$GLOBMAN.ACTIVE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25000"/>
                        </a:lnSpc>
                        <a:spcBef>
                          <a:spcPts val="688"/>
                        </a:spcBef>
                        <a:spcAft>
                          <a:spcPct val="0"/>
                        </a:spcAft>
                        <a:buClr>
                          <a:srgbClr val="217CB6"/>
                        </a:buClr>
                        <a:buSzTx/>
                        <a:buFont typeface="Wingdings 3" pitchFamily="18" charset="2"/>
                        <a:buNone/>
                        <a:tabLst/>
                      </a:pPr>
                      <a:r>
                        <a:rPr kumimoji="0" lang="en-US" sz="1800" b="0" i="0" u="none" strike="noStrike" cap="none" normalizeH="0" baseline="0" smtClean="0">
                          <a:ln>
                            <a:noFill/>
                          </a:ln>
                          <a:solidFill>
                            <a:srgbClr val="3C3C41"/>
                          </a:solidFill>
                          <a:effectLst/>
                          <a:latin typeface="Arial" charset="0"/>
                          <a:cs typeface="Lucida Sans Unicode" pitchFamily="34" charset="0"/>
                        </a:rPr>
                        <a:t>Flag to indicate if OFS Globus mode (OFS.GLOBUS.MANAGER) is used for the message being processed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a:xfrm>
            <a:off x="381000" y="2590800"/>
            <a:ext cx="8229600" cy="151765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smtClean="0">
                <a:solidFill>
                  <a:schemeClr val="bg1"/>
                </a:solidFill>
              </a:rPr>
              <a:t>DATA CAPTURE</a:t>
            </a: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en-US" smtClean="0"/>
              <a:t>DATA CAPTURE - Introduction</a:t>
            </a:r>
          </a:p>
        </p:txBody>
      </p:sp>
      <p:sp>
        <p:nvSpPr>
          <p:cNvPr id="106499" name="Rectangle 3"/>
          <p:cNvSpPr>
            <a:spLocks noGrp="1" noChangeArrowheads="1"/>
          </p:cNvSpPr>
          <p:nvPr>
            <p:ph type="body" idx="1"/>
          </p:nvPr>
        </p:nvSpPr>
        <p:spPr>
          <a:xfrm>
            <a:off x="992188" y="1592263"/>
            <a:ext cx="7874000" cy="4337050"/>
          </a:xfrm>
        </p:spPr>
        <p:txBody>
          <a:bodyPr/>
          <a:lstStyle/>
          <a:p>
            <a:pPr eaLnBrk="1" hangingPunct="1"/>
            <a:r>
              <a:rPr lang="en-US" smtClean="0"/>
              <a:t>Data capture is the most basic method of creating accounting entries in T24</a:t>
            </a:r>
          </a:p>
          <a:p>
            <a:pPr eaLnBrk="1" hangingPunct="1"/>
            <a:r>
              <a:rPr lang="en-US" smtClean="0"/>
              <a:t>Data capture items are grouped in batches and each batch must have balancing debits and credits in local currency</a:t>
            </a:r>
          </a:p>
          <a:p>
            <a:pPr eaLnBrk="1" hangingPunct="1"/>
            <a:r>
              <a:rPr lang="en-US" smtClean="0"/>
              <a:t>Data capture application supports input of Cr and Dr entries in individual legs grouped under a Batch item</a:t>
            </a:r>
          </a:p>
          <a:p>
            <a:pPr eaLnBrk="1" hangingPunct="1"/>
            <a:r>
              <a:rPr lang="en-US" smtClean="0"/>
              <a:t>It can be used to refund money in case of a contract – say Miscellaneous fees collection or refund of excess charges collected etc.</a:t>
            </a: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smtClean="0"/>
              <a:t>DATA CAPTURE	- Introduction</a:t>
            </a:r>
          </a:p>
        </p:txBody>
      </p:sp>
      <p:sp>
        <p:nvSpPr>
          <p:cNvPr id="107523" name="Rectangle 3"/>
          <p:cNvSpPr>
            <a:spLocks noGrp="1" noChangeArrowheads="1"/>
          </p:cNvSpPr>
          <p:nvPr>
            <p:ph type="body" idx="1"/>
          </p:nvPr>
        </p:nvSpPr>
        <p:spPr>
          <a:xfrm>
            <a:off x="992188" y="1592263"/>
            <a:ext cx="7874000" cy="4337050"/>
          </a:xfrm>
        </p:spPr>
        <p:txBody>
          <a:bodyPr/>
          <a:lstStyle/>
          <a:p>
            <a:pPr eaLnBrk="1" hangingPunct="1"/>
            <a:r>
              <a:rPr lang="en-US" smtClean="0"/>
              <a:t>Data capture is an Account Based application which is used to pass entries to any type of account within T24</a:t>
            </a:r>
          </a:p>
          <a:p>
            <a:pPr eaLnBrk="1" hangingPunct="1"/>
            <a:r>
              <a:rPr lang="en-US" smtClean="0"/>
              <a:t>Data capture record which generates one accounting entry,</a:t>
            </a:r>
          </a:p>
          <a:p>
            <a:pPr lvl="1" eaLnBrk="1" hangingPunct="1"/>
            <a:r>
              <a:rPr lang="en-US" smtClean="0"/>
              <a:t>E.g.: To debit one customer a/c and credit P/L a/c (it may be commission on Demand Draft)</a:t>
            </a:r>
          </a:p>
          <a:p>
            <a:pPr eaLnBrk="1" hangingPunct="1"/>
            <a:endParaRPr lang="en-US" smtClean="0"/>
          </a:p>
          <a:p>
            <a:pPr lvl="1" eaLnBrk="1" hangingPunct="1">
              <a:buFont typeface="Trebuchet MS" pitchFamily="34" charset="0"/>
              <a:buNone/>
            </a:pPr>
            <a:r>
              <a:rPr lang="en-US" smtClean="0"/>
              <a:t>	</a:t>
            </a:r>
          </a:p>
          <a:p>
            <a:pPr lvl="1" eaLnBrk="1" hangingPunct="1">
              <a:buFont typeface="Trebuchet MS" pitchFamily="34" charset="0"/>
              <a:buNone/>
            </a:pPr>
            <a:endParaRPr lang="en-US" smtClean="0"/>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smtClean="0"/>
              <a:t>Feature of Data Capture</a:t>
            </a:r>
          </a:p>
        </p:txBody>
      </p:sp>
      <p:sp>
        <p:nvSpPr>
          <p:cNvPr id="108547" name="Rectangle 3"/>
          <p:cNvSpPr>
            <a:spLocks noGrp="1" noChangeArrowheads="1"/>
          </p:cNvSpPr>
          <p:nvPr>
            <p:ph type="body" idx="1"/>
          </p:nvPr>
        </p:nvSpPr>
        <p:spPr>
          <a:xfrm>
            <a:off x="992188" y="1592263"/>
            <a:ext cx="7874000" cy="4337050"/>
          </a:xfrm>
        </p:spPr>
        <p:txBody>
          <a:bodyPr/>
          <a:lstStyle/>
          <a:p>
            <a:pPr eaLnBrk="1" hangingPunct="1"/>
            <a:r>
              <a:rPr lang="en-US" smtClean="0"/>
              <a:t>A Data Capture record generates one accounting entry – either a debit or a credit only</a:t>
            </a:r>
          </a:p>
          <a:p>
            <a:pPr eaLnBrk="1" hangingPunct="1"/>
            <a:r>
              <a:rPr lang="en-US" smtClean="0"/>
              <a:t>While in other applications a single transaction may create multiple accounting entries</a:t>
            </a:r>
          </a:p>
          <a:p>
            <a:pPr eaLnBrk="1" hangingPunct="1"/>
            <a:r>
              <a:rPr lang="en-US" smtClean="0"/>
              <a:t>DC items are grouped in batches and each batch must have balancing debits and credits in local currency</a:t>
            </a: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en-US" smtClean="0"/>
              <a:t>Batch - Introduction</a:t>
            </a:r>
          </a:p>
        </p:txBody>
      </p:sp>
      <p:sp>
        <p:nvSpPr>
          <p:cNvPr id="109571" name="Rectangle 3"/>
          <p:cNvSpPr>
            <a:spLocks noGrp="1" noChangeArrowheads="1"/>
          </p:cNvSpPr>
          <p:nvPr>
            <p:ph type="body" idx="1"/>
          </p:nvPr>
        </p:nvSpPr>
        <p:spPr>
          <a:xfrm>
            <a:off x="992188" y="1592263"/>
            <a:ext cx="7874000" cy="4337050"/>
          </a:xfrm>
        </p:spPr>
        <p:txBody>
          <a:bodyPr/>
          <a:lstStyle/>
          <a:p>
            <a:pPr eaLnBrk="1" hangingPunct="1"/>
            <a:r>
              <a:rPr lang="en-US" smtClean="0"/>
              <a:t>Combination of debit and credit entries are called ‘Batch’</a:t>
            </a:r>
          </a:p>
          <a:p>
            <a:pPr eaLnBrk="1" hangingPunct="1"/>
            <a:r>
              <a:rPr lang="en-US" smtClean="0"/>
              <a:t>Batch must have at least two entries i.e. one debit and one credit</a:t>
            </a:r>
          </a:p>
          <a:p>
            <a:pPr eaLnBrk="1" hangingPunct="1"/>
            <a:r>
              <a:rPr lang="en-US" smtClean="0"/>
              <a:t>Batch – Groups into which items are separated for control purposes</a:t>
            </a:r>
          </a:p>
          <a:p>
            <a:pPr lvl="1" eaLnBrk="1" hangingPunct="1"/>
            <a:r>
              <a:rPr lang="en-US" smtClean="0"/>
              <a:t>E.g.: Single debit to a Nostro a/c, balanced by many credits to varying client a/c. </a:t>
            </a:r>
          </a:p>
          <a:p>
            <a:pPr eaLnBrk="1" hangingPunct="1"/>
            <a:endParaRPr lang="en-US" smtClean="0"/>
          </a:p>
          <a:p>
            <a:pPr eaLnBrk="1" hangingPunct="1"/>
            <a:endParaRPr lang="en-US" smtClean="0"/>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en-US" smtClean="0"/>
              <a:t>Batch - Introduction</a:t>
            </a:r>
          </a:p>
        </p:txBody>
      </p:sp>
      <p:sp>
        <p:nvSpPr>
          <p:cNvPr id="110595" name="Rectangle 3"/>
          <p:cNvSpPr>
            <a:spLocks noGrp="1" noChangeArrowheads="1"/>
          </p:cNvSpPr>
          <p:nvPr>
            <p:ph type="body" idx="1"/>
          </p:nvPr>
        </p:nvSpPr>
        <p:spPr>
          <a:xfrm>
            <a:off x="992188" y="1592263"/>
            <a:ext cx="7874000" cy="4337050"/>
          </a:xfrm>
        </p:spPr>
        <p:txBody>
          <a:bodyPr/>
          <a:lstStyle/>
          <a:p>
            <a:pPr eaLnBrk="1" hangingPunct="1"/>
            <a:r>
              <a:rPr lang="en-US" smtClean="0"/>
              <a:t>Data capture applies most of its accounting entries online</a:t>
            </a:r>
          </a:p>
          <a:p>
            <a:pPr eaLnBrk="1" hangingPunct="1"/>
            <a:r>
              <a:rPr lang="en-US" smtClean="0"/>
              <a:t>Only where a batch has not been fully authorized, or does not balance, will any entries to be generated during end of the day</a:t>
            </a: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en-US" smtClean="0"/>
              <a:t>OFS – DATA CAPTURE STEPS INVOLVED</a:t>
            </a:r>
          </a:p>
        </p:txBody>
      </p:sp>
      <p:sp>
        <p:nvSpPr>
          <p:cNvPr id="111619" name="Rectangle 3"/>
          <p:cNvSpPr>
            <a:spLocks noGrp="1" noChangeArrowheads="1"/>
          </p:cNvSpPr>
          <p:nvPr>
            <p:ph type="body" idx="1"/>
          </p:nvPr>
        </p:nvSpPr>
        <p:spPr>
          <a:xfrm>
            <a:off x="992188" y="1592263"/>
            <a:ext cx="7874000" cy="4337050"/>
          </a:xfrm>
        </p:spPr>
        <p:txBody>
          <a:bodyPr/>
          <a:lstStyle/>
          <a:p>
            <a:pPr eaLnBrk="1" hangingPunct="1"/>
            <a:r>
              <a:rPr lang="en-US" smtClean="0"/>
              <a:t>Open “DC” application and pass the Debit leg for a particular a/c</a:t>
            </a:r>
          </a:p>
        </p:txBody>
      </p:sp>
      <p:pic>
        <p:nvPicPr>
          <p:cNvPr id="3074" name="Picture 2"/>
          <p:cNvPicPr>
            <a:picLocks noChangeAspect="1" noChangeArrowheads="1"/>
          </p:cNvPicPr>
          <p:nvPr/>
        </p:nvPicPr>
        <p:blipFill>
          <a:blip r:embed="rId3"/>
          <a:srcRect/>
          <a:stretch>
            <a:fillRect/>
          </a:stretch>
        </p:blipFill>
        <p:spPr bwMode="auto">
          <a:xfrm>
            <a:off x="1562100" y="2649903"/>
            <a:ext cx="6019800" cy="32670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p:nvPr>
        </p:nvSpPr>
        <p:spPr/>
        <p:txBody>
          <a:bodyPr/>
          <a:lstStyle/>
          <a:p>
            <a:r>
              <a:rPr lang="en-US" smtClean="0"/>
              <a:t>ID OF DATA CAPTURE</a:t>
            </a:r>
          </a:p>
        </p:txBody>
      </p:sp>
      <p:sp>
        <p:nvSpPr>
          <p:cNvPr id="112643" name="Content Placeholder 2"/>
          <p:cNvSpPr>
            <a:spLocks noGrp="1"/>
          </p:cNvSpPr>
          <p:nvPr>
            <p:ph idx="1"/>
          </p:nvPr>
        </p:nvSpPr>
        <p:spPr>
          <a:xfrm>
            <a:off x="992188" y="1592263"/>
            <a:ext cx="7874000" cy="4638675"/>
          </a:xfrm>
        </p:spPr>
        <p:txBody>
          <a:bodyPr/>
          <a:lstStyle/>
          <a:p>
            <a:r>
              <a:rPr lang="en-US" smtClean="0"/>
              <a:t>Id is a 10 digit reference number used in DATA.CAPTURE record which generates one accounting entry, </a:t>
            </a:r>
          </a:p>
          <a:p>
            <a:r>
              <a:rPr lang="en-US" smtClean="0"/>
              <a:t>The 10 digit reference nuumber is comprised of Department code; Batch number; and Item number</a:t>
            </a:r>
          </a:p>
          <a:p>
            <a:r>
              <a:rPr lang="en-US" smtClean="0"/>
              <a:t>The Department code is derived from the DEPT.ACCT.OFFICER system table, the reference is as follows:</a:t>
            </a:r>
          </a:p>
          <a:p>
            <a:pPr>
              <a:buFont typeface="Wingdings 3" pitchFamily="18" charset="2"/>
              <a:buNone/>
            </a:pPr>
            <a:r>
              <a:rPr lang="en-US" smtClean="0"/>
              <a:t>   Department code:  Value 0001-9999</a:t>
            </a:r>
          </a:p>
          <a:p>
            <a:pPr>
              <a:buFont typeface="Wingdings 3" pitchFamily="18" charset="2"/>
              <a:buNone/>
            </a:pPr>
            <a:r>
              <a:rPr lang="en-US" smtClean="0"/>
              <a:t>   Batch Number : Value 001-999</a:t>
            </a:r>
          </a:p>
          <a:p>
            <a:pPr>
              <a:buFont typeface="Wingdings 3" pitchFamily="18" charset="2"/>
              <a:buNone/>
            </a:pPr>
            <a:r>
              <a:rPr lang="en-US" smtClean="0"/>
              <a:t>   Item Number : Value 001-998</a:t>
            </a:r>
          </a:p>
          <a:p>
            <a:endParaRPr lang="en-US" smtClean="0"/>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en-US" smtClean="0"/>
              <a:t>OFS – DATA CAPTURE STEPS INVOLVED</a:t>
            </a:r>
          </a:p>
        </p:txBody>
      </p:sp>
      <p:sp>
        <p:nvSpPr>
          <p:cNvPr id="113667" name="Rectangle 3"/>
          <p:cNvSpPr>
            <a:spLocks noGrp="1" noChangeArrowheads="1"/>
          </p:cNvSpPr>
          <p:nvPr>
            <p:ph type="body" idx="1"/>
          </p:nvPr>
        </p:nvSpPr>
        <p:spPr>
          <a:xfrm>
            <a:off x="992188" y="1592263"/>
            <a:ext cx="7874000" cy="4337050"/>
          </a:xfrm>
        </p:spPr>
        <p:txBody>
          <a:bodyPr/>
          <a:lstStyle/>
          <a:p>
            <a:pPr eaLnBrk="1" hangingPunct="1"/>
            <a:r>
              <a:rPr lang="en-US" smtClean="0"/>
              <a:t>Open “DC” application and pass the Debit leg for a particular a/c</a:t>
            </a:r>
          </a:p>
        </p:txBody>
      </p:sp>
      <p:pic>
        <p:nvPicPr>
          <p:cNvPr id="7" name="Picture 2"/>
          <p:cNvPicPr>
            <a:picLocks noChangeAspect="1" noChangeArrowheads="1"/>
          </p:cNvPicPr>
          <p:nvPr/>
        </p:nvPicPr>
        <p:blipFill>
          <a:blip r:embed="rId2"/>
          <a:srcRect/>
          <a:stretch>
            <a:fillRect/>
          </a:stretch>
        </p:blipFill>
        <p:spPr bwMode="auto">
          <a:xfrm>
            <a:off x="1562100" y="2649903"/>
            <a:ext cx="6019800" cy="32670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n-US" smtClean="0"/>
              <a:t>CREDIT LEG FOR 1</a:t>
            </a:r>
            <a:r>
              <a:rPr lang="en-US" baseline="30000" smtClean="0"/>
              <a:t>ST</a:t>
            </a:r>
            <a:r>
              <a:rPr lang="en-US" smtClean="0"/>
              <a:t> A/C</a:t>
            </a:r>
          </a:p>
        </p:txBody>
      </p:sp>
      <p:sp>
        <p:nvSpPr>
          <p:cNvPr id="114691" name="Rectangle 3"/>
          <p:cNvSpPr>
            <a:spLocks noGrp="1" noChangeArrowheads="1"/>
          </p:cNvSpPr>
          <p:nvPr>
            <p:ph type="body" idx="1"/>
          </p:nvPr>
        </p:nvSpPr>
        <p:spPr>
          <a:xfrm>
            <a:off x="992188" y="1592263"/>
            <a:ext cx="7874000" cy="4337050"/>
          </a:xfrm>
        </p:spPr>
        <p:txBody>
          <a:bodyPr/>
          <a:lstStyle/>
          <a:p>
            <a:pPr eaLnBrk="1" hangingPunct="1"/>
            <a:r>
              <a:rPr lang="en-US" smtClean="0"/>
              <a:t>After passing the debit leg, pass the credit leg for multiple accounts</a:t>
            </a:r>
          </a:p>
        </p:txBody>
      </p:sp>
      <p:pic>
        <p:nvPicPr>
          <p:cNvPr id="4098" name="Picture 2"/>
          <p:cNvPicPr>
            <a:picLocks noChangeAspect="1" noChangeArrowheads="1"/>
          </p:cNvPicPr>
          <p:nvPr/>
        </p:nvPicPr>
        <p:blipFill>
          <a:blip r:embed="rId3"/>
          <a:srcRect/>
          <a:stretch>
            <a:fillRect/>
          </a:stretch>
        </p:blipFill>
        <p:spPr bwMode="auto">
          <a:xfrm>
            <a:off x="1141282" y="2485011"/>
            <a:ext cx="7642954" cy="32670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en-US" smtClean="0"/>
              <a:t>CREDIT LEG FOR SECOND A/C</a:t>
            </a:r>
          </a:p>
        </p:txBody>
      </p:sp>
      <p:pic>
        <p:nvPicPr>
          <p:cNvPr id="5122" name="Picture 2"/>
          <p:cNvPicPr>
            <a:picLocks noChangeAspect="1" noChangeArrowheads="1"/>
          </p:cNvPicPr>
          <p:nvPr/>
        </p:nvPicPr>
        <p:blipFill>
          <a:blip r:embed="rId2"/>
          <a:srcRect/>
          <a:stretch>
            <a:fillRect/>
          </a:stretch>
        </p:blipFill>
        <p:spPr bwMode="auto">
          <a:xfrm>
            <a:off x="1040287" y="1860184"/>
            <a:ext cx="7609037" cy="3461323"/>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en-US" smtClean="0"/>
              <a:t>DATA CAPTURE</a:t>
            </a:r>
          </a:p>
        </p:txBody>
      </p:sp>
      <p:sp>
        <p:nvSpPr>
          <p:cNvPr id="116739" name="Rectangle 3"/>
          <p:cNvSpPr>
            <a:spLocks noGrp="1" noChangeArrowheads="1"/>
          </p:cNvSpPr>
          <p:nvPr>
            <p:ph type="body" idx="1"/>
          </p:nvPr>
        </p:nvSpPr>
        <p:spPr>
          <a:xfrm>
            <a:off x="992188" y="1592263"/>
            <a:ext cx="7874000" cy="4337050"/>
          </a:xfrm>
        </p:spPr>
        <p:txBody>
          <a:bodyPr/>
          <a:lstStyle/>
          <a:p>
            <a:pPr eaLnBrk="1" hangingPunct="1"/>
            <a:r>
              <a:rPr lang="en-US" smtClean="0"/>
              <a:t>After passing both the debit and credit legs</a:t>
            </a:r>
          </a:p>
          <a:p>
            <a:pPr eaLnBrk="1" hangingPunct="1"/>
            <a:r>
              <a:rPr lang="en-US" smtClean="0"/>
              <a:t>The Batch is now available in INAU</a:t>
            </a:r>
          </a:p>
        </p:txBody>
      </p:sp>
      <p:pic>
        <p:nvPicPr>
          <p:cNvPr id="6146" name="Picture 2"/>
          <p:cNvPicPr>
            <a:picLocks noChangeAspect="1" noChangeArrowheads="1"/>
          </p:cNvPicPr>
          <p:nvPr/>
        </p:nvPicPr>
        <p:blipFill>
          <a:blip r:embed="rId2"/>
          <a:srcRect/>
          <a:stretch>
            <a:fillRect/>
          </a:stretch>
        </p:blipFill>
        <p:spPr bwMode="auto">
          <a:xfrm>
            <a:off x="1912419" y="3047375"/>
            <a:ext cx="5229225" cy="1752600"/>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en-US" smtClean="0"/>
              <a:t>DATA CAPTURE</a:t>
            </a:r>
          </a:p>
        </p:txBody>
      </p:sp>
      <p:sp>
        <p:nvSpPr>
          <p:cNvPr id="117763" name="Rectangle 3"/>
          <p:cNvSpPr>
            <a:spLocks noGrp="1" noChangeArrowheads="1"/>
          </p:cNvSpPr>
          <p:nvPr>
            <p:ph type="body" idx="1"/>
          </p:nvPr>
        </p:nvSpPr>
        <p:spPr>
          <a:xfrm>
            <a:off x="992188" y="1592263"/>
            <a:ext cx="7874000" cy="4337050"/>
          </a:xfrm>
        </p:spPr>
        <p:txBody>
          <a:bodyPr/>
          <a:lstStyle/>
          <a:p>
            <a:pPr eaLnBrk="1" hangingPunct="1"/>
            <a:r>
              <a:rPr lang="en-US" smtClean="0"/>
              <a:t>Now OFS Message is used to authorize the Batch</a:t>
            </a:r>
          </a:p>
          <a:p>
            <a:pPr eaLnBrk="1" hangingPunct="1"/>
            <a:r>
              <a:rPr lang="en-US" smtClean="0"/>
              <a:t>To pass an OFS message to authorize or Delete a DC Batch, the Transaction ID part of the message must be ‘DC Department Code : DC Batch Code ALL’</a:t>
            </a:r>
          </a:p>
          <a:p>
            <a:pPr eaLnBrk="1" hangingPunct="1"/>
            <a:r>
              <a:rPr lang="en-US" smtClean="0"/>
              <a:t>Assuming 2 DC legs DC072360001017001 &amp; DC072360001017002, DC072360001017003 need to be authorized, then the Transaction ID part of the OFS message must be ‘DC072360001017 ALL’ and the Function would be A or D as appropriate</a:t>
            </a:r>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smtClean="0"/>
              <a:t>SAMPLE SCREEN - DC</a:t>
            </a:r>
          </a:p>
        </p:txBody>
      </p:sp>
      <p:sp>
        <p:nvSpPr>
          <p:cNvPr id="118787" name="Rectangle 3"/>
          <p:cNvSpPr>
            <a:spLocks noGrp="1" noChangeArrowheads="1"/>
          </p:cNvSpPr>
          <p:nvPr>
            <p:ph type="body" idx="1"/>
          </p:nvPr>
        </p:nvSpPr>
        <p:spPr>
          <a:xfrm>
            <a:off x="992188" y="1592263"/>
            <a:ext cx="7874000" cy="4337050"/>
          </a:xfrm>
        </p:spPr>
        <p:txBody>
          <a:bodyPr/>
          <a:lstStyle/>
          <a:p>
            <a:pPr eaLnBrk="1" hangingPunct="1"/>
            <a:r>
              <a:rPr lang="en-US" smtClean="0"/>
              <a:t>From the shell prompt pass the following OFS format</a:t>
            </a:r>
          </a:p>
        </p:txBody>
      </p:sp>
      <p:pic>
        <p:nvPicPr>
          <p:cNvPr id="1026" name="Picture 2"/>
          <p:cNvPicPr>
            <a:picLocks noChangeAspect="1" noChangeArrowheads="1"/>
          </p:cNvPicPr>
          <p:nvPr/>
        </p:nvPicPr>
        <p:blipFill>
          <a:blip r:embed="rId2"/>
          <a:srcRect/>
          <a:stretch>
            <a:fillRect/>
          </a:stretch>
        </p:blipFill>
        <p:spPr bwMode="auto">
          <a:xfrm>
            <a:off x="779488" y="2790825"/>
            <a:ext cx="7996784" cy="1276350"/>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r>
              <a:rPr lang="en-US" smtClean="0"/>
              <a:t>Workshop - VI</a:t>
            </a:r>
          </a:p>
        </p:txBody>
      </p:sp>
      <p:sp>
        <p:nvSpPr>
          <p:cNvPr id="119811" name="Rectangle 3"/>
          <p:cNvSpPr>
            <a:spLocks noGrp="1" noChangeArrowheads="1"/>
          </p:cNvSpPr>
          <p:nvPr>
            <p:ph type="body" idx="1"/>
          </p:nvPr>
        </p:nvSpPr>
        <p:spPr>
          <a:xfrm>
            <a:off x="992188" y="1592263"/>
            <a:ext cx="7874000" cy="4337050"/>
          </a:xfrm>
        </p:spPr>
        <p:txBody>
          <a:bodyPr/>
          <a:lstStyle/>
          <a:p>
            <a:pPr eaLnBrk="1" hangingPunct="1"/>
            <a:r>
              <a:rPr lang="en-US" smtClean="0"/>
              <a:t>Create a file with following details – Debit Account Number, Debit Currency, Debit Amount, Credit Currency and Credit Account Number, separated by a comma</a:t>
            </a:r>
          </a:p>
          <a:p>
            <a:pPr eaLnBrk="1" hangingPunct="1"/>
            <a:r>
              <a:rPr lang="en-US" smtClean="0"/>
              <a:t>Write a Subroutine to read the details from the file created in the above step and create FUNDS.TRANSFER messages in OFS format</a:t>
            </a:r>
          </a:p>
          <a:p>
            <a:pPr eaLnBrk="1" hangingPunct="1"/>
            <a:r>
              <a:rPr lang="en-US" smtClean="0"/>
              <a:t>Like in the previous exercise the version, user name and password can be put in a file and read</a:t>
            </a: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p:cNvSpPr>
          <p:nvPr>
            <p:ph type="title"/>
          </p:nvPr>
        </p:nvSpPr>
        <p:spPr/>
        <p:txBody>
          <a:bodyPr/>
          <a:lstStyle/>
          <a:p>
            <a:r>
              <a:rPr lang="en-US" smtClean="0"/>
              <a:t>Solution – Step 1: Creating a file</a:t>
            </a:r>
          </a:p>
        </p:txBody>
      </p:sp>
      <p:pic>
        <p:nvPicPr>
          <p:cNvPr id="120835" name="Content Placeholder 3"/>
          <p:cNvPicPr>
            <a:picLocks noGrp="1" noChangeAspect="1" noChangeArrowheads="1"/>
          </p:cNvPicPr>
          <p:nvPr>
            <p:ph idx="1"/>
          </p:nvPr>
        </p:nvPicPr>
        <p:blipFill>
          <a:blip r:embed="rId2"/>
          <a:srcRect l="3204" t="8653" r="32085" b="76555"/>
          <a:stretch>
            <a:fillRect/>
          </a:stretch>
        </p:blipFill>
        <p:spPr>
          <a:xfrm>
            <a:off x="992188" y="2516318"/>
            <a:ext cx="7874000" cy="1441450"/>
          </a:xfrm>
          <a:noFill/>
          <a:ln w="19050">
            <a:solidFill>
              <a:srgbClr val="0000FF"/>
            </a:solidFill>
          </a:ln>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p:cNvSpPr>
            <a:spLocks noGrp="1"/>
          </p:cNvSpPr>
          <p:nvPr>
            <p:ph type="title"/>
          </p:nvPr>
        </p:nvSpPr>
        <p:spPr/>
        <p:txBody>
          <a:bodyPr/>
          <a:lstStyle/>
          <a:p>
            <a:r>
              <a:rPr lang="en-US" smtClean="0"/>
              <a:t>Solution – Step 2: Routine</a:t>
            </a:r>
          </a:p>
        </p:txBody>
      </p:sp>
      <p:sp>
        <p:nvSpPr>
          <p:cNvPr id="121859" name="Content Placeholder 2"/>
          <p:cNvSpPr>
            <a:spLocks noGrp="1"/>
          </p:cNvSpPr>
          <p:nvPr>
            <p:ph idx="1"/>
          </p:nvPr>
        </p:nvSpPr>
        <p:spPr>
          <a:xfrm>
            <a:off x="992188" y="1592263"/>
            <a:ext cx="7874000" cy="4638675"/>
          </a:xfrm>
        </p:spPr>
        <p:txBody>
          <a:bodyPr/>
          <a:lstStyle/>
          <a:p>
            <a:endParaRPr lang="en-US" smtClean="0"/>
          </a:p>
        </p:txBody>
      </p:sp>
      <p:pic>
        <p:nvPicPr>
          <p:cNvPr id="121860" name="Picture 5"/>
          <p:cNvPicPr>
            <a:picLocks noChangeAspect="1" noChangeArrowheads="1"/>
          </p:cNvPicPr>
          <p:nvPr/>
        </p:nvPicPr>
        <p:blipFill>
          <a:blip r:embed="rId3"/>
          <a:srcRect/>
          <a:stretch>
            <a:fillRect/>
          </a:stretch>
        </p:blipFill>
        <p:spPr bwMode="auto">
          <a:xfrm>
            <a:off x="1049520" y="1424742"/>
            <a:ext cx="7540625" cy="4465638"/>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p:cNvSpPr>
          <p:nvPr>
            <p:ph type="title"/>
          </p:nvPr>
        </p:nvSpPr>
        <p:spPr/>
        <p:txBody>
          <a:bodyPr/>
          <a:lstStyle/>
          <a:p>
            <a:r>
              <a:rPr lang="en-US" smtClean="0"/>
              <a:t>Solution – Step 2 : Routine (Contd)</a:t>
            </a:r>
          </a:p>
        </p:txBody>
      </p:sp>
      <p:pic>
        <p:nvPicPr>
          <p:cNvPr id="122883" name="Picture 4"/>
          <p:cNvPicPr>
            <a:picLocks noChangeAspect="1" noChangeArrowheads="1"/>
          </p:cNvPicPr>
          <p:nvPr/>
        </p:nvPicPr>
        <p:blipFill>
          <a:blip r:embed="rId2"/>
          <a:srcRect/>
          <a:stretch>
            <a:fillRect/>
          </a:stretch>
        </p:blipFill>
        <p:spPr bwMode="auto">
          <a:xfrm>
            <a:off x="1214438" y="2218180"/>
            <a:ext cx="7210425" cy="2952750"/>
          </a:xfrm>
          <a:prstGeom prst="rect">
            <a:avLst/>
          </a:prstGeom>
          <a:noFill/>
          <a:ln w="9525">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le 1"/>
          <p:cNvSpPr>
            <a:spLocks noGrp="1"/>
          </p:cNvSpPr>
          <p:nvPr>
            <p:ph type="title"/>
          </p:nvPr>
        </p:nvSpPr>
        <p:spPr/>
        <p:txBody>
          <a:bodyPr/>
          <a:lstStyle/>
          <a:p>
            <a:r>
              <a:rPr lang="en-US" smtClean="0"/>
              <a:t>Solution – Step 3 : PGM.FILE</a:t>
            </a:r>
          </a:p>
        </p:txBody>
      </p:sp>
      <p:pic>
        <p:nvPicPr>
          <p:cNvPr id="123908" name="Picture 4"/>
          <p:cNvPicPr>
            <a:picLocks noChangeAspect="1" noChangeArrowheads="1"/>
          </p:cNvPicPr>
          <p:nvPr/>
        </p:nvPicPr>
        <p:blipFill>
          <a:blip r:embed="rId2"/>
          <a:srcRect/>
          <a:stretch>
            <a:fillRect/>
          </a:stretch>
        </p:blipFill>
        <p:spPr bwMode="auto">
          <a:xfrm>
            <a:off x="1514318" y="1680460"/>
            <a:ext cx="4076700" cy="3467100"/>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p:cNvSpPr>
            <a:spLocks noGrp="1"/>
          </p:cNvSpPr>
          <p:nvPr>
            <p:ph type="title"/>
          </p:nvPr>
        </p:nvSpPr>
        <p:spPr/>
        <p:txBody>
          <a:bodyPr/>
          <a:lstStyle/>
          <a:p>
            <a:r>
              <a:rPr lang="en-US" smtClean="0"/>
              <a:t>Solution – Step 4 : Create Version</a:t>
            </a:r>
          </a:p>
        </p:txBody>
      </p:sp>
      <p:pic>
        <p:nvPicPr>
          <p:cNvPr id="124933" name="Picture 5"/>
          <p:cNvPicPr>
            <a:picLocks noGrp="1" noChangeAspect="1" noChangeArrowheads="1"/>
          </p:cNvPicPr>
          <p:nvPr>
            <p:ph idx="1"/>
          </p:nvPr>
        </p:nvPicPr>
        <p:blipFill>
          <a:blip r:embed="rId2"/>
          <a:srcRect/>
          <a:stretch>
            <a:fillRect/>
          </a:stretch>
        </p:blipFill>
        <p:spPr bwMode="auto">
          <a:xfrm>
            <a:off x="1110944" y="1337431"/>
            <a:ext cx="6137470" cy="46386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p:nvPr>
        </p:nvSpPr>
        <p:spPr/>
        <p:txBody>
          <a:bodyPr/>
          <a:lstStyle/>
          <a:p>
            <a:r>
              <a:rPr lang="en-US" smtClean="0"/>
              <a:t>Solution – Output</a:t>
            </a:r>
          </a:p>
        </p:txBody>
      </p:sp>
      <p:pic>
        <p:nvPicPr>
          <p:cNvPr id="125955" name="Picture 4"/>
          <p:cNvPicPr>
            <a:picLocks noChangeAspect="1" noChangeArrowheads="1"/>
          </p:cNvPicPr>
          <p:nvPr/>
        </p:nvPicPr>
        <p:blipFill>
          <a:blip r:embed="rId2"/>
          <a:srcRect l="2885" t="8942" r="28989" b="75789"/>
          <a:stretch>
            <a:fillRect/>
          </a:stretch>
        </p:blipFill>
        <p:spPr bwMode="auto">
          <a:xfrm>
            <a:off x="1065005" y="1676557"/>
            <a:ext cx="5864225" cy="885825"/>
          </a:xfrm>
          <a:prstGeom prst="rect">
            <a:avLst/>
          </a:prstGeom>
          <a:noFill/>
          <a:ln w="19050">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en-US" smtClean="0"/>
              <a:t>Workshop VII</a:t>
            </a:r>
          </a:p>
        </p:txBody>
      </p:sp>
      <p:sp>
        <p:nvSpPr>
          <p:cNvPr id="126979" name="Rectangle 3"/>
          <p:cNvSpPr>
            <a:spLocks noGrp="1" noChangeArrowheads="1"/>
          </p:cNvSpPr>
          <p:nvPr>
            <p:ph type="body" idx="1"/>
          </p:nvPr>
        </p:nvSpPr>
        <p:spPr>
          <a:xfrm>
            <a:off x="992188" y="1592263"/>
            <a:ext cx="7874000" cy="4337050"/>
          </a:xfrm>
        </p:spPr>
        <p:txBody>
          <a:bodyPr/>
          <a:lstStyle/>
          <a:p>
            <a:pPr eaLnBrk="1" hangingPunct="1"/>
            <a:r>
              <a:rPr lang="en-US" smtClean="0"/>
              <a:t>Create OFS for Batch Mode</a:t>
            </a:r>
          </a:p>
          <a:p>
            <a:pPr eaLnBrk="1" hangingPunct="1"/>
            <a:r>
              <a:rPr lang="en-US" smtClean="0"/>
              <a:t>Then subroutine should write the formatted OFS messages to the in directory defined in this OFS.SOURCE record</a:t>
            </a:r>
          </a:p>
          <a:p>
            <a:pPr eaLnBrk="1" hangingPunct="1"/>
            <a:r>
              <a:rPr lang="en-US" smtClean="0"/>
              <a:t>If you were to receive any errors, check the request message to see if everything is correct about the syntax</a:t>
            </a:r>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p:cNvSpPr>
            <a:spLocks noGrp="1"/>
          </p:cNvSpPr>
          <p:nvPr>
            <p:ph type="title"/>
          </p:nvPr>
        </p:nvSpPr>
        <p:spPr/>
        <p:txBody>
          <a:bodyPr/>
          <a:lstStyle/>
          <a:p>
            <a:r>
              <a:rPr lang="en-US" smtClean="0"/>
              <a:t>Solution – Step 1: OFS.SOURCE</a:t>
            </a:r>
          </a:p>
        </p:txBody>
      </p:sp>
      <p:pic>
        <p:nvPicPr>
          <p:cNvPr id="128004" name="Picture 4"/>
          <p:cNvPicPr>
            <a:picLocks noChangeAspect="1" noChangeArrowheads="1"/>
          </p:cNvPicPr>
          <p:nvPr/>
        </p:nvPicPr>
        <p:blipFill>
          <a:blip r:embed="rId2"/>
          <a:srcRect/>
          <a:stretch>
            <a:fillRect/>
          </a:stretch>
        </p:blipFill>
        <p:spPr bwMode="auto">
          <a:xfrm>
            <a:off x="1120281" y="1584118"/>
            <a:ext cx="4714875" cy="4019550"/>
          </a:xfrm>
          <a:prstGeom prst="rect">
            <a:avLst/>
          </a:prstGeom>
          <a:noFill/>
          <a:ln w="19050">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p:cNvSpPr>
            <a:spLocks noGrp="1"/>
          </p:cNvSpPr>
          <p:nvPr>
            <p:ph type="title"/>
          </p:nvPr>
        </p:nvSpPr>
        <p:spPr/>
        <p:txBody>
          <a:bodyPr/>
          <a:lstStyle/>
          <a:p>
            <a:r>
              <a:rPr lang="en-US" smtClean="0"/>
              <a:t>Solution – Step 1: OFS.SOURCE</a:t>
            </a:r>
          </a:p>
        </p:txBody>
      </p:sp>
      <p:pic>
        <p:nvPicPr>
          <p:cNvPr id="129028" name="Picture 4"/>
          <p:cNvPicPr>
            <a:picLocks noChangeAspect="1" noChangeArrowheads="1"/>
          </p:cNvPicPr>
          <p:nvPr/>
        </p:nvPicPr>
        <p:blipFill>
          <a:blip r:embed="rId2"/>
          <a:srcRect/>
          <a:stretch>
            <a:fillRect/>
          </a:stretch>
        </p:blipFill>
        <p:spPr bwMode="auto">
          <a:xfrm>
            <a:off x="1145967" y="1203508"/>
            <a:ext cx="5353050" cy="4391025"/>
          </a:xfrm>
          <a:prstGeom prst="rect">
            <a:avLst/>
          </a:prstGeom>
          <a:noFill/>
          <a:ln w="19050">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p:txBody>
          <a:bodyPr/>
          <a:lstStyle/>
          <a:p>
            <a:r>
              <a:rPr lang="en-US" smtClean="0"/>
              <a:t>Solution – Step 2 : EB.PHANTOM</a:t>
            </a:r>
          </a:p>
        </p:txBody>
      </p:sp>
      <p:pic>
        <p:nvPicPr>
          <p:cNvPr id="130052" name="Picture 4"/>
          <p:cNvPicPr>
            <a:picLocks noChangeAspect="1" noChangeArrowheads="1"/>
          </p:cNvPicPr>
          <p:nvPr/>
        </p:nvPicPr>
        <p:blipFill>
          <a:blip r:embed="rId2"/>
          <a:srcRect/>
          <a:stretch>
            <a:fillRect/>
          </a:stretch>
        </p:blipFill>
        <p:spPr bwMode="auto">
          <a:xfrm>
            <a:off x="1104275" y="1352003"/>
            <a:ext cx="4267200" cy="43338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p:cNvSpPr>
            <a:spLocks noGrp="1"/>
          </p:cNvSpPr>
          <p:nvPr>
            <p:ph type="title"/>
          </p:nvPr>
        </p:nvSpPr>
        <p:spPr/>
        <p:txBody>
          <a:bodyPr/>
          <a:lstStyle/>
          <a:p>
            <a:r>
              <a:rPr lang="en-US" smtClean="0"/>
              <a:t>Solution – Step 2 : EB.PHANTOM</a:t>
            </a:r>
          </a:p>
        </p:txBody>
      </p:sp>
      <p:pic>
        <p:nvPicPr>
          <p:cNvPr id="131076" name="Picture 4"/>
          <p:cNvPicPr>
            <a:picLocks noChangeAspect="1" noChangeArrowheads="1"/>
          </p:cNvPicPr>
          <p:nvPr/>
        </p:nvPicPr>
        <p:blipFill>
          <a:blip r:embed="rId2"/>
          <a:srcRect/>
          <a:stretch>
            <a:fillRect/>
          </a:stretch>
        </p:blipFill>
        <p:spPr bwMode="auto">
          <a:xfrm>
            <a:off x="1025578" y="1243170"/>
            <a:ext cx="4724400" cy="4581525"/>
          </a:xfrm>
          <a:prstGeom prst="rect">
            <a:avLst/>
          </a:prstGeom>
          <a:noFill/>
          <a:ln w="19050">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p:txBody>
          <a:bodyPr/>
          <a:lstStyle/>
          <a:p>
            <a:r>
              <a:rPr lang="en-US" smtClean="0"/>
              <a:t>Solution – Step 3 : Input IN File</a:t>
            </a:r>
          </a:p>
        </p:txBody>
      </p:sp>
      <p:pic>
        <p:nvPicPr>
          <p:cNvPr id="132099" name="Picture 7"/>
          <p:cNvPicPr>
            <a:picLocks noChangeAspect="1" noChangeArrowheads="1"/>
          </p:cNvPicPr>
          <p:nvPr/>
        </p:nvPicPr>
        <p:blipFill>
          <a:blip r:embed="rId2"/>
          <a:srcRect l="3664" t="10419" r="24298" b="73952"/>
          <a:stretch>
            <a:fillRect/>
          </a:stretch>
        </p:blipFill>
        <p:spPr bwMode="auto">
          <a:xfrm>
            <a:off x="1639888" y="1800225"/>
            <a:ext cx="5937250" cy="841375"/>
          </a:xfrm>
          <a:prstGeom prst="rect">
            <a:avLst/>
          </a:prstGeom>
          <a:noFill/>
          <a:ln w="9525">
            <a:solidFill>
              <a:srgbClr val="0000FF"/>
            </a:solidFill>
            <a:miter lim="800000"/>
            <a:headEnd/>
            <a:tailEnd/>
          </a:ln>
        </p:spPr>
      </p:pic>
      <p:pic>
        <p:nvPicPr>
          <p:cNvPr id="132100" name="Picture 10"/>
          <p:cNvPicPr>
            <a:picLocks noChangeAspect="1" noChangeArrowheads="1"/>
          </p:cNvPicPr>
          <p:nvPr/>
        </p:nvPicPr>
        <p:blipFill>
          <a:blip r:embed="rId3"/>
          <a:srcRect l="4150" t="10419" r="29915" b="70695"/>
          <a:stretch>
            <a:fillRect/>
          </a:stretch>
        </p:blipFill>
        <p:spPr bwMode="auto">
          <a:xfrm>
            <a:off x="1582738" y="3208338"/>
            <a:ext cx="6080125" cy="841375"/>
          </a:xfrm>
          <a:prstGeom prst="rect">
            <a:avLst/>
          </a:prstGeom>
          <a:noFill/>
          <a:ln w="19050">
            <a:solidFill>
              <a:srgbClr val="0000FF"/>
            </a:solidFill>
            <a:miter lim="800000"/>
            <a:headEnd/>
            <a:tailEnd/>
          </a:ln>
        </p:spPr>
      </p:pic>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p:cNvSpPr>
            <a:spLocks noGrp="1"/>
          </p:cNvSpPr>
          <p:nvPr>
            <p:ph type="title"/>
          </p:nvPr>
        </p:nvSpPr>
        <p:spPr/>
        <p:txBody>
          <a:bodyPr/>
          <a:lstStyle/>
          <a:p>
            <a:r>
              <a:rPr lang="en-US" smtClean="0"/>
              <a:t>Solution – OFS.REQUEST.DETAILS</a:t>
            </a:r>
          </a:p>
        </p:txBody>
      </p:sp>
      <p:pic>
        <p:nvPicPr>
          <p:cNvPr id="133124" name="Picture 4"/>
          <p:cNvPicPr>
            <a:picLocks noChangeAspect="1" noChangeArrowheads="1"/>
          </p:cNvPicPr>
          <p:nvPr/>
        </p:nvPicPr>
        <p:blipFill>
          <a:blip r:embed="rId2"/>
          <a:srcRect/>
          <a:stretch>
            <a:fillRect/>
          </a:stretch>
        </p:blipFill>
        <p:spPr bwMode="auto">
          <a:xfrm>
            <a:off x="1862138" y="1547813"/>
            <a:ext cx="5419725" cy="3762375"/>
          </a:xfrm>
          <a:prstGeom prst="rect">
            <a:avLst/>
          </a:prstGeom>
          <a:noFill/>
          <a:ln w="9525">
            <a:solidFill>
              <a:srgbClr val="0000FF"/>
            </a:solidFill>
            <a:miter lim="800000"/>
            <a:headEnd/>
            <a:tailEnd/>
          </a:ln>
          <a:effectLst/>
        </p:spPr>
      </p:pic>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eaLnBrk="1" hangingPunct="1"/>
            <a:r>
              <a:rPr lang="en-US" smtClean="0"/>
              <a:t>ERROR HANDLING</a:t>
            </a:r>
          </a:p>
        </p:txBody>
      </p:sp>
      <p:sp>
        <p:nvSpPr>
          <p:cNvPr id="134147" name="Rectangle 3"/>
          <p:cNvSpPr>
            <a:spLocks noGrp="1" noChangeArrowheads="1"/>
          </p:cNvSpPr>
          <p:nvPr>
            <p:ph type="body" idx="1"/>
          </p:nvPr>
        </p:nvSpPr>
        <p:spPr>
          <a:xfrm>
            <a:off x="992188" y="1592263"/>
            <a:ext cx="7874000" cy="4337050"/>
          </a:xfrm>
        </p:spPr>
        <p:txBody>
          <a:bodyPr/>
          <a:lstStyle/>
          <a:p>
            <a:pPr eaLnBrk="1" hangingPunct="1"/>
            <a:r>
              <a:rPr lang="en-US" smtClean="0"/>
              <a:t>Error messages related to the OFS module could be broadly classified in to three categories</a:t>
            </a:r>
          </a:p>
          <a:p>
            <a:pPr lvl="1" eaLnBrk="1" hangingPunct="1"/>
            <a:r>
              <a:rPr lang="en-US" smtClean="0"/>
              <a:t>Message related </a:t>
            </a:r>
          </a:p>
          <a:p>
            <a:pPr lvl="1" eaLnBrk="1" hangingPunct="1"/>
            <a:r>
              <a:rPr lang="en-US" smtClean="0"/>
              <a:t>System related</a:t>
            </a:r>
          </a:p>
          <a:p>
            <a:pPr lvl="1" eaLnBrk="1" hangingPunct="1"/>
            <a:r>
              <a:rPr lang="en-US" smtClean="0"/>
              <a:t>File related</a:t>
            </a:r>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pPr eaLnBrk="1" hangingPunct="1"/>
            <a:r>
              <a:rPr lang="en-US" smtClean="0"/>
              <a:t>Message related</a:t>
            </a:r>
          </a:p>
        </p:txBody>
      </p:sp>
      <p:sp>
        <p:nvSpPr>
          <p:cNvPr id="135171" name="Rectangle 3"/>
          <p:cNvSpPr>
            <a:spLocks noGrp="1" noChangeArrowheads="1"/>
          </p:cNvSpPr>
          <p:nvPr>
            <p:ph type="body" idx="1"/>
          </p:nvPr>
        </p:nvSpPr>
        <p:spPr>
          <a:xfrm>
            <a:off x="992188" y="1592263"/>
            <a:ext cx="7874000" cy="4337050"/>
          </a:xfrm>
        </p:spPr>
        <p:txBody>
          <a:bodyPr/>
          <a:lstStyle/>
          <a:p>
            <a:pPr eaLnBrk="1" hangingPunct="1"/>
            <a:r>
              <a:rPr lang="en-US" smtClean="0"/>
              <a:t>These error messages are encountered with the format of request messages</a:t>
            </a:r>
          </a:p>
          <a:p>
            <a:pPr eaLnBrk="1" hangingPunct="1"/>
            <a:r>
              <a:rPr lang="en-US" smtClean="0"/>
              <a:t>To overcome this ofs messages have to analyzed and corrected before we pass the message</a:t>
            </a:r>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r>
              <a:rPr lang="en-US" smtClean="0"/>
              <a:t>Message related	</a:t>
            </a:r>
          </a:p>
        </p:txBody>
      </p:sp>
      <p:sp>
        <p:nvSpPr>
          <p:cNvPr id="136195" name="Rectangle 3"/>
          <p:cNvSpPr>
            <a:spLocks noGrp="1" noChangeArrowheads="1"/>
          </p:cNvSpPr>
          <p:nvPr>
            <p:ph type="body" idx="1"/>
          </p:nvPr>
        </p:nvSpPr>
        <p:spPr>
          <a:xfrm>
            <a:off x="992188" y="1579563"/>
            <a:ext cx="7874000" cy="4337050"/>
          </a:xfrm>
        </p:spPr>
        <p:txBody>
          <a:bodyPr/>
          <a:lstStyle/>
          <a:p>
            <a:pPr eaLnBrk="1" hangingPunct="1"/>
            <a:r>
              <a:rPr lang="en-US" smtClean="0"/>
              <a:t>APPLICATION / OPERATION MISSING</a:t>
            </a:r>
          </a:p>
          <a:p>
            <a:pPr lvl="1" eaLnBrk="1" hangingPunct="1"/>
            <a:r>
              <a:rPr lang="en-US" smtClean="0"/>
              <a:t>This error message is encountered when the request message is either empty or does not contain the name of the application / subroutine / Enquiry select (in case of enquiry messages), in the first portion of the request message</a:t>
            </a:r>
          </a:p>
          <a:p>
            <a:pPr lvl="1" eaLnBrk="1" hangingPunct="1"/>
            <a:r>
              <a:rPr lang="en-US" smtClean="0"/>
              <a:t>To overcome this, supply the required name in the first portion of the request message</a:t>
            </a:r>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eaLnBrk="1" hangingPunct="1"/>
            <a:r>
              <a:rPr lang="en-US" smtClean="0"/>
              <a:t>Message related	</a:t>
            </a:r>
          </a:p>
        </p:txBody>
      </p:sp>
      <p:sp>
        <p:nvSpPr>
          <p:cNvPr id="137219" name="Rectangle 3"/>
          <p:cNvSpPr>
            <a:spLocks noGrp="1" noChangeArrowheads="1"/>
          </p:cNvSpPr>
          <p:nvPr>
            <p:ph type="body" idx="1"/>
          </p:nvPr>
        </p:nvSpPr>
        <p:spPr>
          <a:xfrm>
            <a:off x="992188" y="1592263"/>
            <a:ext cx="7874000" cy="4337050"/>
          </a:xfrm>
        </p:spPr>
        <p:txBody>
          <a:bodyPr/>
          <a:lstStyle/>
          <a:p>
            <a:pPr eaLnBrk="1" hangingPunct="1"/>
            <a:r>
              <a:rPr lang="en-US" smtClean="0"/>
              <a:t>NO SIGN ON NAME SUPPLIED DURING SIGN ON PROCESS</a:t>
            </a:r>
          </a:p>
          <a:p>
            <a:pPr lvl="1" eaLnBrk="1" hangingPunct="1"/>
            <a:r>
              <a:rPr lang="en-US" smtClean="0"/>
              <a:t>This error message is encountered when the request message does not contain the TEMENOS T24 user sign on name / password in the User information portion of the request message</a:t>
            </a:r>
          </a:p>
          <a:p>
            <a:pPr lvl="1" eaLnBrk="1" hangingPunct="1"/>
            <a:r>
              <a:rPr lang="en-US" smtClean="0"/>
              <a:t>To overcome this, supply a valid TEMENOS T24 user name and password in the User information portion of the request message</a:t>
            </a:r>
          </a:p>
        </p:txBody>
      </p:sp>
    </p:spTree>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eaLnBrk="1" hangingPunct="1"/>
            <a:r>
              <a:rPr lang="en-US" smtClean="0"/>
              <a:t>SYSTEM RELATED ERROR MESSAGE</a:t>
            </a:r>
          </a:p>
        </p:txBody>
      </p:sp>
      <p:sp>
        <p:nvSpPr>
          <p:cNvPr id="138243" name="Rectangle 3"/>
          <p:cNvSpPr>
            <a:spLocks noGrp="1" noChangeArrowheads="1"/>
          </p:cNvSpPr>
          <p:nvPr>
            <p:ph type="body" idx="1"/>
          </p:nvPr>
        </p:nvSpPr>
        <p:spPr>
          <a:xfrm>
            <a:off x="992188" y="1592263"/>
            <a:ext cx="7874000" cy="4337050"/>
          </a:xfrm>
        </p:spPr>
        <p:txBody>
          <a:bodyPr/>
          <a:lstStyle/>
          <a:p>
            <a:pPr eaLnBrk="1" hangingPunct="1">
              <a:lnSpc>
                <a:spcPct val="115000"/>
              </a:lnSpc>
            </a:pPr>
            <a:r>
              <a:rPr lang="en-US" smtClean="0"/>
              <a:t>These error messages happen when the server is offline or when the restriction in the application used in the transaction</a:t>
            </a:r>
          </a:p>
          <a:p>
            <a:pPr eaLnBrk="1" hangingPunct="1">
              <a:lnSpc>
                <a:spcPct val="115000"/>
              </a:lnSpc>
            </a:pPr>
            <a:r>
              <a:rPr lang="en-US" smtClean="0"/>
              <a:t>The following is the list of common system related error messages</a:t>
            </a:r>
          </a:p>
          <a:p>
            <a:pPr eaLnBrk="1" hangingPunct="1">
              <a:lnSpc>
                <a:spcPct val="115000"/>
              </a:lnSpc>
            </a:pPr>
            <a:r>
              <a:rPr lang="en-US" smtClean="0"/>
              <a:t>&lt;Message ID&gt;/&lt;Transaction ID&gt;/-3/OFFLINE</a:t>
            </a:r>
          </a:p>
          <a:p>
            <a:pPr eaLnBrk="1" hangingPunct="1">
              <a:lnSpc>
                <a:spcPct val="115000"/>
              </a:lnSpc>
            </a:pPr>
            <a:r>
              <a:rPr lang="en-US" smtClean="0"/>
              <a:t>This error message is encountered when the TEMENOS T24 Server is in offline status at the time the request message is received by it</a:t>
            </a:r>
          </a:p>
          <a:p>
            <a:pPr eaLnBrk="1" hangingPunct="1">
              <a:lnSpc>
                <a:spcPct val="115000"/>
              </a:lnSpc>
            </a:pPr>
            <a:r>
              <a:rPr lang="en-US" smtClean="0"/>
              <a:t>In this stage inputs / updates to the database will not be allowed</a:t>
            </a:r>
          </a:p>
        </p:txBody>
      </p:sp>
    </p:spTree>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r>
              <a:rPr lang="en-US" smtClean="0"/>
              <a:t>File I/O related errors	</a:t>
            </a:r>
          </a:p>
        </p:txBody>
      </p:sp>
      <p:sp>
        <p:nvSpPr>
          <p:cNvPr id="139267" name="Rectangle 3"/>
          <p:cNvSpPr>
            <a:spLocks noGrp="1" noChangeArrowheads="1"/>
          </p:cNvSpPr>
          <p:nvPr>
            <p:ph type="body" idx="1"/>
          </p:nvPr>
        </p:nvSpPr>
        <p:spPr>
          <a:xfrm>
            <a:off x="992188" y="1592263"/>
            <a:ext cx="7874000" cy="4337050"/>
          </a:xfrm>
        </p:spPr>
        <p:txBody>
          <a:bodyPr/>
          <a:lstStyle/>
          <a:p>
            <a:pPr eaLnBrk="1" hangingPunct="1"/>
            <a:r>
              <a:rPr lang="en-US" smtClean="0"/>
              <a:t>The errors are encountered when there are problems related to files</a:t>
            </a:r>
          </a:p>
          <a:p>
            <a:pPr lvl="1" eaLnBrk="1" hangingPunct="1"/>
            <a:r>
              <a:rPr lang="en-US" smtClean="0"/>
              <a:t>File cannot be opened</a:t>
            </a:r>
          </a:p>
          <a:p>
            <a:pPr lvl="2" eaLnBrk="1" hangingPunct="1"/>
            <a:r>
              <a:rPr lang="en-US" smtClean="0"/>
              <a:t>This error message when the open operation on the file is failed</a:t>
            </a:r>
          </a:p>
          <a:p>
            <a:pPr lvl="2" eaLnBrk="1" hangingPunct="1"/>
            <a:r>
              <a:rPr lang="en-US" smtClean="0"/>
              <a:t>To avoid this ensure that whether permission to access the file is given</a:t>
            </a:r>
          </a:p>
          <a:p>
            <a:pPr lvl="2" eaLnBrk="1" hangingPunct="1">
              <a:buFont typeface="Trebuchet MS" pitchFamily="34" charset="0"/>
              <a:buNone/>
            </a:pPr>
            <a:r>
              <a:rPr lang="en-US" sz="2400" smtClean="0"/>
              <a:t>					</a:t>
            </a:r>
          </a:p>
          <a:p>
            <a:pPr lvl="2" eaLnBrk="1" hangingPunct="1">
              <a:buFont typeface="Trebuchet MS" pitchFamily="34" charset="0"/>
              <a:buNone/>
            </a:pPr>
            <a:endParaRPr lang="en-US" sz="2400" smtClean="0"/>
          </a:p>
        </p:txBody>
      </p:sp>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r>
              <a:rPr lang="en-US" smtClean="0"/>
              <a:t>File I/O related errors</a:t>
            </a:r>
          </a:p>
        </p:txBody>
      </p:sp>
      <p:sp>
        <p:nvSpPr>
          <p:cNvPr id="140291" name="Rectangle 3"/>
          <p:cNvSpPr>
            <a:spLocks noGrp="1" noChangeArrowheads="1"/>
          </p:cNvSpPr>
          <p:nvPr>
            <p:ph type="body" idx="1"/>
          </p:nvPr>
        </p:nvSpPr>
        <p:spPr>
          <a:xfrm>
            <a:off x="992188" y="1592263"/>
            <a:ext cx="7874000" cy="4337050"/>
          </a:xfrm>
        </p:spPr>
        <p:txBody>
          <a:bodyPr/>
          <a:lstStyle/>
          <a:p>
            <a:pPr eaLnBrk="1" hangingPunct="1"/>
            <a:r>
              <a:rPr lang="en-US" smtClean="0"/>
              <a:t>Missing Standard Selection on the Application</a:t>
            </a:r>
          </a:p>
          <a:p>
            <a:pPr lvl="1" eaLnBrk="1" hangingPunct="1"/>
            <a:r>
              <a:rPr lang="en-US" smtClean="0"/>
              <a:t>This error message is displayed when the Standard selection entry for this application is not done</a:t>
            </a:r>
          </a:p>
          <a:p>
            <a:pPr lvl="1" eaLnBrk="1" hangingPunct="1"/>
            <a:r>
              <a:rPr lang="en-US" smtClean="0"/>
              <a:t>To overcome this ensure whether standard selection record for this application is available</a:t>
            </a:r>
          </a:p>
          <a:p>
            <a:pPr lvl="1" eaLnBrk="1" hangingPunct="1"/>
            <a:r>
              <a:rPr lang="en-US" smtClean="0"/>
              <a:t>Else create SS for this application</a:t>
            </a:r>
          </a:p>
        </p:txBody>
      </p:sp>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smtClean="0"/>
              <a:t>NOINPUT Fields</a:t>
            </a:r>
          </a:p>
        </p:txBody>
      </p:sp>
      <p:sp>
        <p:nvSpPr>
          <p:cNvPr id="141315" name="Rectangle 3"/>
          <p:cNvSpPr>
            <a:spLocks noGrp="1" noChangeArrowheads="1"/>
          </p:cNvSpPr>
          <p:nvPr>
            <p:ph type="body" idx="1"/>
          </p:nvPr>
        </p:nvSpPr>
        <p:spPr>
          <a:xfrm>
            <a:off x="992188" y="1592263"/>
            <a:ext cx="7874000" cy="4337050"/>
          </a:xfrm>
        </p:spPr>
        <p:txBody>
          <a:bodyPr/>
          <a:lstStyle/>
          <a:p>
            <a:pPr eaLnBrk="1" hangingPunct="1"/>
            <a:r>
              <a:rPr lang="en-US" smtClean="0"/>
              <a:t>In normal T24 application a field in a application will be defined as NOINPUT field</a:t>
            </a:r>
          </a:p>
          <a:p>
            <a:pPr eaLnBrk="1" hangingPunct="1"/>
            <a:r>
              <a:rPr lang="en-US" smtClean="0"/>
              <a:t>If values to such fields are passed through OFS we will get these errors</a:t>
            </a:r>
          </a:p>
          <a:p>
            <a:pPr eaLnBrk="1" hangingPunct="1"/>
            <a:r>
              <a:rPr lang="en-US" smtClean="0"/>
              <a:t>To overcome this ensure that the field is enabled as INPUT field</a:t>
            </a:r>
          </a:p>
          <a:p>
            <a:pPr lvl="1" eaLnBrk="1" hangingPunct="1">
              <a:buFont typeface="Trebuchet MS" pitchFamily="34" charset="0"/>
              <a:buNone/>
            </a:pPr>
            <a:endParaRPr lang="en-US" smtClean="0"/>
          </a:p>
        </p:txBody>
      </p:sp>
    </p:spTree>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p:cNvSpPr>
            <a:spLocks noGrp="1"/>
          </p:cNvSpPr>
          <p:nvPr>
            <p:ph type="title"/>
          </p:nvPr>
        </p:nvSpPr>
        <p:spPr/>
        <p:txBody>
          <a:bodyPr/>
          <a:lstStyle/>
          <a:p>
            <a:r>
              <a:rPr lang="en-US" smtClean="0"/>
              <a:t>Summary</a:t>
            </a:r>
          </a:p>
        </p:txBody>
      </p:sp>
      <p:sp>
        <p:nvSpPr>
          <p:cNvPr id="142339" name="Content Placeholder 2"/>
          <p:cNvSpPr>
            <a:spLocks noGrp="1"/>
          </p:cNvSpPr>
          <p:nvPr>
            <p:ph idx="1"/>
          </p:nvPr>
        </p:nvSpPr>
        <p:spPr>
          <a:xfrm>
            <a:off x="992188" y="1592263"/>
            <a:ext cx="7874000" cy="4638675"/>
          </a:xfrm>
        </p:spPr>
        <p:txBody>
          <a:bodyPr/>
          <a:lstStyle/>
          <a:p>
            <a:r>
              <a:rPr lang="en-US" smtClean="0"/>
              <a:t>Functionality of OFS.</a:t>
            </a:r>
          </a:p>
          <a:p>
            <a:r>
              <a:rPr lang="en-US" smtClean="0"/>
              <a:t>Architecture of OFS.</a:t>
            </a:r>
          </a:p>
          <a:p>
            <a:r>
              <a:rPr lang="en-US" smtClean="0"/>
              <a:t>Message Structure of OFS.</a:t>
            </a:r>
          </a:p>
          <a:p>
            <a:r>
              <a:rPr lang="en-US" smtClean="0"/>
              <a:t>Components of OFS.</a:t>
            </a:r>
          </a:p>
          <a:p>
            <a:r>
              <a:rPr lang="en-US" smtClean="0"/>
              <a:t>Passing Message through OFS.</a:t>
            </a:r>
          </a:p>
          <a:p>
            <a:r>
              <a:rPr lang="en-US" smtClean="0"/>
              <a:t>To display enquiry data using OFS.</a:t>
            </a:r>
          </a:p>
          <a:p>
            <a:r>
              <a:rPr lang="en-US" smtClean="0"/>
              <a:t>OFS message to access Routine.</a:t>
            </a:r>
          </a:p>
          <a:p>
            <a:r>
              <a:rPr lang="en-US" smtClean="0"/>
              <a:t>Data capture using OFS.</a:t>
            </a:r>
          </a:p>
          <a:p>
            <a:endParaRPr lang="en-US" smtClean="0"/>
          </a:p>
          <a:p>
            <a:endParaRPr lang="en-US" smtClean="0"/>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body"/>
          </p:nvPr>
        </p:nvSpPr>
        <p:spPr>
          <a:xfrm>
            <a:off x="398463" y="2913063"/>
            <a:ext cx="7715250" cy="1501775"/>
          </a:xfrm>
        </p:spPr>
        <p:txBody>
          <a:bodyPr anchor="t"/>
          <a:lstStyle/>
          <a:p>
            <a:pPr marL="341313" indent="-341313" algn="l" eaLnBrk="1" hangingPunct="1">
              <a:spcBef>
                <a:spcPts val="300"/>
              </a:spcBef>
              <a:buSzPct val="45000"/>
              <a:tabLst>
                <a:tab pos="0" algn="l"/>
                <a:tab pos="569913" algn="l"/>
                <a:tab pos="1484313" algn="l"/>
                <a:tab pos="2398713" algn="l"/>
                <a:tab pos="3313113" algn="l"/>
                <a:tab pos="4227513" algn="l"/>
                <a:tab pos="5141913" algn="l"/>
                <a:tab pos="6056313" algn="l"/>
                <a:tab pos="6970713" algn="l"/>
                <a:tab pos="7885113" algn="l"/>
                <a:tab pos="8799513" algn="l"/>
                <a:tab pos="9713913" algn="l"/>
              </a:tabLst>
              <a:defRPr/>
            </a:pPr>
            <a:r>
              <a:rPr lang="en-US" sz="1200" dirty="0" smtClean="0">
                <a:solidFill>
                  <a:schemeClr val="bg1"/>
                </a:solidFill>
              </a:rPr>
              <a:t>		All product names and other company names used herein are for identification purposes only and may be trademarks or registered trademarks of their respective owners. Errors and omissions excepted, </a:t>
            </a:r>
            <a:br>
              <a:rPr lang="en-US" sz="1200" dirty="0" smtClean="0">
                <a:solidFill>
                  <a:schemeClr val="bg1"/>
                </a:solidFill>
              </a:rPr>
            </a:br>
            <a:r>
              <a:rPr lang="en-US" sz="1200" dirty="0" smtClean="0">
                <a:solidFill>
                  <a:schemeClr val="bg1"/>
                </a:solidFill>
              </a:rPr>
              <a:t>all specifications are subject to change without notice.</a:t>
            </a:r>
          </a:p>
          <a:p>
            <a:pPr marL="341313" indent="-341313" algn="l" eaLnBrk="1" hangingPunct="1">
              <a:spcBef>
                <a:spcPts val="300"/>
              </a:spcBef>
              <a:buSzPct val="45000"/>
              <a:tabLst>
                <a:tab pos="0" algn="l"/>
                <a:tab pos="569913" algn="l"/>
                <a:tab pos="1484313" algn="l"/>
                <a:tab pos="2398713" algn="l"/>
                <a:tab pos="3313113" algn="l"/>
                <a:tab pos="4227513" algn="l"/>
                <a:tab pos="5141913" algn="l"/>
                <a:tab pos="6056313" algn="l"/>
                <a:tab pos="6970713" algn="l"/>
                <a:tab pos="7885113" algn="l"/>
                <a:tab pos="8799513" algn="l"/>
                <a:tab pos="9713913" algn="l"/>
              </a:tabLst>
              <a:defRPr/>
            </a:pPr>
            <a:endParaRPr lang="en-US" sz="1200" dirty="0" smtClean="0">
              <a:solidFill>
                <a:schemeClr val="bg1"/>
              </a:solidFill>
            </a:endParaRPr>
          </a:p>
          <a:p>
            <a:pPr marL="341313" indent="-341313" algn="l" eaLnBrk="1" hangingPunct="1">
              <a:spcBef>
                <a:spcPts val="300"/>
              </a:spcBef>
              <a:buSzPct val="45000"/>
              <a:tabLst>
                <a:tab pos="0" algn="l"/>
                <a:tab pos="569913" algn="l"/>
                <a:tab pos="1484313" algn="l"/>
                <a:tab pos="2398713" algn="l"/>
                <a:tab pos="3313113" algn="l"/>
                <a:tab pos="4227513" algn="l"/>
                <a:tab pos="5141913" algn="l"/>
                <a:tab pos="6056313" algn="l"/>
                <a:tab pos="6970713" algn="l"/>
                <a:tab pos="7885113" algn="l"/>
                <a:tab pos="8799513" algn="l"/>
                <a:tab pos="9713913" algn="l"/>
              </a:tabLst>
              <a:defRPr/>
            </a:pPr>
            <a:r>
              <a:rPr lang="en-US" sz="1200" dirty="0" smtClean="0">
                <a:solidFill>
                  <a:schemeClr val="bg1"/>
                </a:solidFill>
              </a:rPr>
              <a:t>		© 2009 Thesys Technologies Incorporated.  All rights reserved.	</a:t>
            </a:r>
          </a:p>
        </p:txBody>
      </p:sp>
      <p:sp>
        <p:nvSpPr>
          <p:cNvPr id="143363" name="Rectangle 1"/>
          <p:cNvSpPr>
            <a:spLocks noChangeArrowheads="1"/>
          </p:cNvSpPr>
          <p:nvPr/>
        </p:nvSpPr>
        <p:spPr bwMode="auto">
          <a:xfrm>
            <a:off x="741363" y="5275263"/>
            <a:ext cx="7543800" cy="568325"/>
          </a:xfrm>
          <a:prstGeom prst="rect">
            <a:avLst/>
          </a:prstGeom>
          <a:noFill/>
          <a:ln w="9525">
            <a:noFill/>
            <a:miter lim="800000"/>
            <a:headEnd/>
            <a:tailEnd/>
          </a:ln>
        </p:spPr>
        <p:txBody>
          <a:bodyPr lIns="0" tIns="0" rIns="0" bIns="0"/>
          <a:lstStyle/>
          <a:p>
            <a:pPr marL="341313" indent="-341313" defTabSz="457200" eaLnBrk="0" hangingPunct="0">
              <a:spcBef>
                <a:spcPts val="300"/>
              </a:spcBef>
              <a:buClr>
                <a:srgbClr val="000000"/>
              </a:buClr>
              <a:buSzPct val="45000"/>
              <a:buFont typeface="Arial" charset="0"/>
              <a:buNone/>
              <a:tabLst>
                <a:tab pos="0" algn="l"/>
                <a:tab pos="569913" algn="l"/>
                <a:tab pos="1484313" algn="l"/>
                <a:tab pos="2398713" algn="l"/>
                <a:tab pos="3313113" algn="l"/>
                <a:tab pos="4227513" algn="l"/>
                <a:tab pos="5141913" algn="l"/>
                <a:tab pos="6056313" algn="l"/>
                <a:tab pos="6970713" algn="l"/>
                <a:tab pos="7885113" algn="l"/>
                <a:tab pos="8799513" algn="l"/>
                <a:tab pos="9713913" algn="l"/>
              </a:tabLst>
            </a:pPr>
            <a:r>
              <a:rPr lang="en-US" sz="1200">
                <a:solidFill>
                  <a:srgbClr val="43434B"/>
                </a:solidFill>
                <a:latin typeface="Arial" charset="0"/>
              </a:rPr>
              <a:t>FOR MORE INFORMATION</a:t>
            </a:r>
          </a:p>
          <a:p>
            <a:pPr marL="341313" indent="-341313" defTabSz="457200" eaLnBrk="0" hangingPunct="0">
              <a:spcBef>
                <a:spcPts val="300"/>
              </a:spcBef>
              <a:buClr>
                <a:srgbClr val="000000"/>
              </a:buClr>
              <a:buSzPct val="45000"/>
              <a:buFont typeface="Arial" charset="0"/>
              <a:buNone/>
              <a:tabLst>
                <a:tab pos="0" algn="l"/>
                <a:tab pos="569913" algn="l"/>
                <a:tab pos="1484313" algn="l"/>
                <a:tab pos="2398713" algn="l"/>
                <a:tab pos="3313113" algn="l"/>
                <a:tab pos="4227513" algn="l"/>
                <a:tab pos="5141913" algn="l"/>
                <a:tab pos="6056313" algn="l"/>
                <a:tab pos="6970713" algn="l"/>
                <a:tab pos="7885113" algn="l"/>
                <a:tab pos="8799513" algn="l"/>
                <a:tab pos="9713913" algn="l"/>
              </a:tabLst>
            </a:pPr>
            <a:r>
              <a:rPr lang="en-US" sz="1200">
                <a:solidFill>
                  <a:srgbClr val="43434B"/>
                </a:solidFill>
                <a:latin typeface="Arial" charset="0"/>
              </a:rPr>
              <a:t>Visit   : www.thesys.co.in</a:t>
            </a:r>
          </a:p>
          <a:p>
            <a:pPr marL="341313" indent="-341313" defTabSz="457200" eaLnBrk="0" hangingPunct="0">
              <a:spcBef>
                <a:spcPts val="300"/>
              </a:spcBef>
              <a:buClr>
                <a:srgbClr val="000000"/>
              </a:buClr>
              <a:buSzPct val="45000"/>
              <a:buFont typeface="Arial" charset="0"/>
              <a:buNone/>
              <a:tabLst>
                <a:tab pos="0" algn="l"/>
                <a:tab pos="569913" algn="l"/>
                <a:tab pos="1484313" algn="l"/>
                <a:tab pos="2398713" algn="l"/>
                <a:tab pos="3313113" algn="l"/>
                <a:tab pos="4227513" algn="l"/>
                <a:tab pos="5141913" algn="l"/>
                <a:tab pos="6056313" algn="l"/>
                <a:tab pos="6970713" algn="l"/>
                <a:tab pos="7885113" algn="l"/>
                <a:tab pos="8799513" algn="l"/>
                <a:tab pos="9713913" algn="l"/>
              </a:tabLst>
            </a:pPr>
            <a:r>
              <a:rPr lang="en-US" sz="1200">
                <a:solidFill>
                  <a:srgbClr val="43434B"/>
                </a:solidFill>
                <a:latin typeface="Arial" charset="0"/>
              </a:rPr>
              <a:t>email : marketing@thesys.co.in	</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raining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lnDef>
    <a:txDef>
      <a:spPr>
        <a:noFill/>
      </a:spPr>
      <a:bodyPr wrap="square" rtlCol="0" anchor="ctr">
        <a:spAutoFit/>
      </a:bodyPr>
      <a:lstStyle>
        <a:defPPr>
          <a:defRPr dirty="0" smtClean="0">
            <a:solidFill>
              <a:schemeClr val="tx1"/>
            </a:solidFill>
          </a:defRPr>
        </a:defPPr>
      </a:lstStyle>
    </a:tx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000" b="0" i="0" u="none" strike="noStrike" cap="none" normalizeH="0" baseline="0" smtClean="0">
            <a:ln>
              <a:noFill/>
            </a:ln>
            <a:solidFill>
              <a:schemeClr val="bg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Training_Template</Template>
  <TotalTime>4167</TotalTime>
  <Words>4501</Words>
  <PresentationFormat>On-screen Show (4:3)</PresentationFormat>
  <Paragraphs>596</Paragraphs>
  <Slides>136</Slides>
  <Notes>31</Notes>
  <HiddenSlides>0</HiddenSlides>
  <MMClips>0</MMClips>
  <ScaleCrop>false</ScaleCrop>
  <HeadingPairs>
    <vt:vector size="4" baseType="variant">
      <vt:variant>
        <vt:lpstr>Theme</vt:lpstr>
      </vt:variant>
      <vt:variant>
        <vt:i4>4</vt:i4>
      </vt:variant>
      <vt:variant>
        <vt:lpstr>Slide Titles</vt:lpstr>
      </vt:variant>
      <vt:variant>
        <vt:i4>136</vt:i4>
      </vt:variant>
    </vt:vector>
  </HeadingPairs>
  <TitlesOfParts>
    <vt:vector size="140" baseType="lpstr">
      <vt:lpstr>Training_Template</vt:lpstr>
      <vt:lpstr>1_Default Design</vt:lpstr>
      <vt:lpstr>2_Default Design</vt:lpstr>
      <vt:lpstr>4_Default Design</vt:lpstr>
      <vt:lpstr>OFS (OPEN FINANCIAL SERVICES)</vt:lpstr>
      <vt:lpstr>Day-wise Plan</vt:lpstr>
      <vt:lpstr>Day-wise Plan</vt:lpstr>
      <vt:lpstr>Objective &amp; Agenda</vt:lpstr>
      <vt:lpstr>Objective</vt:lpstr>
      <vt:lpstr>Agenda</vt:lpstr>
      <vt:lpstr>Agenda</vt:lpstr>
      <vt:lpstr>Agenda</vt:lpstr>
      <vt:lpstr>Introduction</vt:lpstr>
      <vt:lpstr>Introduction</vt:lpstr>
      <vt:lpstr>Introduction</vt:lpstr>
      <vt:lpstr>Why OFS?</vt:lpstr>
      <vt:lpstr>Functionality of OFS</vt:lpstr>
      <vt:lpstr>Architecture</vt:lpstr>
      <vt:lpstr>Architecture</vt:lpstr>
      <vt:lpstr>Architecture</vt:lpstr>
      <vt:lpstr>Components of OFS</vt:lpstr>
      <vt:lpstr>Components of OFS</vt:lpstr>
      <vt:lpstr>Components of OFS – OFS QUEUE MANAGER</vt:lpstr>
      <vt:lpstr>Components of OFS – OFS ONLINE MANAGER</vt:lpstr>
      <vt:lpstr>Components of OFS – OFS REQUEST MANAGER</vt:lpstr>
      <vt:lpstr>Components of OFS – OFS REQUEST MANAGER</vt:lpstr>
      <vt:lpstr>Components of OFS – OFS CONNECTION MANAGER</vt:lpstr>
      <vt:lpstr>Components of OFS – OFS SESSION MANAGER</vt:lpstr>
      <vt:lpstr>Processing Modes</vt:lpstr>
      <vt:lpstr>Processing Modes in OFS</vt:lpstr>
      <vt:lpstr>BATCH MODE</vt:lpstr>
      <vt:lpstr>BATCH MODE </vt:lpstr>
      <vt:lpstr>ONLINE MODE</vt:lpstr>
      <vt:lpstr>ONLINE MODE</vt:lpstr>
      <vt:lpstr>GLOBUS MODE</vt:lpstr>
      <vt:lpstr>GLOBUS MODE</vt:lpstr>
      <vt:lpstr>GLOBUS MODE</vt:lpstr>
      <vt:lpstr>Applications in OFS</vt:lpstr>
      <vt:lpstr>Applications in OFS</vt:lpstr>
      <vt:lpstr>Applications of OFS - OFS.SOURCE</vt:lpstr>
      <vt:lpstr>OFS.SOURCE – FOR ONLINE</vt:lpstr>
      <vt:lpstr>OFS.SOURCE – FOR ONLINE</vt:lpstr>
      <vt:lpstr>OFS.SOURCE</vt:lpstr>
      <vt:lpstr>OFS.SOURCE - FIELDS</vt:lpstr>
      <vt:lpstr>OFS.SOURCE</vt:lpstr>
      <vt:lpstr>OFS.SOURCE</vt:lpstr>
      <vt:lpstr>OFS.SOURCE</vt:lpstr>
      <vt:lpstr>PASSING MESSAGE USING ONLINE MODE</vt:lpstr>
      <vt:lpstr>Message structure</vt:lpstr>
      <vt:lpstr>Message structure</vt:lpstr>
      <vt:lpstr>Message structure</vt:lpstr>
      <vt:lpstr>Message structure</vt:lpstr>
      <vt:lpstr>Example of sample OFS Message</vt:lpstr>
      <vt:lpstr>Return message</vt:lpstr>
      <vt:lpstr>Sample return message</vt:lpstr>
      <vt:lpstr>Workshop - I</vt:lpstr>
      <vt:lpstr>Solution – Step 1 : OFS ONLINE SETUP</vt:lpstr>
      <vt:lpstr>Solution – Step 2 : SECTOR-VERSION</vt:lpstr>
      <vt:lpstr>Solution – Step 3 : OFS.CONNECTION.MANAGER</vt:lpstr>
      <vt:lpstr>Solution - Return Message</vt:lpstr>
      <vt:lpstr>EB.PHANTOM - FOR BATCH MODE</vt:lpstr>
      <vt:lpstr>OFS.SOURCE – FOR BATCH MODE</vt:lpstr>
      <vt:lpstr> OFS.SOURCE – FOR BATCH MODE</vt:lpstr>
      <vt:lpstr>EB.PHANTOM – FOR BATCH MODE</vt:lpstr>
      <vt:lpstr>EB.PHANTOM – FOR BATCH MODE</vt:lpstr>
      <vt:lpstr>BATCH RUNNING PROCESS </vt:lpstr>
      <vt:lpstr>EB.PHANTOM</vt:lpstr>
      <vt:lpstr>OFS.REQUEST.DETAIL</vt:lpstr>
      <vt:lpstr>OFS.REQUEST.DETAIL</vt:lpstr>
      <vt:lpstr>Workshop - II</vt:lpstr>
      <vt:lpstr>Solution – Step 1: Setup BATCH</vt:lpstr>
      <vt:lpstr>Solution – Step 2 : EB.PHANTOM</vt:lpstr>
      <vt:lpstr>Solution – Step 3: Create a Record</vt:lpstr>
      <vt:lpstr>Solution – Step 4: Verify EB.PHANTOM</vt:lpstr>
      <vt:lpstr>ENQUIRY using OFS</vt:lpstr>
      <vt:lpstr>ENQUIRY – USING OFS</vt:lpstr>
      <vt:lpstr>ENQUIRY - OFS</vt:lpstr>
      <vt:lpstr>ENQUIRY - OFS</vt:lpstr>
      <vt:lpstr>ENQUIRY - OFS</vt:lpstr>
      <vt:lpstr>ENQUIRY – OFS (SYNTAX)</vt:lpstr>
      <vt:lpstr>Workshop - III</vt:lpstr>
      <vt:lpstr>Solution – Step 1 : Enquiry for sector</vt:lpstr>
      <vt:lpstr>Solution – Step 2 : OFS MESSAGE</vt:lpstr>
      <vt:lpstr>Workshop IV</vt:lpstr>
      <vt:lpstr>Solution – Step 1 : Enquiry for Account</vt:lpstr>
      <vt:lpstr>Solution – Step 2 : OFS MESSAGE</vt:lpstr>
      <vt:lpstr>ROUTINE REQUEST – OFS</vt:lpstr>
      <vt:lpstr>Message format for calling ROUTINE</vt:lpstr>
      <vt:lpstr>Message format for calling ROUTINE</vt:lpstr>
      <vt:lpstr>Program</vt:lpstr>
      <vt:lpstr>SAMPLE PROGRAM FOR OFS ROUTINE CALL</vt:lpstr>
      <vt:lpstr>PGM.FILE</vt:lpstr>
      <vt:lpstr>Steps for execution</vt:lpstr>
      <vt:lpstr>OFS.SOURCE FOR SUBROUTINE CALL</vt:lpstr>
      <vt:lpstr>SAMPLE SCREEN OF OFS MESSAGE</vt:lpstr>
      <vt:lpstr>Workshop - V</vt:lpstr>
      <vt:lpstr>Workshop - V</vt:lpstr>
      <vt:lpstr>Solution – Step 1 : Write the Routine</vt:lpstr>
      <vt:lpstr>Solution – Step 2 : PGM.FILE</vt:lpstr>
      <vt:lpstr>Solution – Step 3 : Output </vt:lpstr>
      <vt:lpstr>I_GTS.COMMON – OFS Common variables</vt:lpstr>
      <vt:lpstr>OFS Common variables</vt:lpstr>
      <vt:lpstr>DATA CAPTURE</vt:lpstr>
      <vt:lpstr>DATA CAPTURE - Introduction</vt:lpstr>
      <vt:lpstr>DATA CAPTURE - Introduction</vt:lpstr>
      <vt:lpstr>Feature of Data Capture</vt:lpstr>
      <vt:lpstr>Batch - Introduction</vt:lpstr>
      <vt:lpstr>Batch - Introduction</vt:lpstr>
      <vt:lpstr>OFS – DATA CAPTURE STEPS INVOLVED</vt:lpstr>
      <vt:lpstr>ID OF DATA CAPTURE</vt:lpstr>
      <vt:lpstr>OFS – DATA CAPTURE STEPS INVOLVED</vt:lpstr>
      <vt:lpstr>CREDIT LEG FOR 1ST A/C</vt:lpstr>
      <vt:lpstr>CREDIT LEG FOR SECOND A/C</vt:lpstr>
      <vt:lpstr>DATA CAPTURE</vt:lpstr>
      <vt:lpstr>DATA CAPTURE</vt:lpstr>
      <vt:lpstr>SAMPLE SCREEN - DC</vt:lpstr>
      <vt:lpstr>Workshop - VI</vt:lpstr>
      <vt:lpstr>Solution – Step 1: Creating a file</vt:lpstr>
      <vt:lpstr>Solution – Step 2: Routine</vt:lpstr>
      <vt:lpstr>Solution – Step 2 : Routine (Contd)</vt:lpstr>
      <vt:lpstr>Solution – Step 3 : PGM.FILE</vt:lpstr>
      <vt:lpstr>Solution – Step 4 : Create Version</vt:lpstr>
      <vt:lpstr>Solution – Output</vt:lpstr>
      <vt:lpstr>Workshop VII</vt:lpstr>
      <vt:lpstr>Solution – Step 1: OFS.SOURCE</vt:lpstr>
      <vt:lpstr>Solution – Step 1: OFS.SOURCE</vt:lpstr>
      <vt:lpstr>Solution – Step 2 : EB.PHANTOM</vt:lpstr>
      <vt:lpstr>Solution – Step 2 : EB.PHANTOM</vt:lpstr>
      <vt:lpstr>Solution – Step 3 : Input IN File</vt:lpstr>
      <vt:lpstr>Solution – OFS.REQUEST.DETAILS</vt:lpstr>
      <vt:lpstr>ERROR HANDLING</vt:lpstr>
      <vt:lpstr>Message related</vt:lpstr>
      <vt:lpstr>Message related </vt:lpstr>
      <vt:lpstr>Message related </vt:lpstr>
      <vt:lpstr>SYSTEM RELATED ERROR MESSAGE</vt:lpstr>
      <vt:lpstr>File I/O related errors </vt:lpstr>
      <vt:lpstr>File I/O related errors</vt:lpstr>
      <vt:lpstr>NOINPUT Fields</vt:lpstr>
      <vt:lpstr>Summary</vt:lpstr>
      <vt:lpstr>Slide 136</vt:lpstr>
    </vt:vector>
  </TitlesOfParts>
  <Company>Thesys Technologies Pvt Ltd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chandran</dc:creator>
  <cp:lastModifiedBy>sanandhi</cp:lastModifiedBy>
  <cp:revision>322</cp:revision>
  <dcterms:created xsi:type="dcterms:W3CDTF">2009-02-04T06:08:20Z</dcterms:created>
  <dcterms:modified xsi:type="dcterms:W3CDTF">2009-08-06T08:27:33Z</dcterms:modified>
</cp:coreProperties>
</file>